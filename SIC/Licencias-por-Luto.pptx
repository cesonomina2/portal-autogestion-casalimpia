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Inter"/>
      <p:regular r:id="rId13"/>
    </p:embeddedFont>
    <p:embeddedFont>
      <p:font typeface="Inter"/>
      <p:regular r:id="rId14"/>
    </p:embeddedFont>
    <p:embeddedFont>
      <p:font typeface="Inter"/>
      <p:regular r:id="rId15"/>
    </p:embeddedFont>
    <p:embeddedFont>
      <p:font typeface="Inter"/>
      <p:regular r:id="rId16"/>
    </p:embeddedFont>
    <p:embeddedFont>
      <p:font typeface="Inter"/>
      <p:regular r:id="rId17"/>
    </p:embeddedFont>
    <p:embeddedFont>
      <p:font typeface="Inter"/>
      <p:regular r:id="rId18"/>
    </p:embeddedFont>
    <p:embeddedFont>
      <p:font typeface="Inter"/>
      <p:regular r:id="rId19"/>
    </p:embeddedFont>
    <p:embeddedFont>
      <p:font typeface="Inter"/>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Licencias por Luto</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La gestión de una Licencia por Luto debe realizarse con la máxima sensibilidad y eficiencia, garantizando el cumplimiento de las políticas de la compañía y los requisitos legales. Este protocolo establece el procedimiento estándar para su registro y aprobación.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706999" y="1318141"/>
            <a:ext cx="5869067" cy="507921"/>
          </a:xfrm>
          <a:prstGeom prst="rect">
            <a:avLst/>
          </a:prstGeom>
          <a:noFill/>
          <a:ln/>
        </p:spPr>
        <p:txBody>
          <a:bodyPr wrap="none" lIns="0" tIns="0" rIns="0" bIns="0" rtlCol="0" anchor="t"/>
          <a:lstStyle/>
          <a:p>
            <a:pPr algn="l" indent="0" marL="0">
              <a:lnSpc>
                <a:spcPts val="3950"/>
              </a:lnSpc>
              <a:buNone/>
            </a:pPr>
            <a:r>
              <a:rPr lang="en-US" sz="3150" b="1" dirty="0">
                <a:solidFill>
                  <a:srgbClr val="000000"/>
                </a:solidFill>
                <a:latin typeface="Inter Bold" pitchFamily="34" charset="0"/>
                <a:ea typeface="Inter Bold" pitchFamily="34" charset="-122"/>
                <a:cs typeface="Inter Bold" pitchFamily="34" charset="-120"/>
              </a:rPr>
              <a:t>Principios Clave de la Gestión</a:t>
            </a:r>
            <a:endParaRPr lang="en-US" sz="3150" dirty="0"/>
          </a:p>
        </p:txBody>
      </p:sp>
      <p:sp>
        <p:nvSpPr>
          <p:cNvPr id="3" name="Shape 1"/>
          <p:cNvSpPr/>
          <p:nvPr/>
        </p:nvSpPr>
        <p:spPr>
          <a:xfrm>
            <a:off x="1706999" y="2058948"/>
            <a:ext cx="11216402" cy="1627822"/>
          </a:xfrm>
          <a:prstGeom prst="roundRect">
            <a:avLst>
              <a:gd name="adj" fmla="val 4194"/>
            </a:avLst>
          </a:prstGeom>
          <a:solidFill>
            <a:srgbClr val="FFFFFF"/>
          </a:solidFill>
          <a:ln w="22860">
            <a:solidFill>
              <a:srgbClr val="098CD2"/>
            </a:solidFill>
            <a:prstDash val="solid"/>
          </a:ln>
        </p:spPr>
      </p:sp>
      <p:sp>
        <p:nvSpPr>
          <p:cNvPr id="4" name="Shape 2"/>
          <p:cNvSpPr/>
          <p:nvPr/>
        </p:nvSpPr>
        <p:spPr>
          <a:xfrm>
            <a:off x="1729859" y="2081808"/>
            <a:ext cx="650200" cy="1582103"/>
          </a:xfrm>
          <a:prstGeom prst="roundRect">
            <a:avLst>
              <a:gd name="adj" fmla="val 6281"/>
            </a:avLst>
          </a:prstGeom>
          <a:solidFill>
            <a:srgbClr val="098CD2"/>
          </a:solidFill>
          <a:ln/>
        </p:spPr>
      </p:sp>
      <p:sp>
        <p:nvSpPr>
          <p:cNvPr id="5" name="Text 3"/>
          <p:cNvSpPr/>
          <p:nvPr/>
        </p:nvSpPr>
        <p:spPr>
          <a:xfrm>
            <a:off x="1929289" y="2720459"/>
            <a:ext cx="243721" cy="304681"/>
          </a:xfrm>
          <a:prstGeom prst="rect">
            <a:avLst/>
          </a:prstGeom>
          <a:noFill/>
          <a:ln/>
        </p:spPr>
        <p:txBody>
          <a:bodyPr wrap="none" lIns="0" tIns="0" rIns="0" bIns="0" rtlCol="0" anchor="t"/>
          <a:lstStyle/>
          <a:p>
            <a:pPr algn="l" indent="0" marL="0">
              <a:lnSpc>
                <a:spcPts val="1900"/>
              </a:lnSpc>
              <a:buNone/>
            </a:pPr>
            <a:r>
              <a:rPr lang="en-US" sz="1900" b="1" dirty="0">
                <a:solidFill>
                  <a:srgbClr val="FFFFFF"/>
                </a:solidFill>
                <a:latin typeface="Inter Bold" pitchFamily="34" charset="0"/>
                <a:ea typeface="Inter Bold" pitchFamily="34" charset="-122"/>
                <a:cs typeface="Inter Bold" pitchFamily="34" charset="-120"/>
              </a:rPr>
              <a:t>1</a:t>
            </a:r>
            <a:endParaRPr lang="en-US" sz="1900" dirty="0"/>
          </a:p>
        </p:txBody>
      </p:sp>
      <p:sp>
        <p:nvSpPr>
          <p:cNvPr id="6" name="Text 4"/>
          <p:cNvSpPr/>
          <p:nvPr/>
        </p:nvSpPr>
        <p:spPr>
          <a:xfrm>
            <a:off x="2496503" y="2244328"/>
            <a:ext cx="2673191" cy="253960"/>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1. Definición de la Licencia:</a:t>
            </a:r>
            <a:endParaRPr lang="en-US" sz="1550" dirty="0"/>
          </a:p>
        </p:txBody>
      </p:sp>
      <p:sp>
        <p:nvSpPr>
          <p:cNvPr id="7" name="Text 5"/>
          <p:cNvSpPr/>
          <p:nvPr/>
        </p:nvSpPr>
        <p:spPr>
          <a:xfrm>
            <a:off x="2496503" y="2568178"/>
            <a:ext cx="10241518" cy="933212"/>
          </a:xfrm>
          <a:prstGeom prst="rect">
            <a:avLst/>
          </a:prstGeom>
          <a:noFill/>
          <a:ln/>
        </p:spPr>
        <p:txBody>
          <a:bodyPr wrap="square" lIns="0" tIns="0" rIns="0" bIns="0" rtlCol="0" anchor="t"/>
          <a:lstStyle/>
          <a:p>
            <a:pPr algn="l" marL="342900" indent="-342900">
              <a:lnSpc>
                <a:spcPts val="1750"/>
              </a:lnSpc>
              <a:buSzPct val="100000"/>
              <a:buChar char="•"/>
            </a:pPr>
            <a:r>
              <a:rPr lang="en-US" sz="1250" dirty="0">
                <a:solidFill>
                  <a:srgbClr val="272525"/>
                </a:solidFill>
                <a:latin typeface="Inter" pitchFamily="34" charset="0"/>
                <a:ea typeface="Inter" pitchFamily="34" charset="-122"/>
                <a:cs typeface="Inter" pitchFamily="34" charset="-120"/>
              </a:rPr>
              <a:t>Es un permiso </a:t>
            </a:r>
            <a:pPr algn="l" indent="0" marL="0">
              <a:lnSpc>
                <a:spcPts val="1750"/>
              </a:lnSpc>
              <a:buNone/>
            </a:pPr>
            <a:r>
              <a:rPr lang="en-US" sz="1250" dirty="0">
                <a:solidFill>
                  <a:srgbClr val="272525"/>
                </a:solidFill>
                <a:highlight>
                  <a:srgbClr val="FFFFFF"/>
                </a:highlight>
                <a:latin typeface="Inter" pitchFamily="34" charset="0"/>
                <a:ea typeface="Inter" pitchFamily="34" charset="-122"/>
                <a:cs typeface="Inter" pitchFamily="34" charset="-120"/>
              </a:rPr>
              <a:t>remunerado</a:t>
            </a:r>
            <a:pPr algn="l" indent="0" marL="0">
              <a:lnSpc>
                <a:spcPts val="1750"/>
              </a:lnSpc>
              <a:buNone/>
            </a:pPr>
            <a:r>
              <a:rPr lang="en-US" sz="1250" dirty="0">
                <a:solidFill>
                  <a:srgbClr val="272525"/>
                </a:solidFill>
                <a:latin typeface="Inter" pitchFamily="34" charset="0"/>
                <a:ea typeface="Inter" pitchFamily="34" charset="-122"/>
                <a:cs typeface="Inter" pitchFamily="34" charset="-120"/>
              </a:rPr>
              <a:t> de hasta </a:t>
            </a:r>
            <a:pPr algn="l" indent="0" marL="0">
              <a:lnSpc>
                <a:spcPts val="1750"/>
              </a:lnSpc>
              <a:buNone/>
            </a:pPr>
            <a:r>
              <a:rPr lang="en-US" sz="1250" dirty="0">
                <a:solidFill>
                  <a:srgbClr val="272525"/>
                </a:solidFill>
                <a:highlight>
                  <a:srgbClr val="FFFFFF"/>
                </a:highlight>
                <a:latin typeface="Inter" pitchFamily="34" charset="0"/>
                <a:ea typeface="Inter" pitchFamily="34" charset="-122"/>
                <a:cs typeface="Inter" pitchFamily="34" charset="-120"/>
              </a:rPr>
              <a:t>cinco (5) días hábiles</a:t>
            </a:r>
            <a:pPr algn="l" indent="0" marL="0">
              <a:lnSpc>
                <a:spcPts val="1750"/>
              </a:lnSpc>
              <a:buNone/>
            </a:pPr>
            <a:r>
              <a:rPr lang="en-US" sz="1250" dirty="0">
                <a:solidFill>
                  <a:srgbClr val="272525"/>
                </a:solidFill>
                <a:latin typeface="Inter" pitchFamily="34" charset="0"/>
                <a:ea typeface="Inter" pitchFamily="34" charset="-122"/>
                <a:cs typeface="Inter" pitchFamily="34" charset="-120"/>
              </a:rPr>
              <a:t>, otorgado por el fallecimiento de un familiar en primer grado de consanguinidad (padres, hijos), primero de afinidad (suegros), cónyuge o compañero(a) permanente, hermanos, abuelos y nietos.</a:t>
            </a:r>
            <a:endParaRPr lang="en-US" sz="1250" dirty="0"/>
          </a:p>
          <a:p>
            <a:pPr algn="l" marL="342900" indent="-342900">
              <a:lnSpc>
                <a:spcPts val="1750"/>
              </a:lnSpc>
              <a:buSzPct val="100000"/>
              <a:buChar char="•"/>
            </a:pPr>
            <a:r>
              <a:rPr lang="en-US" sz="1250" dirty="0">
                <a:solidFill>
                  <a:srgbClr val="272525"/>
                </a:solidFill>
                <a:latin typeface="Inter" pitchFamily="34" charset="0"/>
                <a:ea typeface="Inter" pitchFamily="34" charset="-122"/>
                <a:cs typeface="Inter" pitchFamily="34" charset="-120"/>
              </a:rPr>
              <a:t>Aplicación en Nómina: Únicamente se descuenta el valor del </a:t>
            </a:r>
            <a:pPr algn="l" indent="0" marL="0">
              <a:lnSpc>
                <a:spcPts val="1750"/>
              </a:lnSpc>
              <a:buNone/>
            </a:pPr>
            <a:r>
              <a:rPr lang="en-US" sz="1250" dirty="0">
                <a:solidFill>
                  <a:srgbClr val="272525"/>
                </a:solidFill>
                <a:highlight>
                  <a:srgbClr val="FFFFFF"/>
                </a:highlight>
                <a:latin typeface="Inter" pitchFamily="34" charset="0"/>
                <a:ea typeface="Inter" pitchFamily="34" charset="-122"/>
                <a:cs typeface="Inter" pitchFamily="34" charset="-120"/>
              </a:rPr>
              <a:t>subsidio de transporte</a:t>
            </a:r>
            <a:pPr algn="l" indent="0" marL="0">
              <a:lnSpc>
                <a:spcPts val="1750"/>
              </a:lnSpc>
              <a:buNone/>
            </a:pPr>
            <a:r>
              <a:rPr lang="en-US" sz="1250" dirty="0">
                <a:solidFill>
                  <a:srgbClr val="272525"/>
                </a:solidFill>
                <a:latin typeface="Inter" pitchFamily="34" charset="0"/>
                <a:ea typeface="Inter" pitchFamily="34" charset="-122"/>
                <a:cs typeface="Inter" pitchFamily="34" charset="-120"/>
              </a:rPr>
              <a:t> correspondiente a los días de la licencia.</a:t>
            </a:r>
            <a:endParaRPr lang="en-US" sz="1250" dirty="0"/>
          </a:p>
        </p:txBody>
      </p:sp>
      <p:sp>
        <p:nvSpPr>
          <p:cNvPr id="8" name="Shape 6"/>
          <p:cNvSpPr/>
          <p:nvPr/>
        </p:nvSpPr>
        <p:spPr>
          <a:xfrm>
            <a:off x="1706999" y="3803213"/>
            <a:ext cx="11216402" cy="1140857"/>
          </a:xfrm>
          <a:prstGeom prst="roundRect">
            <a:avLst>
              <a:gd name="adj" fmla="val 5984"/>
            </a:avLst>
          </a:prstGeom>
          <a:solidFill>
            <a:srgbClr val="FFFFFF"/>
          </a:solidFill>
          <a:ln w="22860">
            <a:solidFill>
              <a:srgbClr val="8AC340"/>
            </a:solidFill>
            <a:prstDash val="solid"/>
          </a:ln>
        </p:spPr>
      </p:sp>
      <p:sp>
        <p:nvSpPr>
          <p:cNvPr id="9" name="Shape 7"/>
          <p:cNvSpPr/>
          <p:nvPr/>
        </p:nvSpPr>
        <p:spPr>
          <a:xfrm>
            <a:off x="1729859" y="3826073"/>
            <a:ext cx="650200" cy="1095137"/>
          </a:xfrm>
          <a:prstGeom prst="roundRect">
            <a:avLst>
              <a:gd name="adj" fmla="val 6281"/>
            </a:avLst>
          </a:prstGeom>
          <a:solidFill>
            <a:srgbClr val="8AC340"/>
          </a:solidFill>
          <a:ln/>
        </p:spPr>
      </p:sp>
      <p:sp>
        <p:nvSpPr>
          <p:cNvPr id="10" name="Text 8"/>
          <p:cNvSpPr/>
          <p:nvPr/>
        </p:nvSpPr>
        <p:spPr>
          <a:xfrm>
            <a:off x="1929289" y="4221242"/>
            <a:ext cx="243721" cy="304681"/>
          </a:xfrm>
          <a:prstGeom prst="rect">
            <a:avLst/>
          </a:prstGeom>
          <a:noFill/>
          <a:ln/>
        </p:spPr>
        <p:txBody>
          <a:bodyPr wrap="none" lIns="0" tIns="0" rIns="0" bIns="0" rtlCol="0" anchor="t"/>
          <a:lstStyle/>
          <a:p>
            <a:pPr algn="l" indent="0" marL="0">
              <a:lnSpc>
                <a:spcPts val="1900"/>
              </a:lnSpc>
              <a:buNone/>
            </a:pPr>
            <a:r>
              <a:rPr lang="en-US" sz="1900" b="1" dirty="0">
                <a:solidFill>
                  <a:srgbClr val="000000"/>
                </a:solidFill>
                <a:latin typeface="Inter Bold" pitchFamily="34" charset="0"/>
                <a:ea typeface="Inter Bold" pitchFamily="34" charset="-122"/>
                <a:cs typeface="Inter Bold" pitchFamily="34" charset="-120"/>
              </a:rPr>
              <a:t>2</a:t>
            </a:r>
            <a:endParaRPr lang="en-US" sz="1900" dirty="0"/>
          </a:p>
        </p:txBody>
      </p:sp>
      <p:sp>
        <p:nvSpPr>
          <p:cNvPr id="11" name="Text 9"/>
          <p:cNvSpPr/>
          <p:nvPr/>
        </p:nvSpPr>
        <p:spPr>
          <a:xfrm>
            <a:off x="2496503" y="3988594"/>
            <a:ext cx="5363051" cy="253960"/>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Inter Bold" pitchFamily="34" charset="0"/>
                <a:ea typeface="Inter Bold" pitchFamily="34" charset="-122"/>
                <a:cs typeface="Inter Bold" pitchFamily="34" charset="-120"/>
              </a:rPr>
              <a:t>2. Requisito Indispensable: Documentación Completa:</a:t>
            </a:r>
            <a:endParaRPr lang="en-US" sz="1550" dirty="0"/>
          </a:p>
        </p:txBody>
      </p:sp>
      <p:sp>
        <p:nvSpPr>
          <p:cNvPr id="12" name="Text 10"/>
          <p:cNvSpPr/>
          <p:nvPr/>
        </p:nvSpPr>
        <p:spPr>
          <a:xfrm>
            <a:off x="2496503" y="4312444"/>
            <a:ext cx="10241518" cy="446246"/>
          </a:xfrm>
          <a:prstGeom prst="rect">
            <a:avLst/>
          </a:prstGeom>
          <a:noFill/>
          <a:ln/>
        </p:spPr>
        <p:txBody>
          <a:bodyPr wrap="square" lIns="0" tIns="0" rIns="0" bIns="0" rtlCol="0" anchor="t"/>
          <a:lstStyle/>
          <a:p>
            <a:pPr algn="l" marL="342900" indent="-342900">
              <a:lnSpc>
                <a:spcPts val="1750"/>
              </a:lnSpc>
              <a:buSzPct val="100000"/>
              <a:buChar char="•"/>
            </a:pPr>
            <a:r>
              <a:rPr lang="en-US" sz="1250" dirty="0">
                <a:solidFill>
                  <a:srgbClr val="272525"/>
                </a:solidFill>
                <a:latin typeface="Inter" pitchFamily="34" charset="0"/>
                <a:ea typeface="Inter" pitchFamily="34" charset="-122"/>
                <a:cs typeface="Inter" pitchFamily="34" charset="-120"/>
              </a:rPr>
              <a:t>La aprobación de la licencia por parte de Talento Humano está</a:t>
            </a:r>
            <a:pPr algn="l" indent="0" marL="0">
              <a:lnSpc>
                <a:spcPts val="1750"/>
              </a:lnSpc>
              <a:buNone/>
            </a:pPr>
            <a:r>
              <a:rPr lang="en-US" sz="1250" dirty="0">
                <a:solidFill>
                  <a:srgbClr val="272525"/>
                </a:solidFill>
                <a:highlight>
                  <a:srgbClr val="FFFFFF"/>
                </a:highlight>
                <a:latin typeface="Inter" pitchFamily="34" charset="0"/>
                <a:ea typeface="Inter" pitchFamily="34" charset="-122"/>
                <a:cs typeface="Inter" pitchFamily="34" charset="-120"/>
              </a:rPr>
              <a:t> condicionada a la presentación de la totalidad de los documentos requeridos según el parentesco. Novedades con documentación incompleta no serán aprobadas.</a:t>
            </a:r>
            <a:endParaRPr lang="en-US" sz="1250" dirty="0"/>
          </a:p>
        </p:txBody>
      </p:sp>
      <p:sp>
        <p:nvSpPr>
          <p:cNvPr id="13" name="Shape 11"/>
          <p:cNvSpPr/>
          <p:nvPr/>
        </p:nvSpPr>
        <p:spPr>
          <a:xfrm>
            <a:off x="1706999" y="5060513"/>
            <a:ext cx="11216402" cy="1850946"/>
          </a:xfrm>
          <a:prstGeom prst="roundRect">
            <a:avLst>
              <a:gd name="adj" fmla="val 3689"/>
            </a:avLst>
          </a:prstGeom>
          <a:solidFill>
            <a:srgbClr val="FFFFFF"/>
          </a:solidFill>
          <a:ln w="22860">
            <a:solidFill>
              <a:srgbClr val="098CD2"/>
            </a:solidFill>
            <a:prstDash val="solid"/>
          </a:ln>
        </p:spPr>
      </p:sp>
      <p:sp>
        <p:nvSpPr>
          <p:cNvPr id="14" name="Shape 12"/>
          <p:cNvSpPr/>
          <p:nvPr/>
        </p:nvSpPr>
        <p:spPr>
          <a:xfrm>
            <a:off x="1729859" y="5083373"/>
            <a:ext cx="650200" cy="1805226"/>
          </a:xfrm>
          <a:prstGeom prst="roundRect">
            <a:avLst>
              <a:gd name="adj" fmla="val 6281"/>
            </a:avLst>
          </a:prstGeom>
          <a:solidFill>
            <a:srgbClr val="098CD2"/>
          </a:solidFill>
          <a:ln/>
        </p:spPr>
      </p:sp>
      <p:sp>
        <p:nvSpPr>
          <p:cNvPr id="15" name="Text 13"/>
          <p:cNvSpPr/>
          <p:nvPr/>
        </p:nvSpPr>
        <p:spPr>
          <a:xfrm>
            <a:off x="1929289" y="5833586"/>
            <a:ext cx="243721" cy="304681"/>
          </a:xfrm>
          <a:prstGeom prst="rect">
            <a:avLst/>
          </a:prstGeom>
          <a:noFill/>
          <a:ln/>
        </p:spPr>
        <p:txBody>
          <a:bodyPr wrap="none" lIns="0" tIns="0" rIns="0" bIns="0" rtlCol="0" anchor="t"/>
          <a:lstStyle/>
          <a:p>
            <a:pPr algn="l" indent="0" marL="0">
              <a:lnSpc>
                <a:spcPts val="1900"/>
              </a:lnSpc>
              <a:buNone/>
            </a:pPr>
            <a:r>
              <a:rPr lang="en-US" sz="1900" b="1" dirty="0">
                <a:solidFill>
                  <a:srgbClr val="FFFFFF"/>
                </a:solidFill>
                <a:latin typeface="Inter Bold" pitchFamily="34" charset="0"/>
                <a:ea typeface="Inter Bold" pitchFamily="34" charset="-122"/>
                <a:cs typeface="Inter Bold" pitchFamily="34" charset="-120"/>
              </a:rPr>
              <a:t>3</a:t>
            </a:r>
            <a:endParaRPr lang="en-US" sz="1900" dirty="0"/>
          </a:p>
        </p:txBody>
      </p:sp>
      <p:sp>
        <p:nvSpPr>
          <p:cNvPr id="16" name="Text 14"/>
          <p:cNvSpPr/>
          <p:nvPr/>
        </p:nvSpPr>
        <p:spPr>
          <a:xfrm>
            <a:off x="2496503" y="5245894"/>
            <a:ext cx="4528066" cy="253960"/>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highlight>
                  <a:srgbClr val="FFFFFF"/>
                </a:highlight>
                <a:latin typeface="Inter Bold" pitchFamily="34" charset="0"/>
                <a:ea typeface="Inter Bold" pitchFamily="34" charset="-122"/>
                <a:cs typeface="Inter Bold" pitchFamily="34" charset="-120"/>
              </a:rPr>
              <a:t>3. Responsabilidad de Gestión y Seguimiento:</a:t>
            </a:r>
            <a:endParaRPr lang="en-US" sz="1550" dirty="0"/>
          </a:p>
        </p:txBody>
      </p:sp>
      <p:sp>
        <p:nvSpPr>
          <p:cNvPr id="17" name="Text 15"/>
          <p:cNvSpPr/>
          <p:nvPr/>
        </p:nvSpPr>
        <p:spPr>
          <a:xfrm>
            <a:off x="2496503" y="5569744"/>
            <a:ext cx="10241518" cy="1156335"/>
          </a:xfrm>
          <a:prstGeom prst="rect">
            <a:avLst/>
          </a:prstGeom>
          <a:noFill/>
          <a:ln/>
        </p:spPr>
        <p:txBody>
          <a:bodyPr wrap="square" lIns="0" tIns="0" rIns="0" bIns="0" rtlCol="0" anchor="t"/>
          <a:lstStyle/>
          <a:p>
            <a:pPr algn="l" marL="342900" indent="-342900">
              <a:lnSpc>
                <a:spcPts val="1750"/>
              </a:lnSpc>
              <a:buSzPct val="100000"/>
              <a:buChar char="•"/>
            </a:pPr>
            <a:r>
              <a:rPr lang="en-US" sz="1250" dirty="0">
                <a:solidFill>
                  <a:srgbClr val="272525"/>
                </a:solidFill>
                <a:highlight>
                  <a:srgbClr val="FFFFFF"/>
                </a:highlight>
                <a:latin typeface="Inter" pitchFamily="34" charset="0"/>
                <a:ea typeface="Inter" pitchFamily="34" charset="-122"/>
                <a:cs typeface="Inter" pitchFamily="34" charset="-120"/>
              </a:rPr>
              <a:t>La aprobación final es competencia del área de Talento Humano. Sin embargo, es responsabilidad de la persona que crea la novedad realizar el seguimiento activo hasta garantizar su aprobación en la "línea de vida" del sistema.</a:t>
            </a:r>
            <a:endParaRPr lang="en-US" sz="1250" dirty="0"/>
          </a:p>
          <a:p>
            <a:pPr algn="l" marL="342900" indent="-342900">
              <a:lnSpc>
                <a:spcPts val="1750"/>
              </a:lnSpc>
              <a:buSzPct val="100000"/>
              <a:buChar char="•"/>
            </a:pPr>
            <a:r>
              <a:rPr lang="en-US" sz="1250" dirty="0">
                <a:solidFill>
                  <a:srgbClr val="272525"/>
                </a:solidFill>
                <a:highlight>
                  <a:srgbClr val="FFFFFF"/>
                </a:highlight>
                <a:latin typeface="Inter" pitchFamily="34" charset="0"/>
                <a:ea typeface="Inter" pitchFamily="34" charset="-122"/>
                <a:cs typeface="Inter" pitchFamily="34" charset="-120"/>
              </a:rPr>
              <a:t>Consecuencia de Inacción: Si una novedad no es gestionada correctamente y aprobada, los días se registrarán como una ausencia injustificada y serán descontados. Dicho descuento se ajustará automáticamente una vez que la novedad sea gestionada por el creador y aprobada por Talento Humano.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1496" y="738068"/>
            <a:ext cx="4027289" cy="311944"/>
          </a:xfrm>
          <a:prstGeom prst="rect">
            <a:avLst/>
          </a:prstGeom>
          <a:noFill/>
          <a:ln/>
        </p:spPr>
        <p:txBody>
          <a:bodyPr wrap="none" lIns="0" tIns="0" rIns="0" bIns="0" rtlCol="0" anchor="t"/>
          <a:lstStyle/>
          <a:p>
            <a:pPr algn="ctr" indent="0" marL="0">
              <a:lnSpc>
                <a:spcPts val="2450"/>
              </a:lnSpc>
              <a:buNone/>
            </a:pPr>
            <a:r>
              <a:rPr lang="en-US" sz="1950" b="1" dirty="0">
                <a:solidFill>
                  <a:srgbClr val="8AC340"/>
                </a:solidFill>
                <a:latin typeface="Inter Bold" pitchFamily="34" charset="0"/>
                <a:ea typeface="Inter Bold" pitchFamily="34" charset="-122"/>
                <a:cs typeface="Inter Bold" pitchFamily="34" charset="-120"/>
              </a:rPr>
              <a:t>COMO REGISTRAR LA  NOVEDAD</a:t>
            </a:r>
            <a:endParaRPr lang="en-US" sz="1950" dirty="0"/>
          </a:p>
        </p:txBody>
      </p:sp>
      <p:pic>
        <p:nvPicPr>
          <p:cNvPr id="3" name="Image 0" descr="preencoded.png">    </p:cNvPr>
          <p:cNvPicPr>
            <a:picLocks noChangeAspect="1"/>
          </p:cNvPicPr>
          <p:nvPr/>
        </p:nvPicPr>
        <p:blipFill>
          <a:blip r:embed="rId1"/>
          <a:stretch>
            <a:fillRect/>
          </a:stretch>
        </p:blipFill>
        <p:spPr>
          <a:xfrm>
            <a:off x="3009781" y="1187291"/>
            <a:ext cx="623888" cy="2019776"/>
          </a:xfrm>
          <a:prstGeom prst="rect">
            <a:avLst/>
          </a:prstGeom>
        </p:spPr>
      </p:pic>
      <p:sp>
        <p:nvSpPr>
          <p:cNvPr id="4" name="Text 1"/>
          <p:cNvSpPr/>
          <p:nvPr/>
        </p:nvSpPr>
        <p:spPr>
          <a:xfrm>
            <a:off x="3702248" y="1312069"/>
            <a:ext cx="7918371" cy="309324"/>
          </a:xfrm>
          <a:prstGeom prst="rect">
            <a:avLst/>
          </a:prstGeom>
          <a:noFill/>
          <a:ln/>
        </p:spPr>
        <p:txBody>
          <a:bodyPr wrap="square" lIns="0" tIns="0" rIns="0" bIns="0" rtlCol="0" anchor="t"/>
          <a:lstStyle/>
          <a:p>
            <a:pPr algn="l" indent="0" marL="0">
              <a:lnSpc>
                <a:spcPts val="1200"/>
              </a:lnSpc>
              <a:buNone/>
            </a:pPr>
            <a:r>
              <a:rPr lang="en-US" sz="950" dirty="0">
                <a:solidFill>
                  <a:srgbClr val="272525"/>
                </a:solidFill>
                <a:latin typeface="Inter" pitchFamily="34" charset="0"/>
                <a:ea typeface="Inter" pitchFamily="34" charset="-122"/>
                <a:cs typeface="Inter" pitchFamily="34" charset="-120"/>
              </a:rPr>
              <a:t>Para acceder a la nueva plataforma donde centralizaremos los registros (el nuevo módulo), solo tienes que entrar en el aplicativo </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a:t>
            </a:r>
            <a:pPr algn="l" indent="0" marL="0">
              <a:lnSpc>
                <a:spcPts val="1200"/>
              </a:lnSpc>
              <a:buNone/>
            </a:pPr>
            <a:r>
              <a:rPr lang="en-US" sz="950" b="1" dirty="0">
                <a:solidFill>
                  <a:srgbClr val="098CD2"/>
                </a:solidFill>
                <a:latin typeface="Inter" pitchFamily="34" charset="0"/>
                <a:ea typeface="Inter" pitchFamily="34" charset="-122"/>
                <a:cs typeface="Inter" pitchFamily="34" charset="-120"/>
              </a:rPr>
              <a:t>SIC</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 y después ir a la sección </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'Mis perfiles / Gestión de personal'</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a:t>
            </a:r>
            <a:endParaRPr lang="en-US" sz="950" dirty="0"/>
          </a:p>
        </p:txBody>
      </p:sp>
      <p:pic>
        <p:nvPicPr>
          <p:cNvPr id="5" name="Image 1" descr="preencoded.png">    </p:cNvPr>
          <p:cNvPicPr>
            <a:picLocks noChangeAspect="1"/>
          </p:cNvPicPr>
          <p:nvPr/>
        </p:nvPicPr>
        <p:blipFill>
          <a:blip r:embed="rId2"/>
          <a:stretch>
            <a:fillRect/>
          </a:stretch>
        </p:blipFill>
        <p:spPr>
          <a:xfrm>
            <a:off x="7092910" y="1698546"/>
            <a:ext cx="1136928" cy="1383744"/>
          </a:xfrm>
          <a:prstGeom prst="rect">
            <a:avLst/>
          </a:prstGeom>
        </p:spPr>
      </p:pic>
      <p:pic>
        <p:nvPicPr>
          <p:cNvPr id="6" name="Image 2" descr="preencoded.png">    </p:cNvPr>
          <p:cNvPicPr>
            <a:picLocks noChangeAspect="1"/>
          </p:cNvPicPr>
          <p:nvPr/>
        </p:nvPicPr>
        <p:blipFill>
          <a:blip r:embed="rId3"/>
          <a:stretch>
            <a:fillRect/>
          </a:stretch>
        </p:blipFill>
        <p:spPr>
          <a:xfrm>
            <a:off x="3009781" y="3207068"/>
            <a:ext cx="623888" cy="1388745"/>
          </a:xfrm>
          <a:prstGeom prst="rect">
            <a:avLst/>
          </a:prstGeom>
        </p:spPr>
      </p:pic>
      <p:sp>
        <p:nvSpPr>
          <p:cNvPr id="7" name="Text 2"/>
          <p:cNvSpPr/>
          <p:nvPr/>
        </p:nvSpPr>
        <p:spPr>
          <a:xfrm>
            <a:off x="3702248" y="3331845"/>
            <a:ext cx="7918371" cy="154662"/>
          </a:xfrm>
          <a:prstGeom prst="rect">
            <a:avLst/>
          </a:prstGeom>
          <a:noFill/>
          <a:ln/>
        </p:spPr>
        <p:txBody>
          <a:bodyPr wrap="none" lIns="0" tIns="0" rIns="0" bIns="0" rtlCol="0" anchor="t"/>
          <a:lstStyle/>
          <a:p>
            <a:pPr algn="l" indent="0" marL="0">
              <a:lnSpc>
                <a:spcPts val="1200"/>
              </a:lnSpc>
              <a:buNone/>
            </a:pPr>
            <a:r>
              <a:rPr lang="en-US" sz="950" dirty="0">
                <a:solidFill>
                  <a:srgbClr val="272525"/>
                </a:solidFill>
                <a:latin typeface="Inter" pitchFamily="34" charset="0"/>
                <a:ea typeface="Inter" pitchFamily="34" charset="-122"/>
                <a:cs typeface="Inter" pitchFamily="34" charset="-120"/>
              </a:rPr>
              <a:t>Una vez ahí, </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haz click en el Panel de '</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Registro'.</a:t>
            </a:r>
            <a:endParaRPr lang="en-US" sz="950" dirty="0"/>
          </a:p>
        </p:txBody>
      </p:sp>
      <p:pic>
        <p:nvPicPr>
          <p:cNvPr id="8" name="Image 3" descr="preencoded.png">    </p:cNvPr>
          <p:cNvPicPr>
            <a:picLocks noChangeAspect="1"/>
          </p:cNvPicPr>
          <p:nvPr/>
        </p:nvPicPr>
        <p:blipFill>
          <a:blip r:embed="rId4"/>
          <a:stretch>
            <a:fillRect/>
          </a:stretch>
        </p:blipFill>
        <p:spPr>
          <a:xfrm>
            <a:off x="6791325" y="3563660"/>
            <a:ext cx="1740098" cy="907375"/>
          </a:xfrm>
          <a:prstGeom prst="rect">
            <a:avLst/>
          </a:prstGeom>
        </p:spPr>
      </p:pic>
      <p:pic>
        <p:nvPicPr>
          <p:cNvPr id="9" name="Image 4" descr="preencoded.png">    </p:cNvPr>
          <p:cNvPicPr>
            <a:picLocks noChangeAspect="1"/>
          </p:cNvPicPr>
          <p:nvPr/>
        </p:nvPicPr>
        <p:blipFill>
          <a:blip r:embed="rId5"/>
          <a:stretch>
            <a:fillRect/>
          </a:stretch>
        </p:blipFill>
        <p:spPr>
          <a:xfrm>
            <a:off x="3009781" y="4595813"/>
            <a:ext cx="623888" cy="1112520"/>
          </a:xfrm>
          <a:prstGeom prst="rect">
            <a:avLst/>
          </a:prstGeom>
        </p:spPr>
      </p:pic>
      <p:sp>
        <p:nvSpPr>
          <p:cNvPr id="10" name="Text 3"/>
          <p:cNvSpPr/>
          <p:nvPr/>
        </p:nvSpPr>
        <p:spPr>
          <a:xfrm>
            <a:off x="3702248" y="4720590"/>
            <a:ext cx="7918371" cy="309324"/>
          </a:xfrm>
          <a:prstGeom prst="rect">
            <a:avLst/>
          </a:prstGeom>
          <a:noFill/>
          <a:ln/>
        </p:spPr>
        <p:txBody>
          <a:bodyPr wrap="square" lIns="0" tIns="0" rIns="0" bIns="0" rtlCol="0" anchor="t"/>
          <a:lstStyle/>
          <a:p>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En el panel que aparece, se debe digitar la cédula</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 de la persona a la que se le realizara la novedad, después haz click en el botón "buscar"</a:t>
            </a:r>
            <a:endParaRPr lang="en-US" sz="950" dirty="0"/>
          </a:p>
        </p:txBody>
      </p:sp>
      <p:pic>
        <p:nvPicPr>
          <p:cNvPr id="11" name="Image 5" descr="preencoded.png">    </p:cNvPr>
          <p:cNvPicPr>
            <a:picLocks noChangeAspect="1"/>
          </p:cNvPicPr>
          <p:nvPr/>
        </p:nvPicPr>
        <p:blipFill>
          <a:blip r:embed="rId6"/>
          <a:stretch>
            <a:fillRect/>
          </a:stretch>
        </p:blipFill>
        <p:spPr>
          <a:xfrm>
            <a:off x="6489740" y="5107067"/>
            <a:ext cx="2343269" cy="476488"/>
          </a:xfrm>
          <a:prstGeom prst="rect">
            <a:avLst/>
          </a:prstGeom>
        </p:spPr>
      </p:pic>
      <p:pic>
        <p:nvPicPr>
          <p:cNvPr id="12" name="Image 6" descr="preencoded.png">    </p:cNvPr>
          <p:cNvPicPr>
            <a:picLocks noChangeAspect="1"/>
          </p:cNvPicPr>
          <p:nvPr/>
        </p:nvPicPr>
        <p:blipFill>
          <a:blip r:embed="rId7"/>
          <a:stretch>
            <a:fillRect/>
          </a:stretch>
        </p:blipFill>
        <p:spPr>
          <a:xfrm>
            <a:off x="3009781" y="5708333"/>
            <a:ext cx="623888" cy="1783199"/>
          </a:xfrm>
          <a:prstGeom prst="rect">
            <a:avLst/>
          </a:prstGeom>
        </p:spPr>
      </p:pic>
      <p:sp>
        <p:nvSpPr>
          <p:cNvPr id="13" name="Text 4"/>
          <p:cNvSpPr/>
          <p:nvPr/>
        </p:nvSpPr>
        <p:spPr>
          <a:xfrm>
            <a:off x="3702248" y="5833110"/>
            <a:ext cx="7918371" cy="309324"/>
          </a:xfrm>
          <a:prstGeom prst="rect">
            <a:avLst/>
          </a:prstGeom>
          <a:noFill/>
          <a:ln/>
        </p:spPr>
        <p:txBody>
          <a:bodyPr wrap="square" lIns="0" tIns="0" rIns="0" bIns="0" rtlCol="0" anchor="t"/>
          <a:lstStyle/>
          <a:p>
            <a:pPr algn="l" indent="0" marL="0">
              <a:lnSpc>
                <a:spcPts val="1200"/>
              </a:lnSpc>
              <a:buNone/>
            </a:pPr>
            <a:r>
              <a:rPr lang="en-US" sz="950" dirty="0">
                <a:solidFill>
                  <a:srgbClr val="272525"/>
                </a:solidFill>
                <a:latin typeface="Inter" pitchFamily="34" charset="0"/>
                <a:ea typeface="Inter" pitchFamily="34" charset="-122"/>
                <a:cs typeface="Inter" pitchFamily="34" charset="-120"/>
              </a:rPr>
              <a:t>Dentro de la información de la persona que aparece, </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desplázate hasta la sección 'Estados'</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 (generalmente al final) y </a:t>
            </a:r>
            <a:pPr algn="l" indent="0" marL="0">
              <a:lnSpc>
                <a:spcPts val="1200"/>
              </a:lnSpc>
              <a:buNone/>
            </a:pPr>
            <a:r>
              <a:rPr lang="en-US" sz="950" b="1" dirty="0">
                <a:solidFill>
                  <a:srgbClr val="272525"/>
                </a:solidFill>
                <a:latin typeface="Inter" pitchFamily="34" charset="0"/>
                <a:ea typeface="Inter" pitchFamily="34" charset="-122"/>
                <a:cs typeface="Inter" pitchFamily="34" charset="-120"/>
              </a:rPr>
              <a:t>localiza el botón 'OTROSI Y/O TRASLADO DE CECO'</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a:t>
            </a:r>
            <a:endParaRPr lang="en-US" sz="950" dirty="0"/>
          </a:p>
        </p:txBody>
      </p:sp>
      <p:pic>
        <p:nvPicPr>
          <p:cNvPr id="14" name="Image 7" descr="preencoded.png">    </p:cNvPr>
          <p:cNvPicPr>
            <a:picLocks noChangeAspect="1"/>
          </p:cNvPicPr>
          <p:nvPr/>
        </p:nvPicPr>
        <p:blipFill>
          <a:blip r:embed="rId8"/>
          <a:stretch>
            <a:fillRect/>
          </a:stretch>
        </p:blipFill>
        <p:spPr>
          <a:xfrm>
            <a:off x="5044202" y="6219587"/>
            <a:ext cx="5234464" cy="915353"/>
          </a:xfrm>
          <a:prstGeom prst="rect">
            <a:avLst/>
          </a:prstGeom>
        </p:spPr>
      </p:pic>
      <p:sp>
        <p:nvSpPr>
          <p:cNvPr id="15" name="Text 5"/>
          <p:cNvSpPr/>
          <p:nvPr/>
        </p:nvSpPr>
        <p:spPr>
          <a:xfrm>
            <a:off x="3702248" y="7212092"/>
            <a:ext cx="7918371" cy="154662"/>
          </a:xfrm>
          <a:prstGeom prst="rect">
            <a:avLst/>
          </a:prstGeom>
          <a:noFill/>
          <a:ln/>
        </p:spPr>
        <p:txBody>
          <a:bodyPr wrap="none" lIns="0" tIns="0" rIns="0" bIns="0" rtlCol="0" anchor="t"/>
          <a:lstStyle/>
          <a:p>
            <a:pPr algn="l" indent="0" marL="0">
              <a:lnSpc>
                <a:spcPts val="1200"/>
              </a:lnSpc>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007519" y="948452"/>
            <a:ext cx="5146953" cy="390168"/>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Inter Bold" pitchFamily="34" charset="0"/>
                <a:ea typeface="Inter Bold" pitchFamily="34" charset="-122"/>
                <a:cs typeface="Inter Bold" pitchFamily="34" charset="-120"/>
              </a:rPr>
              <a:t>Proceso de Registro en el Sistema</a:t>
            </a:r>
            <a:endParaRPr lang="en-US" sz="2450" dirty="0"/>
          </a:p>
        </p:txBody>
      </p:sp>
      <p:sp>
        <p:nvSpPr>
          <p:cNvPr id="3" name="Text 1"/>
          <p:cNvSpPr/>
          <p:nvPr/>
        </p:nvSpPr>
        <p:spPr>
          <a:xfrm>
            <a:off x="3007519" y="1476018"/>
            <a:ext cx="8615243" cy="154900"/>
          </a:xfrm>
          <a:prstGeom prst="rect">
            <a:avLst/>
          </a:prstGeom>
          <a:noFill/>
          <a:ln/>
        </p:spPr>
        <p:txBody>
          <a:bodyPr wrap="none" lIns="0" tIns="0" rIns="0" bIns="0" rtlCol="0" anchor="t"/>
          <a:lstStyle/>
          <a:p>
            <a:pPr algn="l" indent="0" marL="0">
              <a:lnSpc>
                <a:spcPts val="1200"/>
              </a:lnSpc>
              <a:buNone/>
            </a:pPr>
            <a:r>
              <a:rPr lang="en-US" sz="950" dirty="0">
                <a:solidFill>
                  <a:srgbClr val="272525"/>
                </a:solidFill>
                <a:latin typeface="Inter" pitchFamily="34" charset="0"/>
                <a:ea typeface="Inter" pitchFamily="34" charset="-122"/>
                <a:cs typeface="Inter" pitchFamily="34" charset="-120"/>
              </a:rPr>
              <a:t>Para registrar la novedad de Licencia por Luto, se deben seguir los siguientes pasos de manera estricta:</a:t>
            </a:r>
            <a:endParaRPr lang="en-US" sz="950" dirty="0"/>
          </a:p>
        </p:txBody>
      </p:sp>
      <p:sp>
        <p:nvSpPr>
          <p:cNvPr id="4" name="Shape 2"/>
          <p:cNvSpPr/>
          <p:nvPr/>
        </p:nvSpPr>
        <p:spPr>
          <a:xfrm>
            <a:off x="3007519" y="1895475"/>
            <a:ext cx="4273272" cy="124778"/>
          </a:xfrm>
          <a:prstGeom prst="roundRect">
            <a:avLst>
              <a:gd name="adj" fmla="val 42027"/>
            </a:avLst>
          </a:prstGeom>
          <a:solidFill>
            <a:srgbClr val="098CD2"/>
          </a:solidFill>
          <a:ln w="7620">
            <a:solidFill>
              <a:srgbClr val="22A5EB"/>
            </a:solidFill>
            <a:prstDash val="solid"/>
          </a:ln>
        </p:spPr>
      </p:sp>
      <p:sp>
        <p:nvSpPr>
          <p:cNvPr id="5" name="Text 3"/>
          <p:cNvSpPr/>
          <p:nvPr/>
        </p:nvSpPr>
        <p:spPr>
          <a:xfrm>
            <a:off x="3132296" y="2088952"/>
            <a:ext cx="3002399" cy="195024"/>
          </a:xfrm>
          <a:prstGeom prst="rect">
            <a:avLst/>
          </a:prstGeom>
          <a:noFill/>
          <a:ln/>
        </p:spPr>
        <p:txBody>
          <a:bodyPr wrap="none" lIns="0" tIns="0" rIns="0" bIns="0" rtlCol="0" anchor="t"/>
          <a:lstStyle/>
          <a:p>
            <a:pPr algn="l" indent="0" marL="0">
              <a:lnSpc>
                <a:spcPts val="1500"/>
              </a:lnSpc>
              <a:buNone/>
            </a:pPr>
            <a:r>
              <a:rPr lang="en-US" sz="1200" b="1" dirty="0">
                <a:solidFill>
                  <a:srgbClr val="272525"/>
                </a:solidFill>
                <a:latin typeface="Inter Bold" pitchFamily="34" charset="0"/>
                <a:ea typeface="Inter Bold" pitchFamily="34" charset="-122"/>
                <a:cs typeface="Inter Bold" pitchFamily="34" charset="-120"/>
              </a:rPr>
              <a:t>Paso 1: Acceso y Selección de Novedad</a:t>
            </a:r>
            <a:endParaRPr lang="en-US" sz="1200" dirty="0"/>
          </a:p>
        </p:txBody>
      </p:sp>
      <p:sp>
        <p:nvSpPr>
          <p:cNvPr id="6" name="Text 4"/>
          <p:cNvSpPr/>
          <p:nvPr/>
        </p:nvSpPr>
        <p:spPr>
          <a:xfrm>
            <a:off x="3132296" y="2325172"/>
            <a:ext cx="4023717" cy="3098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latin typeface="Inter" pitchFamily="34" charset="0"/>
                <a:ea typeface="Inter" pitchFamily="34" charset="-122"/>
                <a:cs typeface="Inter" pitchFamily="34" charset="-120"/>
              </a:rPr>
              <a:t>En el campo "Tipo de Novedad", seleccionar la opción</a:t>
            </a:r>
            <a:pPr algn="l" indent="0" marL="0">
              <a:lnSpc>
                <a:spcPts val="1200"/>
              </a:lnSpc>
              <a:buNone/>
            </a:pPr>
            <a:r>
              <a:rPr lang="en-US" sz="950" dirty="0">
                <a:solidFill>
                  <a:srgbClr val="272525"/>
                </a:solidFill>
                <a:highlight>
                  <a:srgbClr val="FFFFFF"/>
                </a:highlight>
                <a:latin typeface="Inter" pitchFamily="34" charset="0"/>
                <a:ea typeface="Inter" pitchFamily="34" charset="-122"/>
                <a:cs typeface="Inter" pitchFamily="34" charset="-120"/>
              </a:rPr>
              <a:t> "Solicitud Licencia de Luto".</a:t>
            </a:r>
            <a:endParaRPr lang="en-US" sz="950" dirty="0"/>
          </a:p>
        </p:txBody>
      </p:sp>
      <p:pic>
        <p:nvPicPr>
          <p:cNvPr id="7" name="Image 0" descr="preencoded.png">    </p:cNvPr>
          <p:cNvPicPr>
            <a:picLocks noChangeAspect="1"/>
          </p:cNvPicPr>
          <p:nvPr/>
        </p:nvPicPr>
        <p:blipFill>
          <a:blip r:embed="rId1"/>
          <a:stretch>
            <a:fillRect/>
          </a:stretch>
        </p:blipFill>
        <p:spPr>
          <a:xfrm>
            <a:off x="4293513" y="2712244"/>
            <a:ext cx="1701165" cy="397907"/>
          </a:xfrm>
          <a:prstGeom prst="rect">
            <a:avLst/>
          </a:prstGeom>
        </p:spPr>
      </p:pic>
      <p:sp>
        <p:nvSpPr>
          <p:cNvPr id="8" name="Text 5"/>
          <p:cNvSpPr/>
          <p:nvPr/>
        </p:nvSpPr>
        <p:spPr>
          <a:xfrm>
            <a:off x="3132296" y="3187422"/>
            <a:ext cx="4023717" cy="154900"/>
          </a:xfrm>
          <a:prstGeom prst="rect">
            <a:avLst/>
          </a:prstGeom>
          <a:noFill/>
          <a:ln/>
        </p:spPr>
        <p:txBody>
          <a:bodyPr wrap="none" lIns="0" tIns="0" rIns="0" bIns="0" rtlCol="0" anchor="t"/>
          <a:lstStyle/>
          <a:p>
            <a:pPr algn="l" indent="0" marL="0">
              <a:lnSpc>
                <a:spcPts val="1200"/>
              </a:lnSpc>
              <a:buNone/>
            </a:pPr>
            <a:endParaRPr lang="en-US" sz="950" dirty="0"/>
          </a:p>
        </p:txBody>
      </p:sp>
      <p:sp>
        <p:nvSpPr>
          <p:cNvPr id="9" name="Shape 6"/>
          <p:cNvSpPr/>
          <p:nvPr/>
        </p:nvSpPr>
        <p:spPr>
          <a:xfrm>
            <a:off x="7349490" y="1708190"/>
            <a:ext cx="4273272" cy="124778"/>
          </a:xfrm>
          <a:prstGeom prst="roundRect">
            <a:avLst>
              <a:gd name="adj" fmla="val 42027"/>
            </a:avLst>
          </a:prstGeom>
          <a:solidFill>
            <a:srgbClr val="8AC340"/>
          </a:solidFill>
          <a:ln w="7620">
            <a:solidFill>
              <a:srgbClr val="70A926"/>
            </a:solidFill>
            <a:prstDash val="solid"/>
          </a:ln>
        </p:spPr>
      </p:sp>
      <p:sp>
        <p:nvSpPr>
          <p:cNvPr id="10" name="Text 7"/>
          <p:cNvSpPr/>
          <p:nvPr/>
        </p:nvSpPr>
        <p:spPr>
          <a:xfrm>
            <a:off x="7474268" y="1901666"/>
            <a:ext cx="2920127" cy="195024"/>
          </a:xfrm>
          <a:prstGeom prst="rect">
            <a:avLst/>
          </a:prstGeom>
          <a:noFill/>
          <a:ln/>
        </p:spPr>
        <p:txBody>
          <a:bodyPr wrap="none" lIns="0" tIns="0" rIns="0" bIns="0" rtlCol="0" anchor="t"/>
          <a:lstStyle/>
          <a:p>
            <a:pPr algn="l" indent="0" marL="0">
              <a:lnSpc>
                <a:spcPts val="1500"/>
              </a:lnSpc>
              <a:buNone/>
            </a:pPr>
            <a:r>
              <a:rPr lang="en-US" sz="1200" b="1" dirty="0">
                <a:solidFill>
                  <a:srgbClr val="272525"/>
                </a:solidFill>
                <a:highlight>
                  <a:srgbClr val="FFFFFF"/>
                </a:highlight>
                <a:latin typeface="Inter Bold" pitchFamily="34" charset="0"/>
                <a:ea typeface="Inter Bold" pitchFamily="34" charset="-122"/>
                <a:cs typeface="Inter Bold" pitchFamily="34" charset="-120"/>
              </a:rPr>
              <a:t>Paso 2: Definición de Fechas y Horario</a:t>
            </a:r>
            <a:endParaRPr lang="en-US" sz="1200" dirty="0"/>
          </a:p>
        </p:txBody>
      </p:sp>
      <p:sp>
        <p:nvSpPr>
          <p:cNvPr id="11" name="Text 8"/>
          <p:cNvSpPr/>
          <p:nvPr/>
        </p:nvSpPr>
        <p:spPr>
          <a:xfrm>
            <a:off x="7474268" y="2137886"/>
            <a:ext cx="4023717" cy="3098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Diligenciar la Fecha Inicial y la Fecha Final del permiso (máximo 5 días).</a:t>
            </a:r>
            <a:endParaRPr lang="en-US" sz="950" dirty="0"/>
          </a:p>
        </p:txBody>
      </p:sp>
      <p:pic>
        <p:nvPicPr>
          <p:cNvPr id="12" name="Image 1" descr="preencoded.png">    </p:cNvPr>
          <p:cNvPicPr>
            <a:picLocks noChangeAspect="1"/>
          </p:cNvPicPr>
          <p:nvPr/>
        </p:nvPicPr>
        <p:blipFill>
          <a:blip r:embed="rId2"/>
          <a:stretch>
            <a:fillRect/>
          </a:stretch>
        </p:blipFill>
        <p:spPr>
          <a:xfrm>
            <a:off x="7474268" y="2524958"/>
            <a:ext cx="4023717" cy="309920"/>
          </a:xfrm>
          <a:prstGeom prst="rect">
            <a:avLst/>
          </a:prstGeom>
        </p:spPr>
      </p:pic>
      <p:sp>
        <p:nvSpPr>
          <p:cNvPr id="13" name="Text 9"/>
          <p:cNvSpPr/>
          <p:nvPr/>
        </p:nvSpPr>
        <p:spPr>
          <a:xfrm>
            <a:off x="7474268" y="2912150"/>
            <a:ext cx="4023717" cy="3098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Especificar el horario qu</a:t>
            </a:r>
            <a:pPr algn="l" indent="0" marL="0">
              <a:lnSpc>
                <a:spcPts val="1200"/>
              </a:lnSpc>
              <a:buNone/>
            </a:pPr>
            <a:r>
              <a:rPr lang="en-US" sz="950" dirty="0">
                <a:solidFill>
                  <a:srgbClr val="272525"/>
                </a:solidFill>
                <a:latin typeface="Inter" pitchFamily="34" charset="0"/>
                <a:ea typeface="Inter" pitchFamily="34" charset="-122"/>
                <a:cs typeface="Inter" pitchFamily="34" charset="-120"/>
              </a:rPr>
              <a:t>e el colaborador debía cumplir durante esas fechas.</a:t>
            </a:r>
            <a:endParaRPr lang="en-US" sz="950" dirty="0"/>
          </a:p>
        </p:txBody>
      </p:sp>
      <p:pic>
        <p:nvPicPr>
          <p:cNvPr id="14" name="Image 2" descr="preencoded.png">    </p:cNvPr>
          <p:cNvPicPr>
            <a:picLocks noChangeAspect="1"/>
          </p:cNvPicPr>
          <p:nvPr/>
        </p:nvPicPr>
        <p:blipFill>
          <a:blip r:embed="rId3"/>
          <a:stretch>
            <a:fillRect/>
          </a:stretch>
        </p:blipFill>
        <p:spPr>
          <a:xfrm>
            <a:off x="7474268" y="3299222"/>
            <a:ext cx="4023717" cy="434935"/>
          </a:xfrm>
          <a:prstGeom prst="rect">
            <a:avLst/>
          </a:prstGeom>
        </p:spPr>
      </p:pic>
      <p:sp>
        <p:nvSpPr>
          <p:cNvPr id="15" name="Shape 10"/>
          <p:cNvSpPr/>
          <p:nvPr/>
        </p:nvSpPr>
        <p:spPr>
          <a:xfrm>
            <a:off x="3007519" y="4114919"/>
            <a:ext cx="4273272" cy="124778"/>
          </a:xfrm>
          <a:prstGeom prst="roundRect">
            <a:avLst>
              <a:gd name="adj" fmla="val 42027"/>
            </a:avLst>
          </a:prstGeom>
          <a:solidFill>
            <a:srgbClr val="098CD2"/>
          </a:solidFill>
          <a:ln w="7620">
            <a:solidFill>
              <a:srgbClr val="22A5EB"/>
            </a:solidFill>
            <a:prstDash val="solid"/>
          </a:ln>
        </p:spPr>
      </p:sp>
      <p:sp>
        <p:nvSpPr>
          <p:cNvPr id="16" name="Text 11"/>
          <p:cNvSpPr/>
          <p:nvPr/>
        </p:nvSpPr>
        <p:spPr>
          <a:xfrm>
            <a:off x="3132296" y="4308396"/>
            <a:ext cx="4023717" cy="390049"/>
          </a:xfrm>
          <a:prstGeom prst="rect">
            <a:avLst/>
          </a:prstGeom>
          <a:noFill/>
          <a:ln/>
        </p:spPr>
        <p:txBody>
          <a:bodyPr wrap="square" lIns="0" tIns="0" rIns="0" bIns="0" rtlCol="0" anchor="t"/>
          <a:lstStyle/>
          <a:p>
            <a:pPr algn="l" indent="0" marL="0">
              <a:lnSpc>
                <a:spcPts val="1500"/>
              </a:lnSpc>
              <a:buNone/>
            </a:pPr>
            <a:r>
              <a:rPr lang="en-US" sz="1200" b="1" dirty="0">
                <a:solidFill>
                  <a:srgbClr val="272525"/>
                </a:solidFill>
                <a:latin typeface="Inter Bold" pitchFamily="34" charset="0"/>
                <a:ea typeface="Inter Bold" pitchFamily="34" charset="-122"/>
                <a:cs typeface="Inter Bold" pitchFamily="34" charset="-120"/>
              </a:rPr>
              <a:t>Paso 3: Selección de Parentesco y Adjuntar Documentación</a:t>
            </a:r>
            <a:endParaRPr lang="en-US" sz="1200" dirty="0"/>
          </a:p>
        </p:txBody>
      </p:sp>
      <p:sp>
        <p:nvSpPr>
          <p:cNvPr id="17" name="Text 12"/>
          <p:cNvSpPr/>
          <p:nvPr/>
        </p:nvSpPr>
        <p:spPr>
          <a:xfrm>
            <a:off x="3132296" y="4739640"/>
            <a:ext cx="4023717" cy="3098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latin typeface="Inter" pitchFamily="34" charset="0"/>
                <a:ea typeface="Inter" pitchFamily="34" charset="-122"/>
                <a:cs typeface="Inter" pitchFamily="34" charset="-120"/>
              </a:rPr>
              <a:t>En la lista desplegable, seleccionar el </a:t>
            </a:r>
            <a:pPr algn="l" indent="0" marL="0">
              <a:lnSpc>
                <a:spcPts val="1200"/>
              </a:lnSpc>
              <a:buNone/>
            </a:pPr>
            <a:r>
              <a:rPr lang="en-US" sz="950" dirty="0">
                <a:solidFill>
                  <a:srgbClr val="272525"/>
                </a:solidFill>
                <a:highlight>
                  <a:srgbClr val="FFFFFF"/>
                </a:highlight>
                <a:latin typeface="Inter" pitchFamily="34" charset="0"/>
                <a:ea typeface="Inter" pitchFamily="34" charset="-122"/>
                <a:cs typeface="Inter" pitchFamily="34" charset="-120"/>
              </a:rPr>
              <a:t>parentesco del familiar fallecido.</a:t>
            </a:r>
            <a:endParaRPr lang="en-US" sz="950" dirty="0"/>
          </a:p>
        </p:txBody>
      </p:sp>
      <p:pic>
        <p:nvPicPr>
          <p:cNvPr id="18" name="Image 3" descr="preencoded.png">    </p:cNvPr>
          <p:cNvPicPr>
            <a:picLocks noChangeAspect="1"/>
          </p:cNvPicPr>
          <p:nvPr/>
        </p:nvPicPr>
        <p:blipFill>
          <a:blip r:embed="rId4"/>
          <a:stretch>
            <a:fillRect/>
          </a:stretch>
        </p:blipFill>
        <p:spPr>
          <a:xfrm>
            <a:off x="4051578" y="5126712"/>
            <a:ext cx="2185035" cy="561856"/>
          </a:xfrm>
          <a:prstGeom prst="rect">
            <a:avLst/>
          </a:prstGeom>
        </p:spPr>
      </p:pic>
      <p:sp>
        <p:nvSpPr>
          <p:cNvPr id="19" name="Text 13"/>
          <p:cNvSpPr/>
          <p:nvPr/>
        </p:nvSpPr>
        <p:spPr>
          <a:xfrm>
            <a:off x="3132296" y="5765840"/>
            <a:ext cx="4023717" cy="4647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Hacer clic en "Adjuntos" y subir todos los documentos requeridos (ver lista detallada abajo), incluyendo el formato de solicitud de calamidad.</a:t>
            </a:r>
            <a:endParaRPr lang="en-US" sz="950" dirty="0"/>
          </a:p>
        </p:txBody>
      </p:sp>
      <p:pic>
        <p:nvPicPr>
          <p:cNvPr id="20" name="Image 4" descr="preencoded.png">    </p:cNvPr>
          <p:cNvPicPr>
            <a:picLocks noChangeAspect="1"/>
          </p:cNvPicPr>
          <p:nvPr/>
        </p:nvPicPr>
        <p:blipFill>
          <a:blip r:embed="rId5"/>
          <a:stretch>
            <a:fillRect/>
          </a:stretch>
        </p:blipFill>
        <p:spPr>
          <a:xfrm>
            <a:off x="3946327" y="6307812"/>
            <a:ext cx="2395657" cy="616387"/>
          </a:xfrm>
          <a:prstGeom prst="rect">
            <a:avLst/>
          </a:prstGeom>
        </p:spPr>
      </p:pic>
      <p:sp>
        <p:nvSpPr>
          <p:cNvPr id="21" name="Text 14"/>
          <p:cNvSpPr/>
          <p:nvPr/>
        </p:nvSpPr>
        <p:spPr>
          <a:xfrm>
            <a:off x="3132296" y="7001470"/>
            <a:ext cx="4023717" cy="154900"/>
          </a:xfrm>
          <a:prstGeom prst="rect">
            <a:avLst/>
          </a:prstGeom>
          <a:noFill/>
          <a:ln/>
        </p:spPr>
        <p:txBody>
          <a:bodyPr wrap="none" lIns="0" tIns="0" rIns="0" bIns="0" rtlCol="0" anchor="t"/>
          <a:lstStyle/>
          <a:p>
            <a:pPr algn="l" indent="0" marL="0">
              <a:lnSpc>
                <a:spcPts val="1200"/>
              </a:lnSpc>
              <a:buNone/>
            </a:pPr>
            <a:endParaRPr lang="en-US" sz="950" dirty="0"/>
          </a:p>
        </p:txBody>
      </p:sp>
      <p:sp>
        <p:nvSpPr>
          <p:cNvPr id="22" name="Shape 15"/>
          <p:cNvSpPr/>
          <p:nvPr/>
        </p:nvSpPr>
        <p:spPr>
          <a:xfrm>
            <a:off x="7349490" y="3927634"/>
            <a:ext cx="4273272" cy="124778"/>
          </a:xfrm>
          <a:prstGeom prst="roundRect">
            <a:avLst>
              <a:gd name="adj" fmla="val 42027"/>
            </a:avLst>
          </a:prstGeom>
          <a:solidFill>
            <a:srgbClr val="8AC340"/>
          </a:solidFill>
          <a:ln w="7620">
            <a:solidFill>
              <a:srgbClr val="70A926"/>
            </a:solidFill>
            <a:prstDash val="solid"/>
          </a:ln>
        </p:spPr>
      </p:sp>
      <p:sp>
        <p:nvSpPr>
          <p:cNvPr id="23" name="Text 16"/>
          <p:cNvSpPr/>
          <p:nvPr/>
        </p:nvSpPr>
        <p:spPr>
          <a:xfrm>
            <a:off x="7474268" y="4121110"/>
            <a:ext cx="3306723" cy="195024"/>
          </a:xfrm>
          <a:prstGeom prst="rect">
            <a:avLst/>
          </a:prstGeom>
          <a:noFill/>
          <a:ln/>
        </p:spPr>
        <p:txBody>
          <a:bodyPr wrap="none" lIns="0" tIns="0" rIns="0" bIns="0" rtlCol="0" anchor="t"/>
          <a:lstStyle/>
          <a:p>
            <a:pPr algn="l" indent="0" marL="0">
              <a:lnSpc>
                <a:spcPts val="1500"/>
              </a:lnSpc>
              <a:buNone/>
            </a:pPr>
            <a:r>
              <a:rPr lang="en-US" sz="1200" b="1" dirty="0">
                <a:solidFill>
                  <a:srgbClr val="272525"/>
                </a:solidFill>
                <a:highlight>
                  <a:srgbClr val="FFFFFF"/>
                </a:highlight>
                <a:latin typeface="Inter Bold" pitchFamily="34" charset="0"/>
                <a:ea typeface="Inter Bold" pitchFamily="34" charset="-122"/>
                <a:cs typeface="Inter Bold" pitchFamily="34" charset="-120"/>
              </a:rPr>
              <a:t>Paso 4: Registrar Observaciones y Finalizar</a:t>
            </a:r>
            <a:endParaRPr lang="en-US" sz="1200" dirty="0"/>
          </a:p>
        </p:txBody>
      </p:sp>
      <p:sp>
        <p:nvSpPr>
          <p:cNvPr id="24" name="Text 17"/>
          <p:cNvSpPr/>
          <p:nvPr/>
        </p:nvSpPr>
        <p:spPr>
          <a:xfrm>
            <a:off x="7474268" y="4357330"/>
            <a:ext cx="4023717" cy="309801"/>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En el campo de "Observaciones", dejar un registro claro de la gestión.</a:t>
            </a:r>
            <a:endParaRPr lang="en-US" sz="950" dirty="0"/>
          </a:p>
        </p:txBody>
      </p:sp>
      <p:pic>
        <p:nvPicPr>
          <p:cNvPr id="25" name="Image 5" descr="preencoded.png">    </p:cNvPr>
          <p:cNvPicPr>
            <a:picLocks noChangeAspect="1"/>
          </p:cNvPicPr>
          <p:nvPr/>
        </p:nvPicPr>
        <p:blipFill>
          <a:blip r:embed="rId6"/>
          <a:stretch>
            <a:fillRect/>
          </a:stretch>
        </p:blipFill>
        <p:spPr>
          <a:xfrm>
            <a:off x="8691920" y="4744403"/>
            <a:ext cx="1588413" cy="471130"/>
          </a:xfrm>
          <a:prstGeom prst="rect">
            <a:avLst/>
          </a:prstGeom>
        </p:spPr>
      </p:pic>
      <p:sp>
        <p:nvSpPr>
          <p:cNvPr id="26" name="Text 18"/>
          <p:cNvSpPr/>
          <p:nvPr/>
        </p:nvSpPr>
        <p:spPr>
          <a:xfrm>
            <a:off x="7474268" y="5292804"/>
            <a:ext cx="4023717" cy="643652"/>
          </a:xfrm>
          <a:prstGeom prst="rect">
            <a:avLst/>
          </a:prstGeom>
          <a:noFill/>
          <a:ln/>
        </p:spPr>
        <p:txBody>
          <a:bodyPr wrap="square" lIns="0" tIns="0" rIns="0" bIns="0" rtlCol="0" anchor="t"/>
          <a:lstStyle/>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Ejemplo: "Se registra licencia por fallecimiento de padre. Documentación completa adjunta para revisión y aprobación de Talento Humano."</a:t>
            </a:r>
            <a:endParaRPr lang="en-US" sz="950" dirty="0"/>
          </a:p>
          <a:p>
            <a:pPr algn="l" marL="342900" indent="-342900">
              <a:lnSpc>
                <a:spcPts val="1200"/>
              </a:lnSpc>
              <a:buSzPct val="100000"/>
              <a:buChar char="•"/>
            </a:pPr>
            <a:r>
              <a:rPr lang="en-US" sz="950" dirty="0">
                <a:solidFill>
                  <a:srgbClr val="272525"/>
                </a:solidFill>
                <a:highlight>
                  <a:srgbClr val="FFFFFF"/>
                </a:highlight>
                <a:latin typeface="Inter" pitchFamily="34" charset="0"/>
                <a:ea typeface="Inter" pitchFamily="34" charset="-122"/>
                <a:cs typeface="Inter" pitchFamily="34" charset="-120"/>
              </a:rPr>
              <a:t>Verificar toda la información y hacer clic en el botón "Guardar".</a:t>
            </a:r>
            <a:endParaRPr lang="en-US" sz="950" dirty="0"/>
          </a:p>
        </p:txBody>
      </p:sp>
      <p:pic>
        <p:nvPicPr>
          <p:cNvPr id="27" name="Image 6" descr="preencoded.png">    </p:cNvPr>
          <p:cNvPicPr>
            <a:picLocks noChangeAspect="1"/>
          </p:cNvPicPr>
          <p:nvPr/>
        </p:nvPicPr>
        <p:blipFill>
          <a:blip r:embed="rId7"/>
          <a:stretch>
            <a:fillRect/>
          </a:stretch>
        </p:blipFill>
        <p:spPr>
          <a:xfrm>
            <a:off x="9099828" y="6013728"/>
            <a:ext cx="772478" cy="296466"/>
          </a:xfrm>
          <a:prstGeom prst="rect">
            <a:avLst/>
          </a:prstGeom>
        </p:spPr>
      </p:pic>
      <p:sp>
        <p:nvSpPr>
          <p:cNvPr id="28" name="Text 19"/>
          <p:cNvSpPr/>
          <p:nvPr/>
        </p:nvSpPr>
        <p:spPr>
          <a:xfrm>
            <a:off x="7474268" y="6387465"/>
            <a:ext cx="4023717" cy="154900"/>
          </a:xfrm>
          <a:prstGeom prst="rect">
            <a:avLst/>
          </a:prstGeom>
          <a:noFill/>
          <a:ln/>
        </p:spPr>
        <p:txBody>
          <a:bodyPr wrap="none" lIns="0" tIns="0" rIns="0" bIns="0" rtlCol="0" anchor="t"/>
          <a:lstStyle/>
          <a:p>
            <a:pPr algn="l" indent="0" marL="0">
              <a:lnSpc>
                <a:spcPts val="1200"/>
              </a:lnSpc>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696885" y="1634133"/>
            <a:ext cx="6891695" cy="418267"/>
          </a:xfrm>
          <a:prstGeom prst="rect">
            <a:avLst/>
          </a:prstGeom>
          <a:noFill/>
          <a:ln/>
        </p:spPr>
        <p:txBody>
          <a:bodyPr wrap="none" lIns="0" tIns="0" rIns="0" bIns="0" rtlCol="0" anchor="t"/>
          <a:lstStyle/>
          <a:p>
            <a:pPr algn="l" indent="0" marL="0">
              <a:lnSpc>
                <a:spcPts val="3250"/>
              </a:lnSpc>
              <a:buNone/>
            </a:pPr>
            <a:r>
              <a:rPr lang="en-US" sz="2600" b="1" dirty="0">
                <a:solidFill>
                  <a:srgbClr val="000000"/>
                </a:solidFill>
                <a:latin typeface="Inter Bold" pitchFamily="34" charset="0"/>
                <a:ea typeface="Inter Bold" pitchFamily="34" charset="-122"/>
                <a:cs typeface="Inter Bold" pitchFamily="34" charset="-120"/>
              </a:rPr>
              <a:t>Documentación Requerida por Parentesco</a:t>
            </a:r>
            <a:endParaRPr lang="en-US" sz="2600" dirty="0"/>
          </a:p>
        </p:txBody>
      </p:sp>
      <p:sp>
        <p:nvSpPr>
          <p:cNvPr id="3" name="Text 1"/>
          <p:cNvSpPr/>
          <p:nvPr/>
        </p:nvSpPr>
        <p:spPr>
          <a:xfrm>
            <a:off x="2696885" y="2210395"/>
            <a:ext cx="9236631" cy="170140"/>
          </a:xfrm>
          <a:prstGeom prst="rect">
            <a:avLst/>
          </a:prstGeom>
          <a:noFill/>
          <a:ln/>
        </p:spPr>
        <p:txBody>
          <a:bodyPr wrap="none" lIns="0" tIns="0" rIns="0" bIns="0" rtlCol="0" anchor="t"/>
          <a:lstStyle/>
          <a:p>
            <a:pPr algn="l" indent="0" marL="0">
              <a:lnSpc>
                <a:spcPts val="1300"/>
              </a:lnSpc>
              <a:buNone/>
            </a:pPr>
            <a:r>
              <a:rPr lang="en-US" sz="1050" dirty="0">
                <a:solidFill>
                  <a:srgbClr val="272525"/>
                </a:solidFill>
                <a:latin typeface="Inter" pitchFamily="34" charset="0"/>
                <a:ea typeface="Inter" pitchFamily="34" charset="-122"/>
                <a:cs typeface="Inter" pitchFamily="34" charset="-120"/>
              </a:rPr>
              <a:t>Para que la solicitud sea aprobada, se debe adjuntar e</a:t>
            </a:r>
            <a:pPr algn="l" indent="0" marL="0">
              <a:lnSpc>
                <a:spcPts val="1300"/>
              </a:lnSpc>
              <a:buNone/>
            </a:pPr>
            <a:r>
              <a:rPr lang="en-US" sz="1050" dirty="0">
                <a:solidFill>
                  <a:srgbClr val="272525"/>
                </a:solidFill>
                <a:highlight>
                  <a:srgbClr val="FFFFFF"/>
                </a:highlight>
                <a:latin typeface="Inter" pitchFamily="34" charset="0"/>
                <a:ea typeface="Inter" pitchFamily="34" charset="-122"/>
                <a:cs typeface="Inter" pitchFamily="34" charset="-120"/>
              </a:rPr>
              <a:t>l Formato de Solicitud de Calamidad más los siguientes documentos:</a:t>
            </a:r>
            <a:endParaRPr lang="en-US" sz="1050" dirty="0"/>
          </a:p>
        </p:txBody>
      </p:sp>
      <p:sp>
        <p:nvSpPr>
          <p:cNvPr id="4" name="Text 2"/>
          <p:cNvSpPr/>
          <p:nvPr/>
        </p:nvSpPr>
        <p:spPr>
          <a:xfrm>
            <a:off x="2696885" y="2548295"/>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PADRES</a:t>
            </a:r>
            <a:endParaRPr lang="en-US" sz="1300" dirty="0"/>
          </a:p>
        </p:txBody>
      </p:sp>
      <p:sp>
        <p:nvSpPr>
          <p:cNvPr id="5" name="Text 3"/>
          <p:cNvSpPr/>
          <p:nvPr/>
        </p:nvSpPr>
        <p:spPr>
          <a:xfrm>
            <a:off x="2696885" y="2836307"/>
            <a:ext cx="4455081" cy="565666"/>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trabajador.</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6" name="Text 4"/>
          <p:cNvSpPr/>
          <p:nvPr/>
        </p:nvSpPr>
        <p:spPr>
          <a:xfrm>
            <a:off x="2696885" y="3480911"/>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HERMANOS</a:t>
            </a:r>
            <a:endParaRPr lang="en-US" sz="1300" dirty="0"/>
          </a:p>
        </p:txBody>
      </p:sp>
      <p:sp>
        <p:nvSpPr>
          <p:cNvPr id="7" name="Text 5"/>
          <p:cNvSpPr/>
          <p:nvPr/>
        </p:nvSpPr>
        <p:spPr>
          <a:xfrm>
            <a:off x="2696885" y="3768923"/>
            <a:ext cx="4455081" cy="763429"/>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trabajador.</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hermano fallecido.</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8" name="Text 6"/>
          <p:cNvSpPr/>
          <p:nvPr/>
        </p:nvSpPr>
        <p:spPr>
          <a:xfrm>
            <a:off x="2696885" y="4611291"/>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HIJOS</a:t>
            </a:r>
            <a:endParaRPr lang="en-US" sz="1300" dirty="0"/>
          </a:p>
        </p:txBody>
      </p:sp>
      <p:sp>
        <p:nvSpPr>
          <p:cNvPr id="9" name="Text 7"/>
          <p:cNvSpPr/>
          <p:nvPr/>
        </p:nvSpPr>
        <p:spPr>
          <a:xfrm>
            <a:off x="2696885" y="4899303"/>
            <a:ext cx="4455081" cy="565666"/>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hijo fallecido.</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10" name="Text 8"/>
          <p:cNvSpPr/>
          <p:nvPr/>
        </p:nvSpPr>
        <p:spPr>
          <a:xfrm>
            <a:off x="2696885" y="5543907"/>
            <a:ext cx="3614499"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CÓNYUGE O COMPAÑERO(A) PERMANENTE</a:t>
            </a:r>
            <a:endParaRPr lang="en-US" sz="1300" dirty="0"/>
          </a:p>
        </p:txBody>
      </p:sp>
      <p:sp>
        <p:nvSpPr>
          <p:cNvPr id="11" name="Text 9"/>
          <p:cNvSpPr/>
          <p:nvPr/>
        </p:nvSpPr>
        <p:spPr>
          <a:xfrm>
            <a:off x="2696885" y="5831919"/>
            <a:ext cx="4455081" cy="735806"/>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Matrimonio o Declaración Juramentada de convivencia por notaría.</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12" name="Text 10"/>
          <p:cNvSpPr/>
          <p:nvPr/>
        </p:nvSpPr>
        <p:spPr>
          <a:xfrm>
            <a:off x="7486055" y="2548295"/>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ABUELOS</a:t>
            </a:r>
            <a:endParaRPr lang="en-US" sz="1300" dirty="0"/>
          </a:p>
        </p:txBody>
      </p:sp>
      <p:sp>
        <p:nvSpPr>
          <p:cNvPr id="13" name="Text 11"/>
          <p:cNvSpPr/>
          <p:nvPr/>
        </p:nvSpPr>
        <p:spPr>
          <a:xfrm>
            <a:off x="7486055" y="2836307"/>
            <a:ext cx="4455081" cy="1103709"/>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trabajador.</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padre o madre (según corresponda la línea familiar). Alternativa: Partida de bautismo del trabajador.</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14" name="Text 12"/>
          <p:cNvSpPr/>
          <p:nvPr/>
        </p:nvSpPr>
        <p:spPr>
          <a:xfrm>
            <a:off x="7486055" y="4018955"/>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NIETOS</a:t>
            </a:r>
            <a:endParaRPr lang="en-US" sz="1300" dirty="0"/>
          </a:p>
        </p:txBody>
      </p:sp>
      <p:sp>
        <p:nvSpPr>
          <p:cNvPr id="15" name="Text 13"/>
          <p:cNvSpPr/>
          <p:nvPr/>
        </p:nvSpPr>
        <p:spPr>
          <a:xfrm>
            <a:off x="7486055" y="4306967"/>
            <a:ext cx="4455081" cy="933569"/>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hijo/a del trabajador (padre/madre del nieto).</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nieto fallecido.</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
        <p:nvSpPr>
          <p:cNvPr id="16" name="Text 14"/>
          <p:cNvSpPr/>
          <p:nvPr/>
        </p:nvSpPr>
        <p:spPr>
          <a:xfrm>
            <a:off x="7486055" y="5319474"/>
            <a:ext cx="1673304" cy="209074"/>
          </a:xfrm>
          <a:prstGeom prst="rect">
            <a:avLst/>
          </a:prstGeom>
          <a:noFill/>
          <a:ln/>
        </p:spPr>
        <p:txBody>
          <a:bodyPr wrap="none" lIns="0" tIns="0" rIns="0" bIns="0" rtlCol="0" anchor="t"/>
          <a:lstStyle/>
          <a:p>
            <a:pPr algn="l" indent="0" marL="0">
              <a:lnSpc>
                <a:spcPts val="1600"/>
              </a:lnSpc>
              <a:buNone/>
            </a:pPr>
            <a:r>
              <a:rPr lang="en-US" sz="1300" b="1" dirty="0">
                <a:solidFill>
                  <a:srgbClr val="000000"/>
                </a:solidFill>
                <a:latin typeface="Inter Bold" pitchFamily="34" charset="0"/>
                <a:ea typeface="Inter Bold" pitchFamily="34" charset="-122"/>
                <a:cs typeface="Inter Bold" pitchFamily="34" charset="-120"/>
              </a:rPr>
              <a:t>SUEGROS</a:t>
            </a:r>
            <a:endParaRPr lang="en-US" sz="1300" dirty="0"/>
          </a:p>
        </p:txBody>
      </p:sp>
      <p:sp>
        <p:nvSpPr>
          <p:cNvPr id="17" name="Text 15"/>
          <p:cNvSpPr/>
          <p:nvPr/>
        </p:nvSpPr>
        <p:spPr>
          <a:xfrm>
            <a:off x="7486055" y="5607487"/>
            <a:ext cx="4455081" cy="933569"/>
          </a:xfrm>
          <a:prstGeom prst="rect">
            <a:avLst/>
          </a:prstGeom>
          <a:noFill/>
          <a:ln/>
        </p:spPr>
        <p:txBody>
          <a:bodyPr wrap="square" lIns="0" tIns="0" rIns="0" bIns="0" rtlCol="0" anchor="t"/>
          <a:lstStyle/>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Defunción (o certificado de defunción).</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Matrimonio o Declaración Juramentada de convivencia del trabajador.</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Registro Civil de Nacimiento del cónyuge o compañero(a).</a:t>
            </a:r>
            <a:endParaRPr lang="en-US" sz="1050" dirty="0"/>
          </a:p>
          <a:p>
            <a:pPr algn="l" marL="342900" indent="-342900">
              <a:lnSpc>
                <a:spcPts val="1300"/>
              </a:lnSpc>
              <a:buSzPct val="100000"/>
              <a:buChar char="•"/>
            </a:pPr>
            <a:r>
              <a:rPr lang="en-US" sz="1050" dirty="0">
                <a:solidFill>
                  <a:srgbClr val="272525"/>
                </a:solidFill>
                <a:latin typeface="Inter" pitchFamily="34" charset="0"/>
                <a:ea typeface="Inter" pitchFamily="34" charset="-122"/>
                <a:cs typeface="Inter" pitchFamily="34" charset="-120"/>
              </a:rPr>
              <a:t>Fotocopia de la cédula del trabajador.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486739"/>
            <a:ext cx="8261033"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Acciones Críticas del Proceso</a:t>
            </a:r>
            <a:endParaRPr lang="en-US" sz="4450" dirty="0"/>
          </a:p>
        </p:txBody>
      </p:sp>
      <p:sp>
        <p:nvSpPr>
          <p:cNvPr id="3" name="Shape 1"/>
          <p:cNvSpPr/>
          <p:nvPr/>
        </p:nvSpPr>
        <p:spPr>
          <a:xfrm>
            <a:off x="793790" y="3649147"/>
            <a:ext cx="6407944" cy="2093714"/>
          </a:xfrm>
          <a:prstGeom prst="roundRect">
            <a:avLst>
              <a:gd name="adj" fmla="val 4550"/>
            </a:avLst>
          </a:prstGeom>
          <a:solidFill>
            <a:srgbClr val="FFFFFF"/>
          </a:solidFill>
          <a:ln w="30480">
            <a:solidFill>
              <a:srgbClr val="8AC340"/>
            </a:solidFill>
            <a:prstDash val="solid"/>
          </a:ln>
        </p:spPr>
      </p:sp>
      <p:sp>
        <p:nvSpPr>
          <p:cNvPr id="4" name="Text 2"/>
          <p:cNvSpPr/>
          <p:nvPr/>
        </p:nvSpPr>
        <p:spPr>
          <a:xfrm>
            <a:off x="1051084" y="3906441"/>
            <a:ext cx="4635698"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Seguimiento Activo y Obligatorio:</a:t>
            </a:r>
            <a:endParaRPr lang="en-US" sz="2200" dirty="0"/>
          </a:p>
        </p:txBody>
      </p:sp>
      <p:sp>
        <p:nvSpPr>
          <p:cNvPr id="5" name="Text 3"/>
          <p:cNvSpPr/>
          <p:nvPr/>
        </p:nvSpPr>
        <p:spPr>
          <a:xfrm>
            <a:off x="1051084" y="4396859"/>
            <a:ext cx="5893356"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Es imperativo que el usuario creador de la novedad monitoree el estado de esta para asegurar que Talento Humano la apruebe.</a:t>
            </a:r>
            <a:endParaRPr lang="en-US" sz="1750" dirty="0"/>
          </a:p>
        </p:txBody>
      </p:sp>
      <p:sp>
        <p:nvSpPr>
          <p:cNvPr id="6" name="Shape 4"/>
          <p:cNvSpPr/>
          <p:nvPr/>
        </p:nvSpPr>
        <p:spPr>
          <a:xfrm>
            <a:off x="7428548" y="3649147"/>
            <a:ext cx="6408063" cy="2093714"/>
          </a:xfrm>
          <a:prstGeom prst="roundRect">
            <a:avLst>
              <a:gd name="adj" fmla="val 4550"/>
            </a:avLst>
          </a:prstGeom>
          <a:solidFill>
            <a:srgbClr val="FFFFFF"/>
          </a:solidFill>
          <a:ln w="30480">
            <a:solidFill>
              <a:srgbClr val="098CD2"/>
            </a:solidFill>
            <a:prstDash val="solid"/>
          </a:ln>
        </p:spPr>
      </p:sp>
      <p:sp>
        <p:nvSpPr>
          <p:cNvPr id="7" name="Text 5"/>
          <p:cNvSpPr/>
          <p:nvPr/>
        </p:nvSpPr>
        <p:spPr>
          <a:xfrm>
            <a:off x="7685842" y="3906441"/>
            <a:ext cx="5514380"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Garantizar la Documentación Completa:</a:t>
            </a:r>
            <a:endParaRPr lang="en-US" sz="2200" dirty="0"/>
          </a:p>
        </p:txBody>
      </p:sp>
      <p:sp>
        <p:nvSpPr>
          <p:cNvPr id="8" name="Text 6"/>
          <p:cNvSpPr/>
          <p:nvPr/>
        </p:nvSpPr>
        <p:spPr>
          <a:xfrm>
            <a:off x="7685842" y="4396859"/>
            <a:ext cx="5893475"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Si la novedad se registra con documentos incompletos o ilegibles esto generará rechazos y retrasos, afectando directamente al colaborador.</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2026-03-24T03:31:45Z</dcterms:created>
  <dcterms:modified xsi:type="dcterms:W3CDTF">2026-03-24T03:31:45Z</dcterms:modified>
</cp:coreProperties>
</file>