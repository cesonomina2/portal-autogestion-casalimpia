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Inter"/>
      <p:regular r:id="rId12"/>
    </p:embeddedFont>
    <p:embeddedFont>
      <p:font typeface="Inter"/>
      <p:regular r:id="rId13"/>
    </p:embeddedFont>
    <p:embeddedFont>
      <p:font typeface="Inter"/>
      <p:regular r:id="rId14"/>
    </p:embeddedFont>
    <p:embeddedFont>
      <p:font typeface="Inter"/>
      <p:regular r:id="rId15"/>
    </p:embeddedFont>
    <p:embeddedFont>
      <p:font typeface="Inter"/>
      <p:regular r:id="rId16"/>
    </p:embeddedFon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Permiso No Remunerado (PNR)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gestión adecuada de los Permisos No Remunerados (PNR) es crucial para mantener la transparencia con el colaborador y asegurar la correcta aplicación en la nómina. Esta guía te orientará en el proceso y tus responsabilidades como líder.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438" y="1070491"/>
            <a:ext cx="7079337" cy="569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Principios Clave para tu Gestión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1031438" y="1932027"/>
            <a:ext cx="6210538" cy="2409111"/>
          </a:xfrm>
          <a:prstGeom prst="roundRect">
            <a:avLst>
              <a:gd name="adj" fmla="val 455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8578" y="1932027"/>
            <a:ext cx="91440" cy="2409111"/>
          </a:xfrm>
          <a:prstGeom prst="roundRect">
            <a:avLst>
              <a:gd name="adj" fmla="val 83659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1304925" y="2136934"/>
            <a:ext cx="3361492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Definición y consecuencias: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304925" y="2509242"/>
            <a:ext cx="5732145" cy="162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PNR es una ausencia solicitada por el colaborador y autorizada por la empresa, durante la cual no se genera pago de salario.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Importante: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Este permiso no solo afecta los días solicitados, sino que también implica el descuento del día de descanso correspondiente a esa semana.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88185" y="1932027"/>
            <a:ext cx="6210657" cy="2409111"/>
          </a:xfrm>
          <a:prstGeom prst="roundRect">
            <a:avLst>
              <a:gd name="adj" fmla="val 455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5325" y="1932027"/>
            <a:ext cx="91440" cy="2409111"/>
          </a:xfrm>
          <a:prstGeom prst="roundRect">
            <a:avLst>
              <a:gd name="adj" fmla="val 83659"/>
            </a:avLst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7661672" y="2136934"/>
            <a:ext cx="2917627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Requisito Indispensable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661672" y="2509242"/>
            <a:ext cx="5732264" cy="115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novedad no es válida sin documentos firmados por el colaborador: </a:t>
            </a:r>
            <a:endParaRPr lang="en-US" sz="1400" dirty="0"/>
          </a:p>
          <a:p>
            <a:pPr algn="l" lvl="1" marL="685800" indent="-342900">
              <a:lnSpc>
                <a:spcPts val="2050"/>
              </a:lnSpc>
              <a:buSzPct val="100000"/>
              <a:buChar char="◦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formato de solicitud</a:t>
            </a:r>
            <a:endParaRPr lang="en-US" sz="1400" dirty="0"/>
          </a:p>
          <a:p>
            <a:pPr algn="l" lvl="1" marL="685800" indent="-342900">
              <a:lnSpc>
                <a:spcPts val="2050"/>
              </a:lnSpc>
              <a:buSzPct val="100000"/>
              <a:buChar char="◦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acuerdo de licencia.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31438" y="4487347"/>
            <a:ext cx="6210538" cy="2671763"/>
          </a:xfrm>
          <a:prstGeom prst="roundRect">
            <a:avLst>
              <a:gd name="adj" fmla="val 4107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8578" y="4487347"/>
            <a:ext cx="91440" cy="2671763"/>
          </a:xfrm>
          <a:prstGeom prst="roundRect">
            <a:avLst>
              <a:gd name="adj" fmla="val 83659"/>
            </a:avLst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1304925" y="4692253"/>
            <a:ext cx="3210401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Jerarquía de Autorización: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304925" y="5064562"/>
            <a:ext cx="5732145" cy="162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Permisos de 1 a 3 días: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autorización recae directamente sobre el jefe inmediato.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Permisos de 4 días o más: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Requieren una aprobación adicional del área de Talento Humano. Se debe iniciar el proceso y de manera crucial hacer seguimiento hasta obtener su aprobación en la línea de vida del requerimiento.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88185" y="4487347"/>
            <a:ext cx="6210657" cy="2671763"/>
          </a:xfrm>
          <a:prstGeom prst="roundRect">
            <a:avLst>
              <a:gd name="adj" fmla="val 4107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65325" y="4487347"/>
            <a:ext cx="91440" cy="2671763"/>
          </a:xfrm>
          <a:prstGeom prst="roundRect">
            <a:avLst>
              <a:gd name="adj" fmla="val 83659"/>
            </a:avLst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7661672" y="4692253"/>
            <a:ext cx="2649498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 Solicitud programada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661672" y="5064562"/>
            <a:ext cx="5732264" cy="1889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novedad se considera “extemporánea" (tardía) si se registran los hechos 1 día después desde la fecha de inicio del permiso no remunerado.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 objetivo principal es evitar a toda costa la creación de novedades extemporáneas. Un registro tardío puede generar inconsistencias en la nómina y en los indicadores de ausentismo.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76493" y="740331"/>
            <a:ext cx="4077295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8AC3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COMO REGISTRAR LA  NOVEDAD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4179" y="1197054"/>
            <a:ext cx="631984" cy="20485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6528" y="1323380"/>
            <a:ext cx="8019574" cy="31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acceder a la nueva plataforma donde centralizaremos los registros (el nuevo módulo), solo tienes que entrar en el aplicativo </a:t>
            </a:r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</a:t>
            </a:r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98C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SIC</a:t>
            </a:r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después ir a la sección </a:t>
            </a:r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'Mis perfiles / Gestión de personal'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410" y="1717596"/>
            <a:ext cx="1151692" cy="1401723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179" y="3245644"/>
            <a:ext cx="631984" cy="140850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6528" y="3371969"/>
            <a:ext cx="8019574" cy="157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vez ahí, </a:t>
            </a:r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haz click en el Panel de '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Registro'.</a:t>
            </a:r>
            <a:endParaRPr lang="en-US" sz="9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015" y="3608665"/>
            <a:ext cx="1762601" cy="919163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4179" y="4654153"/>
            <a:ext cx="631984" cy="1129546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3656528" y="4780478"/>
            <a:ext cx="8019574" cy="31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panel que aparece, se debe digitar la cédula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la persona a la que se le realizara la novedad, después haz click en el botón "buscar"</a:t>
            </a:r>
            <a:endParaRPr lang="en-US" sz="950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9500" y="5174694"/>
            <a:ext cx="2373511" cy="482679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4179" y="5783699"/>
            <a:ext cx="631984" cy="170557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3656528" y="5910024"/>
            <a:ext cx="8019574" cy="31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Dentro de la información de la persona que aparece, </a:t>
            </a:r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desplázate hasta la sección 'Estados'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(generalmente al final) y </a:t>
            </a:r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localiza el botón 'OTROSI Y/O TRASLADO DE CECO'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0784" y="6304240"/>
            <a:ext cx="4690943" cy="822008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3656528" y="7205424"/>
            <a:ext cx="8019574" cy="157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68999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Proceso de Registro en el Sistema: Tu Paso a Paso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02449" y="779502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Cuando un colaborador solicita un Permiso No Remunerado, sigue este protocolo de manera rigurosa: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402449" y="979289"/>
            <a:ext cx="113348" cy="1241346"/>
          </a:xfrm>
          <a:prstGeom prst="roundRect">
            <a:avLst>
              <a:gd name="adj" fmla="val 42024"/>
            </a:avLst>
          </a:prstGeom>
          <a:solidFill>
            <a:srgbClr val="098CD2"/>
          </a:solidFill>
          <a:ln w="7620">
            <a:solidFill>
              <a:srgbClr val="22A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72470" y="1092637"/>
            <a:ext cx="147768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Paso 1:Definir Fechas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72470" y="1303734"/>
            <a:ext cx="7655481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Diligencia la Fecha inicial y la Fecha final que abarca el permiso.</a:t>
            </a:r>
            <a:endParaRPr lang="en-US" sz="8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0477" y="1503521"/>
            <a:ext cx="5259467" cy="40397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72470" y="1971199"/>
            <a:ext cx="7655481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572470" y="2277308"/>
            <a:ext cx="113348" cy="1972389"/>
          </a:xfrm>
          <a:prstGeom prst="roundRect">
            <a:avLst>
              <a:gd name="adj" fmla="val 42024"/>
            </a:avLst>
          </a:prstGeom>
          <a:solidFill>
            <a:srgbClr val="8AC340"/>
          </a:solidFill>
          <a:ln w="7620">
            <a:solidFill>
              <a:srgbClr val="70A9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42492" y="2390656"/>
            <a:ext cx="3498771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Paso 2: Generar y Gestionar los Formatos Oficiales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742492" y="2601754"/>
            <a:ext cx="748545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vez asignadas las fechas, el sistema habilitará dos botones azules. Estos son para generar los documentos obligatorios: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742492" y="2757607"/>
            <a:ext cx="748545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1050"/>
              </a:lnSpc>
              <a:buSzPct val="100000"/>
              <a:buFont typeface="+mj-lt"/>
              <a:buAutoNum type="alphaLcPeriod" startAt="1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Formato de Permiso No Remunerado:</a:t>
            </a:r>
            <a:pPr algn="l" lvl="1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 la solicitud formal que el empleado hace a la compañía.</a:t>
            </a:r>
            <a:endParaRPr lang="en-US" sz="8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211" y="2957393"/>
            <a:ext cx="1694021" cy="2763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2492" y="3297436"/>
            <a:ext cx="748545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742492" y="3467457"/>
            <a:ext cx="748545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1050"/>
              </a:lnSpc>
              <a:buSzPct val="100000"/>
              <a:buFont typeface="+mj-lt"/>
              <a:buAutoNum type="alphaLcPeriod" startAt="1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Acuerdo de Licencia No Remunerada:</a:t>
            </a:r>
            <a:pPr algn="l" lvl="1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 el documento donde la compañía acepta y otorga la licencia.</a:t>
            </a:r>
            <a:endParaRPr lang="en-US" sz="8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733" y="3667244"/>
            <a:ext cx="2090976" cy="2693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42492" y="4000262"/>
            <a:ext cx="748545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Descarga ambos formatos y entrégalos al colaborador para que los diligencie y firme.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3742611" y="4306372"/>
            <a:ext cx="113348" cy="1327785"/>
          </a:xfrm>
          <a:prstGeom prst="roundRect">
            <a:avLst>
              <a:gd name="adj" fmla="val 42024"/>
            </a:avLst>
          </a:prstGeom>
          <a:solidFill>
            <a:srgbClr val="098CD2"/>
          </a:solidFill>
          <a:ln w="7620">
            <a:solidFill>
              <a:srgbClr val="22A5EB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912632" y="4419719"/>
            <a:ext cx="2975729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Paso 3: Adjuntar los Documentos Firmados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912632" y="4630817"/>
            <a:ext cx="7315319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vez tengas los formatos debidamente firmados, escanéalos y súbelos al sistema usando el botón "Adjuntos", este paso es obligatorio.</a:t>
            </a:r>
            <a:endParaRPr lang="en-US" sz="8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2084" y="4966692"/>
            <a:ext cx="836414" cy="3543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912632" y="5384721"/>
            <a:ext cx="731531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3912751" y="5690830"/>
            <a:ext cx="113348" cy="2590562"/>
          </a:xfrm>
          <a:prstGeom prst="roundRect">
            <a:avLst>
              <a:gd name="adj" fmla="val 42024"/>
            </a:avLst>
          </a:prstGeom>
          <a:solidFill>
            <a:srgbClr val="8AC340"/>
          </a:solidFill>
          <a:ln w="7620">
            <a:solidFill>
              <a:srgbClr val="70A926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082772" y="5804178"/>
            <a:ext cx="3690580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Paso 4: Diligenciar el Horario y Añadir Observaciones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082772" y="6015276"/>
            <a:ext cx="714517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Verificar y asignar el horario que el colaborador debía cumplir durante su ausencia.</a:t>
            </a:r>
            <a:endParaRPr lang="en-US" sz="85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9418" y="6215062"/>
            <a:ext cx="3671768" cy="34730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82772" y="6626066"/>
            <a:ext cx="714517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28" name="Text 21"/>
          <p:cNvSpPr/>
          <p:nvPr/>
        </p:nvSpPr>
        <p:spPr>
          <a:xfrm>
            <a:off x="4082772" y="6796088"/>
            <a:ext cx="714517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 el campo de "Observaciones" para registrar detalles relevantes.</a:t>
            </a:r>
            <a:endParaRPr lang="en-US" sz="85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9193" y="6995874"/>
            <a:ext cx="1552337" cy="68044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082772" y="7740015"/>
            <a:ext cx="7145179" cy="428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(Permiso corto):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"PNR de 2 días autorizado para trámite personal. Se adjuntan formatos firmados por el colaborador."</a:t>
            </a:r>
            <a:endParaRPr lang="en-US" sz="85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(Permiso largo):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"Se registra solicitud de PNR de 5 días. Formatos firmados y enviados a Talento Humano para su aprobación final. Pendiente de confirmación."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3742611" y="8338066"/>
            <a:ext cx="113348" cy="1235035"/>
          </a:xfrm>
          <a:prstGeom prst="roundRect">
            <a:avLst>
              <a:gd name="adj" fmla="val 42024"/>
            </a:avLst>
          </a:prstGeom>
          <a:solidFill>
            <a:srgbClr val="098CD2"/>
          </a:solidFill>
          <a:ln w="7620">
            <a:solidFill>
              <a:srgbClr val="22A5EB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3912632" y="8451413"/>
            <a:ext cx="2835354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Paso 5: Guardar para Finalizar el Registro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3912632" y="8662511"/>
            <a:ext cx="731531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 que toda la información y los documentos adjuntos sean correctos y haz clic en el botón. "Guardar".</a:t>
            </a:r>
            <a:endParaRPr lang="en-US" sz="85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3872" y="8862298"/>
            <a:ext cx="812721" cy="397669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3912632" y="9323665"/>
            <a:ext cx="731531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8848"/>
            <a:ext cx="117830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Buenas Prácticas para una Gestión Exitosa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61417"/>
            <a:ext cx="4196358" cy="4209336"/>
          </a:xfrm>
          <a:prstGeom prst="roundRect">
            <a:avLst>
              <a:gd name="adj" fmla="val 3486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730937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8AC340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242125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AC3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55761" y="2625328"/>
            <a:ext cx="272177" cy="2721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084" y="3328392"/>
            <a:ext cx="368177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Realiza un Seguimiento Activo (Permisos de 4+ días):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084" y="4527471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Debes hacerle seguimiento en la línea de vida y asegurar que se apruebe el permiso desde talento humano.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2761417"/>
            <a:ext cx="4196358" cy="4209336"/>
          </a:xfrm>
          <a:prstGeom prst="roundRect">
            <a:avLst>
              <a:gd name="adj" fmla="val 3486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5216962" y="2730937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098CD2"/>
          </a:solidFill>
          <a:ln/>
        </p:spPr>
      </p:sp>
      <p:sp>
        <p:nvSpPr>
          <p:cNvPr id="11" name="Shape 8"/>
          <p:cNvSpPr/>
          <p:nvPr/>
        </p:nvSpPr>
        <p:spPr>
          <a:xfrm>
            <a:off x="6974860" y="242125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98CD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8933" y="2625328"/>
            <a:ext cx="272177" cy="27217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74256" y="3328392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hay permiso sin formatos: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474256" y="4173141"/>
            <a:ext cx="368177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Nunca se debe aprobar un permiso de manera informal. Los documentos firmados son el respaldo legal y administrativo tanto para la empresa como para el colaborador.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9640133" y="2761417"/>
            <a:ext cx="4196358" cy="4209336"/>
          </a:xfrm>
          <a:prstGeom prst="roundRect">
            <a:avLst>
              <a:gd name="adj" fmla="val 3486"/>
            </a:avLst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9640133" y="2730937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8AC340"/>
          </a:solidFill>
          <a:ln/>
        </p:spPr>
      </p:sp>
      <p:sp>
        <p:nvSpPr>
          <p:cNvPr id="17" name="Shape 13"/>
          <p:cNvSpPr/>
          <p:nvPr/>
        </p:nvSpPr>
        <p:spPr>
          <a:xfrm>
            <a:off x="11398032" y="242125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AC34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02105" y="2625328"/>
            <a:ext cx="272177" cy="27217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97427" y="3328392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Comunica con Claridad al Colaborador: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9897427" y="4173141"/>
            <a:ext cx="368177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debe asegurar que su colaborador comprenda plenamente que el permiso no será pagado y que esto incluye el descuento de su día de descanso. La transparencia previene futuros malentendidos.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2026-03-24T03:34:14Z</dcterms:created>
  <dcterms:modified xsi:type="dcterms:W3CDTF">2026-03-24T03:34:14Z</dcterms:modified>
</cp:coreProperties>
</file>