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4630400" cy="8229600"/>
  <p:notesSz cx="8229600" cy="14630400"/>
  <p:embeddedFontLst>
    <p:embeddedFont>
      <p:font typeface="Unbounded"/>
      <p:regular r:id="rId16"/>
    </p:embeddedFont>
    <p:embeddedFont>
      <p:font typeface="Unbounded"/>
      <p:regular r:id="rId17"/>
    </p:embeddedFont>
    <p:embeddedFont>
      <p:font typeface="Open Sans"/>
      <p:regular r:id="rId18"/>
    </p:embeddedFont>
    <p:embeddedFont>
      <p:font typeface="Open Sans"/>
      <p:regular r:id="rId19"/>
    </p:embeddedFont>
    <p:embeddedFont>
      <p:font typeface="Open Sans"/>
      <p:regular r:id="rId20"/>
    </p:embeddedFont>
    <p:embeddedFont>
      <p:font typeface="Open Sans"/>
      <p:regular r:id="rId21"/>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openxmlformats.org/officeDocument/2006/relationships/font" Target="fonts/font1.fntdata"/><Relationship Id="rId17" Type="http://schemas.openxmlformats.org/officeDocument/2006/relationships/font" Target="fonts/font2.fntdata"/><Relationship Id="rId18" Type="http://schemas.openxmlformats.org/officeDocument/2006/relationships/font" Target="fonts/font3.fntdata"/><Relationship Id="rId19" Type="http://schemas.openxmlformats.org/officeDocument/2006/relationships/font" Target="fonts/font4.fntdata"/><Relationship Id="rId20" Type="http://schemas.openxmlformats.org/officeDocument/2006/relationships/font" Target="fonts/font5.fntdata"/><Relationship Id="rId21"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5.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6.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7.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8.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9.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382691" y="1133713"/>
            <a:ext cx="5865019" cy="556855"/>
          </a:xfrm>
          <a:prstGeom prst="rect">
            <a:avLst/>
          </a:prstGeom>
          <a:noFill/>
          <a:ln/>
        </p:spPr>
        <p:txBody>
          <a:bodyPr wrap="none" lIns="0" tIns="0" rIns="0" bIns="0" rtlCol="0" anchor="t"/>
          <a:lstStyle/>
          <a:p>
            <a:pPr algn="ctr" indent="0" marL="0">
              <a:lnSpc>
                <a:spcPts val="4350"/>
              </a:lnSpc>
              <a:buNone/>
            </a:pPr>
            <a:r>
              <a:rPr lang="en-US" sz="3500" b="1" dirty="0">
                <a:solidFill>
                  <a:srgbClr val="098CD2"/>
                </a:solidFill>
                <a:latin typeface="Unbounded Bold" pitchFamily="34" charset="0"/>
                <a:ea typeface="Unbounded Bold" pitchFamily="34" charset="-122"/>
                <a:cs typeface="Unbounded Bold" pitchFamily="34" charset="-120"/>
              </a:rPr>
              <a:t>ACTUALIZACIÓN SIC:</a:t>
            </a:r>
            <a:endParaRPr lang="en-US" sz="3500" dirty="0"/>
          </a:p>
        </p:txBody>
      </p:sp>
      <p:sp>
        <p:nvSpPr>
          <p:cNvPr id="3" name="Text 1"/>
          <p:cNvSpPr/>
          <p:nvPr/>
        </p:nvSpPr>
        <p:spPr>
          <a:xfrm>
            <a:off x="2235518" y="1742003"/>
            <a:ext cx="10159365" cy="668179"/>
          </a:xfrm>
          <a:prstGeom prst="rect">
            <a:avLst/>
          </a:prstGeom>
          <a:noFill/>
          <a:ln/>
        </p:spPr>
        <p:txBody>
          <a:bodyPr wrap="square" lIns="0" tIns="0" rIns="0" bIns="0" rtlCol="0" anchor="t"/>
          <a:lstStyle/>
          <a:p>
            <a:pPr algn="ctr" indent="0" marL="0">
              <a:lnSpc>
                <a:spcPts val="2600"/>
              </a:lnSpc>
              <a:buNone/>
            </a:pPr>
            <a:r>
              <a:rPr lang="en-US" sz="2100" b="1" dirty="0">
                <a:solidFill>
                  <a:srgbClr val="8AC340"/>
                </a:solidFill>
                <a:latin typeface="Unbounded Bold" pitchFamily="34" charset="0"/>
                <a:ea typeface="Unbounded Bold" pitchFamily="34" charset="-122"/>
                <a:cs typeface="Unbounded Bold" pitchFamily="34" charset="-120"/>
              </a:rPr>
              <a:t>Proceso de Cambios de Centros de Costos, Cambios de conceptos y/o bonificaciones</a:t>
            </a:r>
            <a:endParaRPr lang="en-US" sz="2100" dirty="0"/>
          </a:p>
        </p:txBody>
      </p:sp>
      <p:sp>
        <p:nvSpPr>
          <p:cNvPr id="4" name="Text 2"/>
          <p:cNvSpPr/>
          <p:nvPr/>
        </p:nvSpPr>
        <p:spPr>
          <a:xfrm>
            <a:off x="2235518" y="2603183"/>
            <a:ext cx="10159365" cy="491014"/>
          </a:xfrm>
          <a:prstGeom prst="rect">
            <a:avLst/>
          </a:prstGeom>
          <a:noFill/>
          <a:ln/>
        </p:spPr>
        <p:txBody>
          <a:bodyPr wrap="square" lIns="0" tIns="0" rIns="0" bIns="0" rtlCol="0" anchor="t"/>
          <a:lstStyle/>
          <a:p>
            <a:pPr algn="l" indent="0" marL="0">
              <a:lnSpc>
                <a:spcPts val="1900"/>
              </a:lnSpc>
              <a:buNone/>
            </a:pPr>
            <a:r>
              <a:rPr lang="en-US" sz="1400" dirty="0">
                <a:solidFill>
                  <a:srgbClr val="3C3939"/>
                </a:solidFill>
                <a:latin typeface="Open Sans" pitchFamily="34" charset="0"/>
                <a:ea typeface="Open Sans" pitchFamily="34" charset="-122"/>
                <a:cs typeface="Open Sans" pitchFamily="34" charset="-120"/>
              </a:rPr>
              <a:t>Este documento tiene como objetivo principal guiar al personal administrativo de la compañía en la implementación del nuevo proceso para la solicitud de cambios en centros de costos y los siguientes conceptos:</a:t>
            </a:r>
            <a:endParaRPr lang="en-US" sz="1400" dirty="0"/>
          </a:p>
        </p:txBody>
      </p:sp>
      <p:sp>
        <p:nvSpPr>
          <p:cNvPr id="5" name="Text 3"/>
          <p:cNvSpPr/>
          <p:nvPr/>
        </p:nvSpPr>
        <p:spPr>
          <a:xfrm>
            <a:off x="2235518" y="3354586"/>
            <a:ext cx="4862274" cy="245507"/>
          </a:xfrm>
          <a:prstGeom prst="rect">
            <a:avLst/>
          </a:prstGeom>
          <a:noFill/>
          <a:ln/>
        </p:spPr>
        <p:txBody>
          <a:bodyPr wrap="none" lIns="0" tIns="0" rIns="0" bIns="0" rtlCol="0" anchor="t"/>
          <a:lstStyle/>
          <a:p>
            <a:pPr algn="l" marL="342900" indent="-342900">
              <a:lnSpc>
                <a:spcPts val="1900"/>
              </a:lnSpc>
              <a:buSzPct val="100000"/>
              <a:buChar char="​"/>
            </a:pPr>
            <a:r>
              <a:rPr lang="en-US" sz="1400" dirty="0">
                <a:solidFill>
                  <a:srgbClr val="3C3939"/>
                </a:solidFill>
                <a:latin typeface="Open Sans" pitchFamily="34" charset="0"/>
                <a:ea typeface="Open Sans" pitchFamily="34" charset="-122"/>
                <a:cs typeface="Open Sans" pitchFamily="34" charset="-120"/>
              </a:rPr>
              <a:t>Sobreremuneracion</a:t>
            </a:r>
            <a:endParaRPr lang="en-US" sz="1400" dirty="0"/>
          </a:p>
        </p:txBody>
      </p:sp>
      <p:sp>
        <p:nvSpPr>
          <p:cNvPr id="6" name="Shape 4"/>
          <p:cNvSpPr/>
          <p:nvPr/>
        </p:nvSpPr>
        <p:spPr>
          <a:xfrm>
            <a:off x="2235518" y="3388043"/>
            <a:ext cx="178118" cy="178118"/>
          </a:xfrm>
          <a:prstGeom prst="roundRect">
            <a:avLst>
              <a:gd name="adj" fmla="val 150098"/>
            </a:avLst>
          </a:prstGeom>
          <a:noFill/>
          <a:ln w="15240">
            <a:solidFill>
              <a:srgbClr val="066293"/>
            </a:solidFill>
            <a:prstDash val="solid"/>
          </a:ln>
        </p:spPr>
      </p:sp>
      <p:sp>
        <p:nvSpPr>
          <p:cNvPr id="7" name="Text 5"/>
          <p:cNvSpPr/>
          <p:nvPr/>
        </p:nvSpPr>
        <p:spPr>
          <a:xfrm>
            <a:off x="2235518" y="3645098"/>
            <a:ext cx="4862274" cy="245507"/>
          </a:xfrm>
          <a:prstGeom prst="rect">
            <a:avLst/>
          </a:prstGeom>
          <a:noFill/>
          <a:ln/>
        </p:spPr>
        <p:txBody>
          <a:bodyPr wrap="none" lIns="0" tIns="0" rIns="0" bIns="0" rtlCol="0" anchor="t"/>
          <a:lstStyle/>
          <a:p>
            <a:pPr algn="l" marL="342900" indent="-342900">
              <a:lnSpc>
                <a:spcPts val="1900"/>
              </a:lnSpc>
              <a:buSzPct val="100000"/>
              <a:buChar char="​"/>
            </a:pPr>
            <a:r>
              <a:rPr lang="en-US" sz="1400" dirty="0">
                <a:solidFill>
                  <a:srgbClr val="3C3939"/>
                </a:solidFill>
                <a:latin typeface="Open Sans" pitchFamily="34" charset="0"/>
                <a:ea typeface="Open Sans" pitchFamily="34" charset="-122"/>
                <a:cs typeface="Open Sans" pitchFamily="34" charset="-120"/>
              </a:rPr>
              <a:t>Auxilio extra legal no salarial de alimentación</a:t>
            </a:r>
            <a:endParaRPr lang="en-US" sz="1400" dirty="0"/>
          </a:p>
        </p:txBody>
      </p:sp>
      <p:sp>
        <p:nvSpPr>
          <p:cNvPr id="8" name="Shape 6"/>
          <p:cNvSpPr/>
          <p:nvPr/>
        </p:nvSpPr>
        <p:spPr>
          <a:xfrm>
            <a:off x="2235518" y="3678555"/>
            <a:ext cx="178118" cy="178118"/>
          </a:xfrm>
          <a:prstGeom prst="roundRect">
            <a:avLst>
              <a:gd name="adj" fmla="val 150098"/>
            </a:avLst>
          </a:prstGeom>
          <a:noFill/>
          <a:ln w="15240">
            <a:solidFill>
              <a:srgbClr val="066293"/>
            </a:solidFill>
            <a:prstDash val="solid"/>
          </a:ln>
        </p:spPr>
      </p:sp>
      <p:sp>
        <p:nvSpPr>
          <p:cNvPr id="9" name="Text 7"/>
          <p:cNvSpPr/>
          <p:nvPr/>
        </p:nvSpPr>
        <p:spPr>
          <a:xfrm>
            <a:off x="2235518" y="3935611"/>
            <a:ext cx="4862274" cy="245507"/>
          </a:xfrm>
          <a:prstGeom prst="rect">
            <a:avLst/>
          </a:prstGeom>
          <a:noFill/>
          <a:ln/>
        </p:spPr>
        <p:txBody>
          <a:bodyPr wrap="none" lIns="0" tIns="0" rIns="0" bIns="0" rtlCol="0" anchor="t"/>
          <a:lstStyle/>
          <a:p>
            <a:pPr algn="l" marL="342900" indent="-342900">
              <a:lnSpc>
                <a:spcPts val="1900"/>
              </a:lnSpc>
              <a:buSzPct val="100000"/>
              <a:buChar char="​"/>
            </a:pPr>
            <a:r>
              <a:rPr lang="en-US" sz="1400" dirty="0">
                <a:solidFill>
                  <a:srgbClr val="3C3939"/>
                </a:solidFill>
                <a:latin typeface="Open Sans" pitchFamily="34" charset="0"/>
                <a:ea typeface="Open Sans" pitchFamily="34" charset="-122"/>
                <a:cs typeface="Open Sans" pitchFamily="34" charset="-120"/>
              </a:rPr>
              <a:t>Auxilio extra legal no salarial de movilización</a:t>
            </a:r>
            <a:endParaRPr lang="en-US" sz="1400" dirty="0"/>
          </a:p>
        </p:txBody>
      </p:sp>
      <p:sp>
        <p:nvSpPr>
          <p:cNvPr id="10" name="Shape 8"/>
          <p:cNvSpPr/>
          <p:nvPr/>
        </p:nvSpPr>
        <p:spPr>
          <a:xfrm>
            <a:off x="2235518" y="3969067"/>
            <a:ext cx="178118" cy="178118"/>
          </a:xfrm>
          <a:prstGeom prst="roundRect">
            <a:avLst>
              <a:gd name="adj" fmla="val 150098"/>
            </a:avLst>
          </a:prstGeom>
          <a:noFill/>
          <a:ln w="15240">
            <a:solidFill>
              <a:srgbClr val="066293"/>
            </a:solidFill>
            <a:prstDash val="solid"/>
          </a:ln>
        </p:spPr>
      </p:sp>
      <p:sp>
        <p:nvSpPr>
          <p:cNvPr id="11" name="Text 9"/>
          <p:cNvSpPr/>
          <p:nvPr/>
        </p:nvSpPr>
        <p:spPr>
          <a:xfrm>
            <a:off x="2235518" y="4226123"/>
            <a:ext cx="4862274" cy="245507"/>
          </a:xfrm>
          <a:prstGeom prst="rect">
            <a:avLst/>
          </a:prstGeom>
          <a:noFill/>
          <a:ln/>
        </p:spPr>
        <p:txBody>
          <a:bodyPr wrap="none" lIns="0" tIns="0" rIns="0" bIns="0" rtlCol="0" anchor="t"/>
          <a:lstStyle/>
          <a:p>
            <a:pPr algn="l" marL="342900" indent="-342900">
              <a:lnSpc>
                <a:spcPts val="1900"/>
              </a:lnSpc>
              <a:buSzPct val="100000"/>
              <a:buChar char="​"/>
            </a:pPr>
            <a:r>
              <a:rPr lang="en-US" sz="1400" dirty="0">
                <a:solidFill>
                  <a:srgbClr val="3C3939"/>
                </a:solidFill>
                <a:latin typeface="Open Sans" pitchFamily="34" charset="0"/>
                <a:ea typeface="Open Sans" pitchFamily="34" charset="-122"/>
                <a:cs typeface="Open Sans" pitchFamily="34" charset="-120"/>
              </a:rPr>
              <a:t>Auxilio extra legal no salarial de calzado</a:t>
            </a:r>
            <a:endParaRPr lang="en-US" sz="1400" dirty="0"/>
          </a:p>
        </p:txBody>
      </p:sp>
      <p:sp>
        <p:nvSpPr>
          <p:cNvPr id="12" name="Shape 10"/>
          <p:cNvSpPr/>
          <p:nvPr/>
        </p:nvSpPr>
        <p:spPr>
          <a:xfrm>
            <a:off x="2235518" y="4259580"/>
            <a:ext cx="178118" cy="178118"/>
          </a:xfrm>
          <a:prstGeom prst="roundRect">
            <a:avLst>
              <a:gd name="adj" fmla="val 150098"/>
            </a:avLst>
          </a:prstGeom>
          <a:noFill/>
          <a:ln w="15240">
            <a:solidFill>
              <a:srgbClr val="066293"/>
            </a:solidFill>
            <a:prstDash val="solid"/>
          </a:ln>
        </p:spPr>
      </p:sp>
      <p:sp>
        <p:nvSpPr>
          <p:cNvPr id="13" name="Text 11"/>
          <p:cNvSpPr/>
          <p:nvPr/>
        </p:nvSpPr>
        <p:spPr>
          <a:xfrm>
            <a:off x="2235518" y="4516636"/>
            <a:ext cx="4862274" cy="245507"/>
          </a:xfrm>
          <a:prstGeom prst="rect">
            <a:avLst/>
          </a:prstGeom>
          <a:noFill/>
          <a:ln/>
        </p:spPr>
        <p:txBody>
          <a:bodyPr wrap="none" lIns="0" tIns="0" rIns="0" bIns="0" rtlCol="0" anchor="t"/>
          <a:lstStyle/>
          <a:p>
            <a:pPr algn="l" marL="342900" indent="-342900">
              <a:lnSpc>
                <a:spcPts val="1900"/>
              </a:lnSpc>
              <a:buSzPct val="100000"/>
              <a:buChar char="​"/>
            </a:pPr>
            <a:r>
              <a:rPr lang="en-US" sz="1400" dirty="0">
                <a:solidFill>
                  <a:srgbClr val="3C3939"/>
                </a:solidFill>
                <a:latin typeface="Open Sans" pitchFamily="34" charset="0"/>
                <a:ea typeface="Open Sans" pitchFamily="34" charset="-122"/>
                <a:cs typeface="Open Sans" pitchFamily="34" charset="-120"/>
              </a:rPr>
              <a:t>Auxilio extra legal no salarial de comunicaciones</a:t>
            </a:r>
            <a:endParaRPr lang="en-US" sz="1400" dirty="0"/>
          </a:p>
        </p:txBody>
      </p:sp>
      <p:sp>
        <p:nvSpPr>
          <p:cNvPr id="14" name="Shape 12"/>
          <p:cNvSpPr/>
          <p:nvPr/>
        </p:nvSpPr>
        <p:spPr>
          <a:xfrm>
            <a:off x="2235518" y="4550093"/>
            <a:ext cx="178118" cy="178118"/>
          </a:xfrm>
          <a:prstGeom prst="roundRect">
            <a:avLst>
              <a:gd name="adj" fmla="val 150098"/>
            </a:avLst>
          </a:prstGeom>
          <a:noFill/>
          <a:ln w="15240">
            <a:solidFill>
              <a:srgbClr val="066293"/>
            </a:solidFill>
            <a:prstDash val="solid"/>
          </a:ln>
        </p:spPr>
      </p:sp>
      <p:sp>
        <p:nvSpPr>
          <p:cNvPr id="15" name="Text 13"/>
          <p:cNvSpPr/>
          <p:nvPr/>
        </p:nvSpPr>
        <p:spPr>
          <a:xfrm>
            <a:off x="2235518" y="4807148"/>
            <a:ext cx="4862274" cy="245507"/>
          </a:xfrm>
          <a:prstGeom prst="rect">
            <a:avLst/>
          </a:prstGeom>
          <a:noFill/>
          <a:ln/>
        </p:spPr>
        <p:txBody>
          <a:bodyPr wrap="none" lIns="0" tIns="0" rIns="0" bIns="0" rtlCol="0" anchor="t"/>
          <a:lstStyle/>
          <a:p>
            <a:pPr algn="l" marL="342900" indent="-342900">
              <a:lnSpc>
                <a:spcPts val="1900"/>
              </a:lnSpc>
              <a:buSzPct val="100000"/>
              <a:buChar char="​"/>
            </a:pPr>
            <a:r>
              <a:rPr lang="en-US" sz="1400" dirty="0">
                <a:solidFill>
                  <a:srgbClr val="3C3939"/>
                </a:solidFill>
                <a:latin typeface="Open Sans" pitchFamily="34" charset="0"/>
                <a:ea typeface="Open Sans" pitchFamily="34" charset="-122"/>
                <a:cs typeface="Open Sans" pitchFamily="34" charset="-120"/>
              </a:rPr>
              <a:t>Reembolso de gastos de transporte</a:t>
            </a:r>
            <a:endParaRPr lang="en-US" sz="1400" dirty="0"/>
          </a:p>
        </p:txBody>
      </p:sp>
      <p:sp>
        <p:nvSpPr>
          <p:cNvPr id="16" name="Shape 14"/>
          <p:cNvSpPr/>
          <p:nvPr/>
        </p:nvSpPr>
        <p:spPr>
          <a:xfrm>
            <a:off x="2235518" y="4840605"/>
            <a:ext cx="178118" cy="178118"/>
          </a:xfrm>
          <a:prstGeom prst="roundRect">
            <a:avLst>
              <a:gd name="adj" fmla="val 150098"/>
            </a:avLst>
          </a:prstGeom>
          <a:noFill/>
          <a:ln w="15240">
            <a:solidFill>
              <a:srgbClr val="066293"/>
            </a:solidFill>
            <a:prstDash val="solid"/>
          </a:ln>
        </p:spPr>
      </p:sp>
      <p:sp>
        <p:nvSpPr>
          <p:cNvPr id="17" name="Text 15"/>
          <p:cNvSpPr/>
          <p:nvPr/>
        </p:nvSpPr>
        <p:spPr>
          <a:xfrm>
            <a:off x="2235518" y="5097661"/>
            <a:ext cx="4862274" cy="245507"/>
          </a:xfrm>
          <a:prstGeom prst="rect">
            <a:avLst/>
          </a:prstGeom>
          <a:noFill/>
          <a:ln/>
        </p:spPr>
        <p:txBody>
          <a:bodyPr wrap="none" lIns="0" tIns="0" rIns="0" bIns="0" rtlCol="0" anchor="t"/>
          <a:lstStyle/>
          <a:p>
            <a:pPr algn="l" marL="342900" indent="-342900">
              <a:lnSpc>
                <a:spcPts val="1900"/>
              </a:lnSpc>
              <a:buSzPct val="100000"/>
              <a:buChar char="​"/>
            </a:pPr>
            <a:r>
              <a:rPr lang="en-US" sz="1400" dirty="0">
                <a:solidFill>
                  <a:srgbClr val="3C3939"/>
                </a:solidFill>
                <a:latin typeface="Open Sans" pitchFamily="34" charset="0"/>
                <a:ea typeface="Open Sans" pitchFamily="34" charset="-122"/>
                <a:cs typeface="Open Sans" pitchFamily="34" charset="-120"/>
              </a:rPr>
              <a:t>Bonificación variable salarial (según indicadores)</a:t>
            </a:r>
            <a:endParaRPr lang="en-US" sz="1400" dirty="0"/>
          </a:p>
        </p:txBody>
      </p:sp>
      <p:sp>
        <p:nvSpPr>
          <p:cNvPr id="18" name="Shape 16"/>
          <p:cNvSpPr/>
          <p:nvPr/>
        </p:nvSpPr>
        <p:spPr>
          <a:xfrm>
            <a:off x="2235518" y="5131118"/>
            <a:ext cx="178118" cy="178118"/>
          </a:xfrm>
          <a:prstGeom prst="roundRect">
            <a:avLst>
              <a:gd name="adj" fmla="val 150098"/>
            </a:avLst>
          </a:prstGeom>
          <a:noFill/>
          <a:ln w="15240">
            <a:solidFill>
              <a:srgbClr val="066293"/>
            </a:solidFill>
            <a:prstDash val="solid"/>
          </a:ln>
        </p:spPr>
      </p:sp>
      <p:sp>
        <p:nvSpPr>
          <p:cNvPr id="19" name="Text 17"/>
          <p:cNvSpPr/>
          <p:nvPr/>
        </p:nvSpPr>
        <p:spPr>
          <a:xfrm>
            <a:off x="2235518" y="5388173"/>
            <a:ext cx="4862274" cy="245507"/>
          </a:xfrm>
          <a:prstGeom prst="rect">
            <a:avLst/>
          </a:prstGeom>
          <a:noFill/>
          <a:ln/>
        </p:spPr>
        <p:txBody>
          <a:bodyPr wrap="none" lIns="0" tIns="0" rIns="0" bIns="0" rtlCol="0" anchor="t"/>
          <a:lstStyle/>
          <a:p>
            <a:pPr algn="l" marL="342900" indent="-342900">
              <a:lnSpc>
                <a:spcPts val="1900"/>
              </a:lnSpc>
              <a:buSzPct val="100000"/>
              <a:buChar char="​"/>
            </a:pPr>
            <a:r>
              <a:rPr lang="en-US" sz="1400" dirty="0">
                <a:solidFill>
                  <a:srgbClr val="3C3939"/>
                </a:solidFill>
                <a:latin typeface="Open Sans" pitchFamily="34" charset="0"/>
                <a:ea typeface="Open Sans" pitchFamily="34" charset="-122"/>
                <a:cs typeface="Open Sans" pitchFamily="34" charset="-120"/>
              </a:rPr>
              <a:t>Bonificación salarial por única vez</a:t>
            </a:r>
            <a:endParaRPr lang="en-US" sz="1400" dirty="0"/>
          </a:p>
        </p:txBody>
      </p:sp>
      <p:sp>
        <p:nvSpPr>
          <p:cNvPr id="20" name="Shape 18"/>
          <p:cNvSpPr/>
          <p:nvPr/>
        </p:nvSpPr>
        <p:spPr>
          <a:xfrm>
            <a:off x="2235518" y="5421630"/>
            <a:ext cx="178118" cy="178118"/>
          </a:xfrm>
          <a:prstGeom prst="roundRect">
            <a:avLst>
              <a:gd name="adj" fmla="val 150098"/>
            </a:avLst>
          </a:prstGeom>
          <a:noFill/>
          <a:ln w="15240">
            <a:solidFill>
              <a:srgbClr val="066293"/>
            </a:solidFill>
            <a:prstDash val="solid"/>
          </a:ln>
        </p:spPr>
      </p:sp>
      <p:sp>
        <p:nvSpPr>
          <p:cNvPr id="21" name="Text 19"/>
          <p:cNvSpPr/>
          <p:nvPr/>
        </p:nvSpPr>
        <p:spPr>
          <a:xfrm>
            <a:off x="2235518" y="5678686"/>
            <a:ext cx="4862274" cy="245507"/>
          </a:xfrm>
          <a:prstGeom prst="rect">
            <a:avLst/>
          </a:prstGeom>
          <a:noFill/>
          <a:ln/>
        </p:spPr>
        <p:txBody>
          <a:bodyPr wrap="none" lIns="0" tIns="0" rIns="0" bIns="0" rtlCol="0" anchor="t"/>
          <a:lstStyle/>
          <a:p>
            <a:pPr algn="l" marL="342900" indent="-342900">
              <a:lnSpc>
                <a:spcPts val="1900"/>
              </a:lnSpc>
              <a:buSzPct val="100000"/>
              <a:buChar char="​"/>
            </a:pPr>
            <a:r>
              <a:rPr lang="en-US" sz="1400" dirty="0">
                <a:solidFill>
                  <a:srgbClr val="3C3939"/>
                </a:solidFill>
                <a:latin typeface="Open Sans" pitchFamily="34" charset="0"/>
                <a:ea typeface="Open Sans" pitchFamily="34" charset="-122"/>
                <a:cs typeface="Open Sans" pitchFamily="34" charset="-120"/>
              </a:rPr>
              <a:t>Incentivo no salarial por desarrollo de proyecto</a:t>
            </a:r>
            <a:endParaRPr lang="en-US" sz="1400" dirty="0"/>
          </a:p>
        </p:txBody>
      </p:sp>
      <p:sp>
        <p:nvSpPr>
          <p:cNvPr id="22" name="Shape 20"/>
          <p:cNvSpPr/>
          <p:nvPr/>
        </p:nvSpPr>
        <p:spPr>
          <a:xfrm>
            <a:off x="2235518" y="5712143"/>
            <a:ext cx="178118" cy="178118"/>
          </a:xfrm>
          <a:prstGeom prst="roundRect">
            <a:avLst>
              <a:gd name="adj" fmla="val 150098"/>
            </a:avLst>
          </a:prstGeom>
          <a:noFill/>
          <a:ln w="15240">
            <a:solidFill>
              <a:srgbClr val="066293"/>
            </a:solidFill>
            <a:prstDash val="solid"/>
          </a:ln>
        </p:spPr>
      </p:sp>
      <p:sp>
        <p:nvSpPr>
          <p:cNvPr id="23" name="Text 21"/>
          <p:cNvSpPr/>
          <p:nvPr/>
        </p:nvSpPr>
        <p:spPr>
          <a:xfrm>
            <a:off x="7540228" y="3354586"/>
            <a:ext cx="4862274" cy="491014"/>
          </a:xfrm>
          <a:prstGeom prst="rect">
            <a:avLst/>
          </a:prstGeom>
          <a:noFill/>
          <a:ln/>
        </p:spPr>
        <p:txBody>
          <a:bodyPr wrap="square" lIns="0" tIns="0" rIns="0" bIns="0" rtlCol="0" anchor="t"/>
          <a:lstStyle/>
          <a:p>
            <a:pPr algn="l" marL="342900" indent="-342900">
              <a:lnSpc>
                <a:spcPts val="1900"/>
              </a:lnSpc>
              <a:buSzPct val="100000"/>
              <a:buChar char="​"/>
            </a:pPr>
            <a:r>
              <a:rPr lang="en-US" sz="1400" dirty="0">
                <a:solidFill>
                  <a:srgbClr val="3C3939"/>
                </a:solidFill>
                <a:latin typeface="Open Sans" pitchFamily="34" charset="0"/>
                <a:ea typeface="Open Sans" pitchFamily="34" charset="-122"/>
                <a:cs typeface="Open Sans" pitchFamily="34" charset="-120"/>
              </a:rPr>
              <a:t>Cubrimiento de novedades (licencia de maternidad, incapacidad, vacaciones extensas)</a:t>
            </a:r>
            <a:endParaRPr lang="en-US" sz="1400" dirty="0"/>
          </a:p>
        </p:txBody>
      </p:sp>
      <p:sp>
        <p:nvSpPr>
          <p:cNvPr id="24" name="Shape 22"/>
          <p:cNvSpPr/>
          <p:nvPr/>
        </p:nvSpPr>
        <p:spPr>
          <a:xfrm>
            <a:off x="7540228" y="3388043"/>
            <a:ext cx="178118" cy="178118"/>
          </a:xfrm>
          <a:prstGeom prst="roundRect">
            <a:avLst>
              <a:gd name="adj" fmla="val 150098"/>
            </a:avLst>
          </a:prstGeom>
          <a:noFill/>
          <a:ln w="15240">
            <a:solidFill>
              <a:srgbClr val="066293"/>
            </a:solidFill>
            <a:prstDash val="solid"/>
          </a:ln>
        </p:spPr>
      </p:sp>
      <p:sp>
        <p:nvSpPr>
          <p:cNvPr id="25" name="Text 23"/>
          <p:cNvSpPr/>
          <p:nvPr/>
        </p:nvSpPr>
        <p:spPr>
          <a:xfrm>
            <a:off x="7540228" y="3890605"/>
            <a:ext cx="4862274" cy="245507"/>
          </a:xfrm>
          <a:prstGeom prst="rect">
            <a:avLst/>
          </a:prstGeom>
          <a:noFill/>
          <a:ln/>
        </p:spPr>
        <p:txBody>
          <a:bodyPr wrap="none" lIns="0" tIns="0" rIns="0" bIns="0" rtlCol="0" anchor="t"/>
          <a:lstStyle/>
          <a:p>
            <a:pPr algn="l" marL="342900" indent="-342900">
              <a:lnSpc>
                <a:spcPts val="1900"/>
              </a:lnSpc>
              <a:buSzPct val="100000"/>
              <a:buChar char="​"/>
            </a:pPr>
            <a:r>
              <a:rPr lang="en-US" sz="1400" dirty="0">
                <a:solidFill>
                  <a:srgbClr val="3C3939"/>
                </a:solidFill>
                <a:latin typeface="Open Sans" pitchFamily="34" charset="0"/>
                <a:ea typeface="Open Sans" pitchFamily="34" charset="-122"/>
                <a:cs typeface="Open Sans" pitchFamily="34" charset="-120"/>
              </a:rPr>
              <a:t>Tipo de contrato</a:t>
            </a:r>
            <a:endParaRPr lang="en-US" sz="1400" dirty="0"/>
          </a:p>
        </p:txBody>
      </p:sp>
      <p:sp>
        <p:nvSpPr>
          <p:cNvPr id="26" name="Shape 24"/>
          <p:cNvSpPr/>
          <p:nvPr/>
        </p:nvSpPr>
        <p:spPr>
          <a:xfrm>
            <a:off x="7540228" y="3924062"/>
            <a:ext cx="178118" cy="178118"/>
          </a:xfrm>
          <a:prstGeom prst="roundRect">
            <a:avLst>
              <a:gd name="adj" fmla="val 150098"/>
            </a:avLst>
          </a:prstGeom>
          <a:noFill/>
          <a:ln w="15240">
            <a:solidFill>
              <a:srgbClr val="066293"/>
            </a:solidFill>
            <a:prstDash val="solid"/>
          </a:ln>
        </p:spPr>
      </p:sp>
      <p:sp>
        <p:nvSpPr>
          <p:cNvPr id="27" name="Text 25"/>
          <p:cNvSpPr/>
          <p:nvPr/>
        </p:nvSpPr>
        <p:spPr>
          <a:xfrm>
            <a:off x="7540228" y="4181118"/>
            <a:ext cx="4862274" cy="245507"/>
          </a:xfrm>
          <a:prstGeom prst="rect">
            <a:avLst/>
          </a:prstGeom>
          <a:noFill/>
          <a:ln/>
        </p:spPr>
        <p:txBody>
          <a:bodyPr wrap="none" lIns="0" tIns="0" rIns="0" bIns="0" rtlCol="0" anchor="t"/>
          <a:lstStyle/>
          <a:p>
            <a:pPr algn="l" marL="342900" indent="-342900">
              <a:lnSpc>
                <a:spcPts val="1900"/>
              </a:lnSpc>
              <a:buSzPct val="100000"/>
              <a:buChar char="​"/>
            </a:pPr>
            <a:r>
              <a:rPr lang="en-US" sz="1400" dirty="0">
                <a:solidFill>
                  <a:srgbClr val="3C3939"/>
                </a:solidFill>
                <a:latin typeface="Open Sans" pitchFamily="34" charset="0"/>
                <a:ea typeface="Open Sans" pitchFamily="34" charset="-122"/>
                <a:cs typeface="Open Sans" pitchFamily="34" charset="-120"/>
              </a:rPr>
              <a:t>Cargo</a:t>
            </a:r>
            <a:endParaRPr lang="en-US" sz="1400" dirty="0"/>
          </a:p>
        </p:txBody>
      </p:sp>
      <p:sp>
        <p:nvSpPr>
          <p:cNvPr id="28" name="Shape 26"/>
          <p:cNvSpPr/>
          <p:nvPr/>
        </p:nvSpPr>
        <p:spPr>
          <a:xfrm>
            <a:off x="7540228" y="4214574"/>
            <a:ext cx="178118" cy="178118"/>
          </a:xfrm>
          <a:prstGeom prst="roundRect">
            <a:avLst>
              <a:gd name="adj" fmla="val 150098"/>
            </a:avLst>
          </a:prstGeom>
          <a:noFill/>
          <a:ln w="15240">
            <a:solidFill>
              <a:srgbClr val="066293"/>
            </a:solidFill>
            <a:prstDash val="solid"/>
          </a:ln>
        </p:spPr>
      </p:sp>
      <p:sp>
        <p:nvSpPr>
          <p:cNvPr id="29" name="Text 27"/>
          <p:cNvSpPr/>
          <p:nvPr/>
        </p:nvSpPr>
        <p:spPr>
          <a:xfrm>
            <a:off x="7540228" y="4471630"/>
            <a:ext cx="4862274" cy="245507"/>
          </a:xfrm>
          <a:prstGeom prst="rect">
            <a:avLst/>
          </a:prstGeom>
          <a:noFill/>
          <a:ln/>
        </p:spPr>
        <p:txBody>
          <a:bodyPr wrap="none" lIns="0" tIns="0" rIns="0" bIns="0" rtlCol="0" anchor="t"/>
          <a:lstStyle/>
          <a:p>
            <a:pPr algn="l" marL="342900" indent="-342900">
              <a:lnSpc>
                <a:spcPts val="1900"/>
              </a:lnSpc>
              <a:buSzPct val="100000"/>
              <a:buChar char="​"/>
            </a:pPr>
            <a:r>
              <a:rPr lang="en-US" sz="1400" dirty="0">
                <a:solidFill>
                  <a:srgbClr val="3C3939"/>
                </a:solidFill>
                <a:latin typeface="Open Sans" pitchFamily="34" charset="0"/>
                <a:ea typeface="Open Sans" pitchFamily="34" charset="-122"/>
                <a:cs typeface="Open Sans" pitchFamily="34" charset="-120"/>
              </a:rPr>
              <a:t>Intensidad horaria</a:t>
            </a:r>
            <a:endParaRPr lang="en-US" sz="1400" dirty="0"/>
          </a:p>
        </p:txBody>
      </p:sp>
      <p:sp>
        <p:nvSpPr>
          <p:cNvPr id="30" name="Shape 28"/>
          <p:cNvSpPr/>
          <p:nvPr/>
        </p:nvSpPr>
        <p:spPr>
          <a:xfrm>
            <a:off x="7540228" y="4505087"/>
            <a:ext cx="178118" cy="178118"/>
          </a:xfrm>
          <a:prstGeom prst="roundRect">
            <a:avLst>
              <a:gd name="adj" fmla="val 150098"/>
            </a:avLst>
          </a:prstGeom>
          <a:noFill/>
          <a:ln w="15240">
            <a:solidFill>
              <a:srgbClr val="066293"/>
            </a:solidFill>
            <a:prstDash val="solid"/>
          </a:ln>
        </p:spPr>
      </p:sp>
      <p:sp>
        <p:nvSpPr>
          <p:cNvPr id="31" name="Text 29"/>
          <p:cNvSpPr/>
          <p:nvPr/>
        </p:nvSpPr>
        <p:spPr>
          <a:xfrm>
            <a:off x="7540228" y="4762143"/>
            <a:ext cx="4862274" cy="245507"/>
          </a:xfrm>
          <a:prstGeom prst="rect">
            <a:avLst/>
          </a:prstGeom>
          <a:noFill/>
          <a:ln/>
        </p:spPr>
        <p:txBody>
          <a:bodyPr wrap="none" lIns="0" tIns="0" rIns="0" bIns="0" rtlCol="0" anchor="t"/>
          <a:lstStyle/>
          <a:p>
            <a:pPr algn="l" marL="342900" indent="-342900">
              <a:lnSpc>
                <a:spcPts val="1900"/>
              </a:lnSpc>
              <a:buSzPct val="100000"/>
              <a:buChar char="​"/>
            </a:pPr>
            <a:r>
              <a:rPr lang="en-US" sz="1400" dirty="0">
                <a:solidFill>
                  <a:srgbClr val="3C3939"/>
                </a:solidFill>
                <a:latin typeface="Open Sans" pitchFamily="34" charset="0"/>
                <a:ea typeface="Open Sans" pitchFamily="34" charset="-122"/>
                <a:cs typeface="Open Sans" pitchFamily="34" charset="-120"/>
              </a:rPr>
              <a:t>Salario básico</a:t>
            </a:r>
            <a:endParaRPr lang="en-US" sz="1400" dirty="0"/>
          </a:p>
        </p:txBody>
      </p:sp>
      <p:sp>
        <p:nvSpPr>
          <p:cNvPr id="32" name="Shape 30"/>
          <p:cNvSpPr/>
          <p:nvPr/>
        </p:nvSpPr>
        <p:spPr>
          <a:xfrm>
            <a:off x="7540228" y="4795599"/>
            <a:ext cx="178118" cy="178118"/>
          </a:xfrm>
          <a:prstGeom prst="roundRect">
            <a:avLst>
              <a:gd name="adj" fmla="val 150098"/>
            </a:avLst>
          </a:prstGeom>
          <a:noFill/>
          <a:ln w="15240">
            <a:solidFill>
              <a:srgbClr val="066293"/>
            </a:solidFill>
            <a:prstDash val="solid"/>
          </a:ln>
        </p:spPr>
      </p:sp>
      <p:sp>
        <p:nvSpPr>
          <p:cNvPr id="33" name="Text 31"/>
          <p:cNvSpPr/>
          <p:nvPr/>
        </p:nvSpPr>
        <p:spPr>
          <a:xfrm>
            <a:off x="7540228" y="5052655"/>
            <a:ext cx="4862274" cy="245507"/>
          </a:xfrm>
          <a:prstGeom prst="rect">
            <a:avLst/>
          </a:prstGeom>
          <a:noFill/>
          <a:ln/>
        </p:spPr>
        <p:txBody>
          <a:bodyPr wrap="none" lIns="0" tIns="0" rIns="0" bIns="0" rtlCol="0" anchor="t"/>
          <a:lstStyle/>
          <a:p>
            <a:pPr algn="l" marL="342900" indent="-342900">
              <a:lnSpc>
                <a:spcPts val="1900"/>
              </a:lnSpc>
              <a:buSzPct val="100000"/>
              <a:buChar char="​"/>
            </a:pPr>
            <a:r>
              <a:rPr lang="en-US" sz="1400" dirty="0">
                <a:solidFill>
                  <a:srgbClr val="3C3939"/>
                </a:solidFill>
                <a:latin typeface="Open Sans" pitchFamily="34" charset="0"/>
                <a:ea typeface="Open Sans" pitchFamily="34" charset="-122"/>
                <a:cs typeface="Open Sans" pitchFamily="34" charset="-120"/>
              </a:rPr>
              <a:t>Traslados de ciudad</a:t>
            </a:r>
            <a:endParaRPr lang="en-US" sz="1400" dirty="0"/>
          </a:p>
        </p:txBody>
      </p:sp>
      <p:sp>
        <p:nvSpPr>
          <p:cNvPr id="34" name="Shape 32"/>
          <p:cNvSpPr/>
          <p:nvPr/>
        </p:nvSpPr>
        <p:spPr>
          <a:xfrm>
            <a:off x="7540228" y="5086112"/>
            <a:ext cx="178118" cy="178118"/>
          </a:xfrm>
          <a:prstGeom prst="roundRect">
            <a:avLst>
              <a:gd name="adj" fmla="val 150098"/>
            </a:avLst>
          </a:prstGeom>
          <a:noFill/>
          <a:ln w="15240">
            <a:solidFill>
              <a:srgbClr val="066293"/>
            </a:solidFill>
            <a:prstDash val="solid"/>
          </a:ln>
        </p:spPr>
      </p:sp>
      <p:sp>
        <p:nvSpPr>
          <p:cNvPr id="35" name="Text 33"/>
          <p:cNvSpPr/>
          <p:nvPr/>
        </p:nvSpPr>
        <p:spPr>
          <a:xfrm>
            <a:off x="7540228" y="5343168"/>
            <a:ext cx="4862274" cy="245507"/>
          </a:xfrm>
          <a:prstGeom prst="rect">
            <a:avLst/>
          </a:prstGeom>
          <a:noFill/>
          <a:ln/>
        </p:spPr>
        <p:txBody>
          <a:bodyPr wrap="none" lIns="0" tIns="0" rIns="0" bIns="0" rtlCol="0" anchor="t"/>
          <a:lstStyle/>
          <a:p>
            <a:pPr algn="l" marL="342900" indent="-342900">
              <a:lnSpc>
                <a:spcPts val="1900"/>
              </a:lnSpc>
              <a:buSzPct val="100000"/>
              <a:buChar char="​"/>
            </a:pPr>
            <a:r>
              <a:rPr lang="en-US" sz="1400" dirty="0">
                <a:solidFill>
                  <a:srgbClr val="3C3939"/>
                </a:solidFill>
                <a:latin typeface="Open Sans" pitchFamily="34" charset="0"/>
                <a:ea typeface="Open Sans" pitchFamily="34" charset="-122"/>
                <a:cs typeface="Open Sans" pitchFamily="34" charset="-120"/>
              </a:rPr>
              <a:t>Encargos</a:t>
            </a:r>
            <a:endParaRPr lang="en-US" sz="1400" dirty="0"/>
          </a:p>
        </p:txBody>
      </p:sp>
      <p:sp>
        <p:nvSpPr>
          <p:cNvPr id="36" name="Shape 34"/>
          <p:cNvSpPr/>
          <p:nvPr/>
        </p:nvSpPr>
        <p:spPr>
          <a:xfrm>
            <a:off x="7540228" y="5376624"/>
            <a:ext cx="178118" cy="178118"/>
          </a:xfrm>
          <a:prstGeom prst="roundRect">
            <a:avLst>
              <a:gd name="adj" fmla="val 150098"/>
            </a:avLst>
          </a:prstGeom>
          <a:noFill/>
          <a:ln w="15240">
            <a:solidFill>
              <a:srgbClr val="066293"/>
            </a:solidFill>
            <a:prstDash val="solid"/>
          </a:ln>
        </p:spPr>
      </p:sp>
      <p:sp>
        <p:nvSpPr>
          <p:cNvPr id="37" name="Text 35"/>
          <p:cNvSpPr/>
          <p:nvPr/>
        </p:nvSpPr>
        <p:spPr>
          <a:xfrm>
            <a:off x="7540228" y="5633680"/>
            <a:ext cx="4862274" cy="245507"/>
          </a:xfrm>
          <a:prstGeom prst="rect">
            <a:avLst/>
          </a:prstGeom>
          <a:noFill/>
          <a:ln/>
        </p:spPr>
        <p:txBody>
          <a:bodyPr wrap="none" lIns="0" tIns="0" rIns="0" bIns="0" rtlCol="0" anchor="t"/>
          <a:lstStyle/>
          <a:p>
            <a:pPr algn="l" marL="342900" indent="-342900">
              <a:lnSpc>
                <a:spcPts val="1900"/>
              </a:lnSpc>
              <a:buSzPct val="100000"/>
              <a:buChar char="​"/>
            </a:pPr>
            <a:r>
              <a:rPr lang="en-US" sz="1400" dirty="0">
                <a:solidFill>
                  <a:srgbClr val="3C3939"/>
                </a:solidFill>
                <a:latin typeface="Open Sans" pitchFamily="34" charset="0"/>
                <a:ea typeface="Open Sans" pitchFamily="34" charset="-122"/>
                <a:cs typeface="Open Sans" pitchFamily="34" charset="-120"/>
              </a:rPr>
              <a:t>Ratificaciones - Finalización o ampliación de encargo</a:t>
            </a:r>
            <a:endParaRPr lang="en-US" sz="1400" dirty="0"/>
          </a:p>
        </p:txBody>
      </p:sp>
      <p:sp>
        <p:nvSpPr>
          <p:cNvPr id="38" name="Shape 36"/>
          <p:cNvSpPr/>
          <p:nvPr/>
        </p:nvSpPr>
        <p:spPr>
          <a:xfrm>
            <a:off x="7540228" y="5667137"/>
            <a:ext cx="178118" cy="178118"/>
          </a:xfrm>
          <a:prstGeom prst="roundRect">
            <a:avLst>
              <a:gd name="adj" fmla="val 150098"/>
            </a:avLst>
          </a:prstGeom>
          <a:noFill/>
          <a:ln w="15240">
            <a:solidFill>
              <a:srgbClr val="066293"/>
            </a:solidFill>
            <a:prstDash val="solid"/>
          </a:ln>
        </p:spPr>
      </p:sp>
      <p:sp>
        <p:nvSpPr>
          <p:cNvPr id="39" name="Text 37"/>
          <p:cNvSpPr/>
          <p:nvPr/>
        </p:nvSpPr>
        <p:spPr>
          <a:xfrm>
            <a:off x="7540228" y="5924193"/>
            <a:ext cx="4862274" cy="491014"/>
          </a:xfrm>
          <a:prstGeom prst="rect">
            <a:avLst/>
          </a:prstGeom>
          <a:noFill/>
          <a:ln/>
        </p:spPr>
        <p:txBody>
          <a:bodyPr wrap="square" lIns="0" tIns="0" rIns="0" bIns="0" rtlCol="0" anchor="t"/>
          <a:lstStyle/>
          <a:p>
            <a:pPr algn="l" marL="342900" indent="-342900">
              <a:lnSpc>
                <a:spcPts val="1900"/>
              </a:lnSpc>
              <a:buSzPct val="100000"/>
              <a:buChar char="​"/>
            </a:pPr>
            <a:r>
              <a:rPr lang="en-US" sz="1400" dirty="0">
                <a:solidFill>
                  <a:srgbClr val="3C3939"/>
                </a:solidFill>
                <a:latin typeface="Open Sans" pitchFamily="34" charset="0"/>
                <a:ea typeface="Open Sans" pitchFamily="34" charset="-122"/>
                <a:cs typeface="Open Sans" pitchFamily="34" charset="-120"/>
              </a:rPr>
              <a:t>Cambio de nómina (operativa a administrativa o viceversa)</a:t>
            </a:r>
            <a:endParaRPr lang="en-US" sz="1400" dirty="0"/>
          </a:p>
        </p:txBody>
      </p:sp>
      <p:sp>
        <p:nvSpPr>
          <p:cNvPr id="40" name="Shape 38"/>
          <p:cNvSpPr/>
          <p:nvPr/>
        </p:nvSpPr>
        <p:spPr>
          <a:xfrm>
            <a:off x="7540228" y="5957649"/>
            <a:ext cx="178118" cy="178118"/>
          </a:xfrm>
          <a:prstGeom prst="roundRect">
            <a:avLst>
              <a:gd name="adj" fmla="val 150098"/>
            </a:avLst>
          </a:prstGeom>
          <a:noFill/>
          <a:ln w="15240">
            <a:solidFill>
              <a:srgbClr val="066293"/>
            </a:solidFill>
            <a:prstDash val="solid"/>
          </a:ln>
        </p:spPr>
      </p:sp>
      <p:sp>
        <p:nvSpPr>
          <p:cNvPr id="41" name="Text 39"/>
          <p:cNvSpPr/>
          <p:nvPr/>
        </p:nvSpPr>
        <p:spPr>
          <a:xfrm>
            <a:off x="2235518" y="6604873"/>
            <a:ext cx="10159365" cy="491014"/>
          </a:xfrm>
          <a:prstGeom prst="rect">
            <a:avLst/>
          </a:prstGeom>
          <a:noFill/>
          <a:ln/>
        </p:spPr>
        <p:txBody>
          <a:bodyPr wrap="square" lIns="0" tIns="0" rIns="0" bIns="0" rtlCol="0" anchor="t"/>
          <a:lstStyle/>
          <a:p>
            <a:pPr algn="l" indent="0" marL="0">
              <a:lnSpc>
                <a:spcPts val="1900"/>
              </a:lnSpc>
              <a:buNone/>
            </a:pPr>
            <a:r>
              <a:rPr lang="en-US" sz="1400" dirty="0">
                <a:solidFill>
                  <a:srgbClr val="3C3939"/>
                </a:solidFill>
                <a:latin typeface="Open Sans" pitchFamily="34" charset="0"/>
                <a:ea typeface="Open Sans" pitchFamily="34" charset="-122"/>
                <a:cs typeface="Open Sans" pitchFamily="34" charset="-120"/>
              </a:rPr>
              <a:t>En esta guía encontrará toda la información necesaria para comprender los pasos a seguir, las autorizaciones requeridas y las recomendaciones para un correcto uso de las nuevas herramientas del </a:t>
            </a:r>
            <a:pPr algn="l" indent="0" marL="0">
              <a:lnSpc>
                <a:spcPts val="1900"/>
              </a:lnSpc>
              <a:buNone/>
            </a:pPr>
            <a:r>
              <a:rPr lang="en-US" sz="1400" b="1" dirty="0">
                <a:solidFill>
                  <a:srgbClr val="8AC340"/>
                </a:solidFill>
                <a:latin typeface="Open Sans" pitchFamily="34" charset="0"/>
                <a:ea typeface="Open Sans" pitchFamily="34" charset="-122"/>
                <a:cs typeface="Open Sans" pitchFamily="34" charset="-120"/>
              </a:rPr>
              <a:t>SIC</a:t>
            </a:r>
            <a:pPr algn="l" indent="0" marL="0">
              <a:lnSpc>
                <a:spcPts val="1900"/>
              </a:lnSpc>
              <a:buNone/>
            </a:pPr>
            <a:r>
              <a:rPr lang="en-US" sz="1400" dirty="0">
                <a:solidFill>
                  <a:srgbClr val="3C3939"/>
                </a:solidFill>
                <a:latin typeface="Open Sans" pitchFamily="34" charset="0"/>
                <a:ea typeface="Open Sans" pitchFamily="34" charset="-122"/>
                <a:cs typeface="Open Sans" pitchFamily="34" charset="-120"/>
              </a:rPr>
              <a: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3340894" y="689848"/>
            <a:ext cx="7948613" cy="763786"/>
          </a:xfrm>
          <a:prstGeom prst="rect">
            <a:avLst/>
          </a:prstGeom>
          <a:noFill/>
          <a:ln/>
        </p:spPr>
        <p:txBody>
          <a:bodyPr wrap="none" lIns="0" tIns="0" rIns="0" bIns="0" rtlCol="0" anchor="t"/>
          <a:lstStyle/>
          <a:p>
            <a:pPr algn="ctr" indent="0" marL="0">
              <a:lnSpc>
                <a:spcPts val="6000"/>
              </a:lnSpc>
              <a:buNone/>
            </a:pPr>
            <a:r>
              <a:rPr lang="en-US" sz="4800" b="1" dirty="0">
                <a:solidFill>
                  <a:srgbClr val="8AC340"/>
                </a:solidFill>
                <a:latin typeface="Unbounded Bold" pitchFamily="34" charset="0"/>
                <a:ea typeface="Unbounded Bold" pitchFamily="34" charset="-122"/>
                <a:cs typeface="Unbounded Bold" pitchFamily="34" charset="-120"/>
              </a:rPr>
              <a:t>¿QUÉ DEBES SABER?</a:t>
            </a:r>
            <a:endParaRPr lang="en-US" sz="4800" dirty="0"/>
          </a:p>
        </p:txBody>
      </p:sp>
      <p:sp>
        <p:nvSpPr>
          <p:cNvPr id="3" name="Text 1"/>
          <p:cNvSpPr/>
          <p:nvPr/>
        </p:nvSpPr>
        <p:spPr>
          <a:xfrm>
            <a:off x="855345" y="1937385"/>
            <a:ext cx="12919710" cy="1945481"/>
          </a:xfrm>
          <a:prstGeom prst="rect">
            <a:avLst/>
          </a:prstGeom>
          <a:noFill/>
          <a:ln/>
        </p:spPr>
        <p:txBody>
          <a:bodyPr wrap="square" lIns="0" tIns="0" rIns="0" bIns="0" rtlCol="0" anchor="t"/>
          <a:lstStyle/>
          <a:p>
            <a:pPr algn="l" indent="0" marL="0">
              <a:lnSpc>
                <a:spcPts val="3050"/>
              </a:lnSpc>
              <a:buNone/>
            </a:pPr>
            <a:r>
              <a:rPr lang="en-US" sz="1900" dirty="0">
                <a:solidFill>
                  <a:srgbClr val="3C3939"/>
                </a:solidFill>
                <a:latin typeface="Open Sans" pitchFamily="34" charset="0"/>
                <a:ea typeface="Open Sans" pitchFamily="34" charset="-122"/>
                <a:cs typeface="Open Sans" pitchFamily="34" charset="-120"/>
              </a:rPr>
              <a:t>El procedimiento general para solicitar un cambio de centro de costos </a:t>
            </a:r>
            <a:pPr algn="l" indent="0" marL="0">
              <a:lnSpc>
                <a:spcPts val="3050"/>
              </a:lnSpc>
              <a:buNone/>
            </a:pPr>
            <a:r>
              <a:rPr lang="en-US" sz="1900" b="1" dirty="0">
                <a:solidFill>
                  <a:srgbClr val="3C3939"/>
                </a:solidFill>
                <a:latin typeface="Open Sans" pitchFamily="34" charset="0"/>
                <a:ea typeface="Open Sans" pitchFamily="34" charset="-122"/>
                <a:cs typeface="Open Sans" pitchFamily="34" charset="-120"/>
              </a:rPr>
              <a:t>sigue siendo el mismo</a:t>
            </a:r>
            <a:pPr algn="l" indent="0" marL="0">
              <a:lnSpc>
                <a:spcPts val="3050"/>
              </a:lnSpc>
              <a:buNone/>
            </a:pPr>
            <a:r>
              <a:rPr lang="en-US" sz="1900" dirty="0">
                <a:solidFill>
                  <a:srgbClr val="3C3939"/>
                </a:solidFill>
                <a:latin typeface="Open Sans" pitchFamily="34" charset="0"/>
                <a:ea typeface="Open Sans" pitchFamily="34" charset="-122"/>
                <a:cs typeface="Open Sans" pitchFamily="34" charset="-120"/>
              </a:rPr>
              <a:t> dentro de la plataforma.  La </a:t>
            </a:r>
            <a:pPr algn="l" indent="0" marL="0">
              <a:lnSpc>
                <a:spcPts val="3050"/>
              </a:lnSpc>
              <a:buNone/>
            </a:pPr>
            <a:r>
              <a:rPr lang="en-US" sz="1900" b="1" dirty="0">
                <a:solidFill>
                  <a:srgbClr val="3C3939"/>
                </a:solidFill>
                <a:latin typeface="Open Sans" pitchFamily="34" charset="0"/>
                <a:ea typeface="Open Sans" pitchFamily="34" charset="-122"/>
                <a:cs typeface="Open Sans" pitchFamily="34" charset="-120"/>
              </a:rPr>
              <a:t>única variación</a:t>
            </a:r>
            <a:pPr algn="l" indent="0" marL="0">
              <a:lnSpc>
                <a:spcPts val="3050"/>
              </a:lnSpc>
              <a:buNone/>
            </a:pPr>
            <a:r>
              <a:rPr lang="en-US" sz="1900" dirty="0">
                <a:solidFill>
                  <a:srgbClr val="3C3939"/>
                </a:solidFill>
                <a:latin typeface="Open Sans" pitchFamily="34" charset="0"/>
                <a:ea typeface="Open Sans" pitchFamily="34" charset="-122"/>
                <a:cs typeface="Open Sans" pitchFamily="34" charset="-120"/>
              </a:rPr>
              <a:t> que notarán afecta a los cambios de centros de costos para contratos de </a:t>
            </a:r>
            <a:pPr algn="l" indent="0" marL="0">
              <a:lnSpc>
                <a:spcPts val="3050"/>
              </a:lnSpc>
              <a:buNone/>
            </a:pPr>
            <a:r>
              <a:rPr lang="en-US" sz="1900" b="1" dirty="0">
                <a:solidFill>
                  <a:srgbClr val="3C3939"/>
                </a:solidFill>
                <a:latin typeface="Open Sans" pitchFamily="34" charset="0"/>
                <a:ea typeface="Open Sans" pitchFamily="34" charset="-122"/>
                <a:cs typeface="Open Sans" pitchFamily="34" charset="-120"/>
              </a:rPr>
              <a:t>obra o labor</a:t>
            </a:r>
            <a:pPr algn="l" indent="0" marL="0">
              <a:lnSpc>
                <a:spcPts val="3050"/>
              </a:lnSpc>
              <a:buNone/>
            </a:pPr>
            <a:r>
              <a:rPr lang="en-US" sz="1900" dirty="0">
                <a:solidFill>
                  <a:srgbClr val="3C3939"/>
                </a:solidFill>
                <a:latin typeface="Open Sans" pitchFamily="34" charset="0"/>
                <a:ea typeface="Open Sans" pitchFamily="34" charset="-122"/>
                <a:cs typeface="Open Sans" pitchFamily="34" charset="-120"/>
              </a:rPr>
              <a:t> que implican un traslado </a:t>
            </a:r>
            <a:pPr algn="l" indent="0" marL="0">
              <a:lnSpc>
                <a:spcPts val="3050"/>
              </a:lnSpc>
              <a:buNone/>
            </a:pPr>
            <a:r>
              <a:rPr lang="en-US" sz="1900" b="1" dirty="0">
                <a:solidFill>
                  <a:srgbClr val="3C3939"/>
                </a:solidFill>
                <a:latin typeface="Open Sans" pitchFamily="34" charset="0"/>
                <a:ea typeface="Open Sans" pitchFamily="34" charset="-122"/>
                <a:cs typeface="Open Sans" pitchFamily="34" charset="-120"/>
              </a:rPr>
              <a:t>entre clientes</a:t>
            </a:r>
            <a:pPr algn="l" indent="0" marL="0">
              <a:lnSpc>
                <a:spcPts val="3050"/>
              </a:lnSpc>
              <a:buNone/>
            </a:pPr>
            <a:r>
              <a:rPr lang="en-US" sz="1900" dirty="0">
                <a:solidFill>
                  <a:srgbClr val="3C3939"/>
                </a:solidFill>
                <a:latin typeface="Open Sans" pitchFamily="34" charset="0"/>
                <a:ea typeface="Open Sans" pitchFamily="34" charset="-122"/>
                <a:cs typeface="Open Sans" pitchFamily="34" charset="-120"/>
              </a:rPr>
              <a:t>. Recordamos que estos son los únicos casos que requieren la generación de un documento "Otro Sí".  Anteriormente, para estos casos, se generaba y adjuntaba manualmente dicho documento. Ahora, </a:t>
            </a:r>
            <a:pPr algn="l" indent="0" marL="0">
              <a:lnSpc>
                <a:spcPts val="3050"/>
              </a:lnSpc>
              <a:buNone/>
            </a:pPr>
            <a:r>
              <a:rPr lang="en-US" sz="1900" b="1" dirty="0">
                <a:solidFill>
                  <a:srgbClr val="3C3939"/>
                </a:solidFill>
                <a:latin typeface="Open Sans" pitchFamily="34" charset="0"/>
                <a:ea typeface="Open Sans" pitchFamily="34" charset="-122"/>
                <a:cs typeface="Open Sans" pitchFamily="34" charset="-120"/>
              </a:rPr>
              <a:t>este documento ya no se generará ni adjuntará de forma manual</a:t>
            </a:r>
            <a:pPr algn="l" indent="0" marL="0">
              <a:lnSpc>
                <a:spcPts val="3050"/>
              </a:lnSpc>
              <a:buNone/>
            </a:pPr>
            <a:r>
              <a:rPr lang="en-US" sz="1900" dirty="0">
                <a:solidFill>
                  <a:srgbClr val="3C3939"/>
                </a:solidFill>
                <a:latin typeface="Open Sans" pitchFamily="34" charset="0"/>
                <a:ea typeface="Open Sans" pitchFamily="34" charset="-122"/>
                <a:cs typeface="Open Sans" pitchFamily="34" charset="-120"/>
              </a:rPr>
              <a:t>.</a:t>
            </a:r>
            <a:endParaRPr lang="en-US" sz="1900" dirty="0"/>
          </a:p>
        </p:txBody>
      </p:sp>
      <p:sp>
        <p:nvSpPr>
          <p:cNvPr id="4" name="Text 2"/>
          <p:cNvSpPr/>
          <p:nvPr/>
        </p:nvSpPr>
        <p:spPr>
          <a:xfrm>
            <a:off x="855345" y="4154924"/>
            <a:ext cx="12919710" cy="1556385"/>
          </a:xfrm>
          <a:prstGeom prst="rect">
            <a:avLst/>
          </a:prstGeom>
          <a:noFill/>
          <a:ln/>
        </p:spPr>
        <p:txBody>
          <a:bodyPr wrap="square" lIns="0" tIns="0" rIns="0" bIns="0" rtlCol="0" anchor="t"/>
          <a:lstStyle/>
          <a:p>
            <a:pPr algn="l" indent="0" marL="0">
              <a:lnSpc>
                <a:spcPts val="3050"/>
              </a:lnSpc>
              <a:buNone/>
            </a:pPr>
            <a:r>
              <a:rPr lang="en-US" sz="1900" dirty="0">
                <a:solidFill>
                  <a:srgbClr val="3C3939"/>
                </a:solidFill>
                <a:latin typeface="Open Sans" pitchFamily="34" charset="0"/>
                <a:ea typeface="Open Sans" pitchFamily="34" charset="-122"/>
                <a:cs typeface="Open Sans" pitchFamily="34" charset="-120"/>
              </a:rPr>
              <a:t>La plataforma, integrada con el aplicativo </a:t>
            </a:r>
            <a:pPr algn="l" indent="0" marL="0">
              <a:lnSpc>
                <a:spcPts val="3050"/>
              </a:lnSpc>
              <a:buNone/>
            </a:pPr>
            <a:r>
              <a:rPr lang="en-US" sz="1900" b="1" dirty="0">
                <a:solidFill>
                  <a:srgbClr val="098CD2"/>
                </a:solidFill>
                <a:latin typeface="Open Sans" pitchFamily="34" charset="0"/>
                <a:ea typeface="Open Sans" pitchFamily="34" charset="-122"/>
                <a:cs typeface="Open Sans" pitchFamily="34" charset="-120"/>
              </a:rPr>
              <a:t>T3DIGITAL</a:t>
            </a:r>
            <a:pPr algn="l" indent="0" marL="0">
              <a:lnSpc>
                <a:spcPts val="3050"/>
              </a:lnSpc>
              <a:buNone/>
            </a:pPr>
            <a:r>
              <a:rPr lang="en-US" sz="1900" dirty="0">
                <a:solidFill>
                  <a:srgbClr val="3C3939"/>
                </a:solidFill>
                <a:latin typeface="Open Sans" pitchFamily="34" charset="0"/>
                <a:ea typeface="Open Sans" pitchFamily="34" charset="-122"/>
                <a:cs typeface="Open Sans" pitchFamily="34" charset="-120"/>
              </a:rPr>
              <a:t>, genera y envía </a:t>
            </a:r>
            <a:pPr algn="l" indent="0" marL="0">
              <a:lnSpc>
                <a:spcPts val="3050"/>
              </a:lnSpc>
              <a:buNone/>
            </a:pPr>
            <a:r>
              <a:rPr lang="en-US" sz="1900" b="1" dirty="0">
                <a:solidFill>
                  <a:srgbClr val="3C3939"/>
                </a:solidFill>
                <a:latin typeface="Open Sans" pitchFamily="34" charset="0"/>
                <a:ea typeface="Open Sans" pitchFamily="34" charset="-122"/>
                <a:cs typeface="Open Sans" pitchFamily="34" charset="-120"/>
              </a:rPr>
              <a:t>automáticamente</a:t>
            </a:r>
            <a:pPr algn="l" indent="0" marL="0">
              <a:lnSpc>
                <a:spcPts val="3050"/>
              </a:lnSpc>
              <a:buNone/>
            </a:pPr>
            <a:r>
              <a:rPr lang="en-US" sz="1900" dirty="0">
                <a:solidFill>
                  <a:srgbClr val="3C3939"/>
                </a:solidFill>
                <a:latin typeface="Open Sans" pitchFamily="34" charset="0"/>
                <a:ea typeface="Open Sans" pitchFamily="34" charset="-122"/>
                <a:cs typeface="Open Sans" pitchFamily="34" charset="-120"/>
              </a:rPr>
              <a:t> los documentos necesarios al correo electrónico que el empleado tiene registrado en Casalimpia.  Por lo tanto, </a:t>
            </a:r>
            <a:pPr algn="l" indent="0" marL="0">
              <a:lnSpc>
                <a:spcPts val="3050"/>
              </a:lnSpc>
              <a:buNone/>
            </a:pPr>
            <a:r>
              <a:rPr lang="en-US" sz="1900" b="1" dirty="0">
                <a:solidFill>
                  <a:srgbClr val="3C3939"/>
                </a:solidFill>
                <a:latin typeface="Open Sans" pitchFamily="34" charset="0"/>
                <a:ea typeface="Open Sans" pitchFamily="34" charset="-122"/>
                <a:cs typeface="Open Sans" pitchFamily="34" charset="-120"/>
              </a:rPr>
              <a:t>no necesitarán adjuntar ningún documento "Otro Sí" para este tipo específico de cambio ni tampoco para cambios de conceptos y/o bonificaciones</a:t>
            </a:r>
            <a:pPr algn="l" indent="0" marL="0">
              <a:lnSpc>
                <a:spcPts val="3050"/>
              </a:lnSpc>
              <a:buNone/>
            </a:pPr>
            <a:r>
              <a:rPr lang="en-US" sz="1900" dirty="0">
                <a:solidFill>
                  <a:srgbClr val="3C3939"/>
                </a:solidFill>
                <a:latin typeface="Open Sans" pitchFamily="34" charset="0"/>
                <a:ea typeface="Open Sans" pitchFamily="34" charset="-122"/>
                <a:cs typeface="Open Sans" pitchFamily="34" charset="-120"/>
              </a:rPr>
              <a:t>.</a:t>
            </a:r>
            <a:endParaRPr lang="en-US" sz="1900" dirty="0"/>
          </a:p>
        </p:txBody>
      </p:sp>
      <p:sp>
        <p:nvSpPr>
          <p:cNvPr id="5" name="Text 3"/>
          <p:cNvSpPr/>
          <p:nvPr/>
        </p:nvSpPr>
        <p:spPr>
          <a:xfrm>
            <a:off x="855345" y="5983367"/>
            <a:ext cx="12919710" cy="1556385"/>
          </a:xfrm>
          <a:prstGeom prst="rect">
            <a:avLst/>
          </a:prstGeom>
          <a:noFill/>
          <a:ln/>
        </p:spPr>
        <p:txBody>
          <a:bodyPr wrap="square" lIns="0" tIns="0" rIns="0" bIns="0" rtlCol="0" anchor="t"/>
          <a:lstStyle/>
          <a:p>
            <a:pPr algn="l" indent="0" marL="0">
              <a:lnSpc>
                <a:spcPts val="3050"/>
              </a:lnSpc>
              <a:buNone/>
            </a:pPr>
            <a:r>
              <a:rPr lang="en-US" sz="1900" dirty="0">
                <a:solidFill>
                  <a:srgbClr val="3C3939"/>
                </a:solidFill>
                <a:latin typeface="Open Sans" pitchFamily="34" charset="0"/>
                <a:ea typeface="Open Sans" pitchFamily="34" charset="-122"/>
                <a:cs typeface="Open Sans" pitchFamily="34" charset="-120"/>
              </a:rPr>
              <a:t>Una vez ingresados los datos, el sistema enviará la solicitud a los niveles correspondientes para su aprobación. Los tiempos de respuesta están definidos por la política interna de la empresa, y el personal administrativo (supervisores, lideres, gestores) podrá dar seguimiento a su solicitud a través de los reportes y alertas disponibles en el </a:t>
            </a:r>
            <a:pPr algn="l" indent="0" marL="0">
              <a:lnSpc>
                <a:spcPts val="3050"/>
              </a:lnSpc>
              <a:buNone/>
            </a:pPr>
            <a:r>
              <a:rPr lang="en-US" sz="1900" dirty="0">
                <a:solidFill>
                  <a:srgbClr val="8AC340"/>
                </a:solidFill>
                <a:latin typeface="Open Sans" pitchFamily="34" charset="0"/>
                <a:ea typeface="Open Sans" pitchFamily="34" charset="-122"/>
                <a:cs typeface="Open Sans" pitchFamily="34" charset="-120"/>
              </a:rPr>
              <a:t>SIC</a:t>
            </a:r>
            <a:pPr algn="l" indent="0" marL="0">
              <a:lnSpc>
                <a:spcPts val="3050"/>
              </a:lnSpc>
              <a:buNone/>
            </a:pPr>
            <a:r>
              <a:rPr lang="en-US" sz="1900" dirty="0">
                <a:solidFill>
                  <a:srgbClr val="3C3939"/>
                </a:solidFill>
                <a:latin typeface="Open Sans" pitchFamily="34" charset="0"/>
                <a:ea typeface="Open Sans" pitchFamily="34" charset="-122"/>
                <a:cs typeface="Open Sans" pitchFamily="34" charset="-120"/>
              </a:rPr>
              <a:t>.</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20103" y="959406"/>
            <a:ext cx="12990076" cy="1709142"/>
          </a:xfrm>
          <a:prstGeom prst="rect">
            <a:avLst/>
          </a:prstGeom>
          <a:noFill/>
          <a:ln/>
        </p:spPr>
        <p:txBody>
          <a:bodyPr wrap="square" lIns="0" tIns="0" rIns="0" bIns="0" rtlCol="0" anchor="t"/>
          <a:lstStyle/>
          <a:p>
            <a:pPr algn="ctr" indent="0" marL="0">
              <a:lnSpc>
                <a:spcPts val="4450"/>
              </a:lnSpc>
              <a:buNone/>
            </a:pPr>
            <a:r>
              <a:rPr lang="en-US" sz="3550" b="1" dirty="0">
                <a:solidFill>
                  <a:srgbClr val="098CD2"/>
                </a:solidFill>
                <a:latin typeface="Unbounded Bold" pitchFamily="34" charset="0"/>
                <a:ea typeface="Unbounded Bold" pitchFamily="34" charset="-122"/>
                <a:cs typeface="Unbounded Bold" pitchFamily="34" charset="-120"/>
              </a:rPr>
              <a:t>CENTRALIZACIÓN DE SOLICITUDES  DE CAMBIO DE CENTROS DE COSTOS, CONCEPTOS Y/O BONIFICACIONES</a:t>
            </a:r>
            <a:endParaRPr lang="en-US" sz="3550" dirty="0"/>
          </a:p>
        </p:txBody>
      </p:sp>
      <p:sp>
        <p:nvSpPr>
          <p:cNvPr id="3" name="Text 1"/>
          <p:cNvSpPr/>
          <p:nvPr/>
        </p:nvSpPr>
        <p:spPr>
          <a:xfrm>
            <a:off x="820103" y="3089196"/>
            <a:ext cx="12990076" cy="3067883"/>
          </a:xfrm>
          <a:prstGeom prst="rect">
            <a:avLst/>
          </a:prstGeom>
          <a:noFill/>
          <a:ln/>
        </p:spPr>
        <p:txBody>
          <a:bodyPr wrap="square" lIns="0" tIns="0" rIns="0" bIns="0" rtlCol="0" anchor="t"/>
          <a:lstStyle/>
          <a:p>
            <a:pPr algn="l" indent="0" marL="0">
              <a:lnSpc>
                <a:spcPts val="3450"/>
              </a:lnSpc>
              <a:buNone/>
            </a:pPr>
            <a:r>
              <a:rPr lang="en-US" sz="2200" dirty="0">
                <a:solidFill>
                  <a:srgbClr val="3C3939"/>
                </a:solidFill>
                <a:latin typeface="Open Sans" pitchFamily="34" charset="0"/>
                <a:ea typeface="Open Sans" pitchFamily="34" charset="-122"/>
                <a:cs typeface="Open Sans" pitchFamily="34" charset="-120"/>
              </a:rPr>
              <a:t>Como parte de la innovación y actualización de nuestros procesos internos, se ha determinado que las gestiones relacionadas a </a:t>
            </a:r>
            <a:pPr algn="l" indent="0" marL="0">
              <a:lnSpc>
                <a:spcPts val="3450"/>
              </a:lnSpc>
              <a:buNone/>
            </a:pPr>
            <a:r>
              <a:rPr lang="en-US" sz="2200" b="1" dirty="0">
                <a:solidFill>
                  <a:srgbClr val="8AC340"/>
                </a:solidFill>
                <a:latin typeface="Open Sans" pitchFamily="34" charset="0"/>
                <a:ea typeface="Open Sans" pitchFamily="34" charset="-122"/>
                <a:cs typeface="Open Sans" pitchFamily="34" charset="-120"/>
              </a:rPr>
              <a:t>Conceptos, Bonificaciones, Cambios de centros de costos (cecos), cambios de intensidades horarias o tipos de contrato y</a:t>
            </a:r>
            <a:pPr algn="l" indent="0" marL="0">
              <a:lnSpc>
                <a:spcPts val="3450"/>
              </a:lnSpc>
              <a:buNone/>
            </a:pPr>
            <a:r>
              <a:rPr lang="en-US" sz="2200" b="1" dirty="0">
                <a:solidFill>
                  <a:srgbClr val="3C3939"/>
                </a:solidFill>
                <a:latin typeface="Open Sans" pitchFamily="34" charset="0"/>
                <a:ea typeface="Open Sans" pitchFamily="34" charset="-122"/>
                <a:cs typeface="Open Sans" pitchFamily="34" charset="-120"/>
              </a:rPr>
              <a:t> </a:t>
            </a:r>
            <a:pPr algn="l" indent="0" marL="0">
              <a:lnSpc>
                <a:spcPts val="3450"/>
              </a:lnSpc>
              <a:buNone/>
            </a:pPr>
            <a:r>
              <a:rPr lang="en-US" sz="2200" b="1" dirty="0">
                <a:solidFill>
                  <a:srgbClr val="8AC340"/>
                </a:solidFill>
                <a:latin typeface="Open Sans" pitchFamily="34" charset="0"/>
                <a:ea typeface="Open Sans" pitchFamily="34" charset="-122"/>
                <a:cs typeface="Open Sans" pitchFamily="34" charset="-120"/>
              </a:rPr>
              <a:t>todas las relacionadas al inicio de este documento</a:t>
            </a:r>
            <a:pPr algn="l" indent="0" marL="0">
              <a:lnSpc>
                <a:spcPts val="3450"/>
              </a:lnSpc>
              <a:buNone/>
            </a:pPr>
            <a:r>
              <a:rPr lang="en-US" sz="2200" dirty="0">
                <a:solidFill>
                  <a:srgbClr val="3C3939"/>
                </a:solidFill>
                <a:latin typeface="Open Sans" pitchFamily="34" charset="0"/>
                <a:ea typeface="Open Sans" pitchFamily="34" charset="-122"/>
                <a:cs typeface="Open Sans" pitchFamily="34" charset="-120"/>
              </a:rPr>
              <a:t> ahora se canalizarán de forma centralizada. </a:t>
            </a:r>
            <a:pPr algn="l" indent="0" marL="0">
              <a:lnSpc>
                <a:spcPts val="3450"/>
              </a:lnSpc>
              <a:buNone/>
            </a:pPr>
            <a:r>
              <a:rPr lang="en-US" sz="2200" b="1" dirty="0">
                <a:solidFill>
                  <a:srgbClr val="3C3939"/>
                </a:solidFill>
                <a:latin typeface="Open Sans" pitchFamily="34" charset="0"/>
                <a:ea typeface="Open Sans" pitchFamily="34" charset="-122"/>
                <a:cs typeface="Open Sans" pitchFamily="34" charset="-120"/>
              </a:rPr>
              <a:t>El sistema SIC es el único canal habilitado</a:t>
            </a:r>
            <a:pPr algn="l" indent="0" marL="0">
              <a:lnSpc>
                <a:spcPts val="3450"/>
              </a:lnSpc>
              <a:buNone/>
            </a:pPr>
            <a:r>
              <a:rPr lang="en-US" sz="2200" dirty="0">
                <a:solidFill>
                  <a:srgbClr val="3C3939"/>
                </a:solidFill>
                <a:latin typeface="Open Sans" pitchFamily="34" charset="0"/>
                <a:ea typeface="Open Sans" pitchFamily="34" charset="-122"/>
                <a:cs typeface="Open Sans" pitchFamily="34" charset="-120"/>
              </a:rPr>
              <a:t> para la solicitud de </a:t>
            </a:r>
            <a:pPr algn="l" indent="0" marL="0">
              <a:lnSpc>
                <a:spcPts val="3450"/>
              </a:lnSpc>
              <a:buNone/>
            </a:pPr>
            <a:r>
              <a:rPr lang="en-US" sz="2200" b="1" dirty="0">
                <a:solidFill>
                  <a:srgbClr val="3C3939"/>
                </a:solidFill>
                <a:latin typeface="Open Sans" pitchFamily="34" charset="0"/>
                <a:ea typeface="Open Sans" pitchFamily="34" charset="-122"/>
                <a:cs typeface="Open Sans" pitchFamily="34" charset="-120"/>
              </a:rPr>
              <a:t>apertura, cierre o modificación</a:t>
            </a:r>
            <a:pPr algn="l" indent="0" marL="0">
              <a:lnSpc>
                <a:spcPts val="3450"/>
              </a:lnSpc>
              <a:buNone/>
            </a:pPr>
            <a:r>
              <a:rPr lang="en-US" sz="2200" dirty="0">
                <a:solidFill>
                  <a:srgbClr val="3C3939"/>
                </a:solidFill>
                <a:latin typeface="Open Sans" pitchFamily="34" charset="0"/>
                <a:ea typeface="Open Sans" pitchFamily="34" charset="-122"/>
                <a:cs typeface="Open Sans" pitchFamily="34" charset="-120"/>
              </a:rPr>
              <a:t> de estos conceptos y/o bonificaciones. Esto significa que cualquier trámite referente a estos conceptos </a:t>
            </a:r>
            <a:pPr algn="l" indent="0" marL="0">
              <a:lnSpc>
                <a:spcPts val="3450"/>
              </a:lnSpc>
              <a:buNone/>
            </a:pPr>
            <a:r>
              <a:rPr lang="en-US" sz="2200" b="1" dirty="0">
                <a:solidFill>
                  <a:srgbClr val="3C3939"/>
                </a:solidFill>
                <a:latin typeface="Open Sans" pitchFamily="34" charset="0"/>
                <a:ea typeface="Open Sans" pitchFamily="34" charset="-122"/>
                <a:cs typeface="Open Sans" pitchFamily="34" charset="-120"/>
              </a:rPr>
              <a:t>debe ser iniciado y gestionado exclusivamente a través del </a:t>
            </a:r>
            <a:pPr algn="l" indent="0" marL="0">
              <a:lnSpc>
                <a:spcPts val="3450"/>
              </a:lnSpc>
              <a:buNone/>
            </a:pPr>
            <a:r>
              <a:rPr lang="en-US" sz="2200" b="1" dirty="0">
                <a:solidFill>
                  <a:srgbClr val="8AC340"/>
                </a:solidFill>
                <a:latin typeface="Open Sans" pitchFamily="34" charset="0"/>
                <a:ea typeface="Open Sans" pitchFamily="34" charset="-122"/>
                <a:cs typeface="Open Sans" pitchFamily="34" charset="-120"/>
              </a:rPr>
              <a:t>SIC</a:t>
            </a:r>
            <a:pPr algn="l" indent="0" marL="0">
              <a:lnSpc>
                <a:spcPts val="3450"/>
              </a:lnSpc>
              <a:buNone/>
            </a:pPr>
            <a:r>
              <a:rPr lang="en-US" sz="2200" dirty="0">
                <a:solidFill>
                  <a:srgbClr val="3C3939"/>
                </a:solidFill>
                <a:latin typeface="Open Sans" pitchFamily="34" charset="0"/>
                <a:ea typeface="Open Sans" pitchFamily="34" charset="-122"/>
                <a:cs typeface="Open Sans" pitchFamily="34" charset="-120"/>
              </a:rPr>
              <a:t>. </a:t>
            </a:r>
            <a:endParaRPr lang="en-US" sz="2200" dirty="0"/>
          </a:p>
        </p:txBody>
      </p:sp>
      <p:sp>
        <p:nvSpPr>
          <p:cNvPr id="4" name="Text 2"/>
          <p:cNvSpPr/>
          <p:nvPr/>
        </p:nvSpPr>
        <p:spPr>
          <a:xfrm>
            <a:off x="820103" y="6393656"/>
            <a:ext cx="12990076" cy="876538"/>
          </a:xfrm>
          <a:prstGeom prst="rect">
            <a:avLst/>
          </a:prstGeom>
          <a:noFill/>
          <a:ln/>
        </p:spPr>
        <p:txBody>
          <a:bodyPr wrap="square" lIns="0" tIns="0" rIns="0" bIns="0" rtlCol="0" anchor="t"/>
          <a:lstStyle/>
          <a:p>
            <a:pPr algn="l" indent="0" marL="0">
              <a:lnSpc>
                <a:spcPts val="3450"/>
              </a:lnSpc>
              <a:buNone/>
            </a:pPr>
            <a:r>
              <a:rPr lang="en-US" sz="2200" b="1" dirty="0">
                <a:solidFill>
                  <a:srgbClr val="3C3939"/>
                </a:solidFill>
                <a:latin typeface="Open Sans" pitchFamily="34" charset="0"/>
                <a:ea typeface="Open Sans" pitchFamily="34" charset="-122"/>
                <a:cs typeface="Open Sans" pitchFamily="34" charset="-120"/>
              </a:rPr>
              <a:t>Toda solicitud</a:t>
            </a:r>
            <a:pPr algn="l" indent="0" marL="0">
              <a:lnSpc>
                <a:spcPts val="3450"/>
              </a:lnSpc>
              <a:buNone/>
            </a:pPr>
            <a:r>
              <a:rPr lang="en-US" sz="2200" dirty="0">
                <a:solidFill>
                  <a:srgbClr val="3C3939"/>
                </a:solidFill>
                <a:latin typeface="Open Sans" pitchFamily="34" charset="0"/>
                <a:ea typeface="Open Sans" pitchFamily="34" charset="-122"/>
                <a:cs typeface="Open Sans" pitchFamily="34" charset="-120"/>
              </a:rPr>
              <a:t> realizada a través de otros canales como chat o correo corporativo </a:t>
            </a:r>
            <a:pPr algn="l" indent="0" marL="0">
              <a:lnSpc>
                <a:spcPts val="3450"/>
              </a:lnSpc>
              <a:buNone/>
            </a:pPr>
            <a:r>
              <a:rPr lang="en-US" sz="2200" b="1" dirty="0">
                <a:solidFill>
                  <a:srgbClr val="3C3939"/>
                </a:solidFill>
                <a:latin typeface="Open Sans" pitchFamily="34" charset="0"/>
                <a:ea typeface="Open Sans" pitchFamily="34" charset="-122"/>
                <a:cs typeface="Open Sans" pitchFamily="34" charset="-120"/>
              </a:rPr>
              <a:t>no sera tenida en cuenta.</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3797022" y="675918"/>
            <a:ext cx="7036237" cy="771525"/>
          </a:xfrm>
          <a:prstGeom prst="rect">
            <a:avLst/>
          </a:prstGeom>
          <a:noFill/>
          <a:ln/>
        </p:spPr>
        <p:txBody>
          <a:bodyPr wrap="square" lIns="0" tIns="0" rIns="0" bIns="0" rtlCol="0" anchor="t"/>
          <a:lstStyle/>
          <a:p>
            <a:pPr algn="ctr" indent="0" marL="0">
              <a:lnSpc>
                <a:spcPts val="3000"/>
              </a:lnSpc>
              <a:buNone/>
            </a:pPr>
            <a:r>
              <a:rPr lang="en-US" sz="2400" b="1" dirty="0">
                <a:solidFill>
                  <a:srgbClr val="8AC340"/>
                </a:solidFill>
                <a:latin typeface="Unbounded Bold" pitchFamily="34" charset="0"/>
                <a:ea typeface="Unbounded Bold" pitchFamily="34" charset="-122"/>
                <a:cs typeface="Unbounded Bold" pitchFamily="34" charset="-120"/>
              </a:rPr>
              <a:t>PASO A PASO PARA ACCEDER A LA NUEVA HERRAMIENTA</a:t>
            </a:r>
            <a:endParaRPr lang="en-US" sz="2400" dirty="0"/>
          </a:p>
        </p:txBody>
      </p:sp>
      <p:pic>
        <p:nvPicPr>
          <p:cNvPr id="3" name="Image 0" descr="preencoded.png">    </p:cNvPr>
          <p:cNvPicPr>
            <a:picLocks noChangeAspect="1"/>
          </p:cNvPicPr>
          <p:nvPr/>
        </p:nvPicPr>
        <p:blipFill>
          <a:blip r:embed="rId1"/>
          <a:stretch>
            <a:fillRect/>
          </a:stretch>
        </p:blipFill>
        <p:spPr>
          <a:xfrm>
            <a:off x="3797022" y="1570792"/>
            <a:ext cx="617220" cy="1981200"/>
          </a:xfrm>
          <a:prstGeom prst="rect">
            <a:avLst/>
          </a:prstGeom>
        </p:spPr>
      </p:pic>
      <p:sp>
        <p:nvSpPr>
          <p:cNvPr id="4" name="Text 1"/>
          <p:cNvSpPr/>
          <p:nvPr/>
        </p:nvSpPr>
        <p:spPr>
          <a:xfrm>
            <a:off x="4475917" y="1694140"/>
            <a:ext cx="6357342" cy="296228"/>
          </a:xfrm>
          <a:prstGeom prst="rect">
            <a:avLst/>
          </a:prstGeom>
          <a:noFill/>
          <a:ln/>
        </p:spPr>
        <p:txBody>
          <a:bodyPr wrap="square" lIns="0" tIns="0" rIns="0" bIns="0" rtlCol="0" anchor="t"/>
          <a:lstStyle/>
          <a:p>
            <a:pPr algn="l" indent="0" marL="0">
              <a:lnSpc>
                <a:spcPts val="1150"/>
              </a:lnSpc>
              <a:buNone/>
            </a:pPr>
            <a:r>
              <a:rPr lang="en-US" sz="950" dirty="0">
                <a:solidFill>
                  <a:srgbClr val="3C3939"/>
                </a:solidFill>
                <a:latin typeface="Open Sans" pitchFamily="34" charset="0"/>
                <a:ea typeface="Open Sans" pitchFamily="34" charset="-122"/>
                <a:cs typeface="Open Sans" pitchFamily="34" charset="-120"/>
              </a:rPr>
              <a:t>Para acceder a la nueva plataforma donde centralizaremos los registros (el nuevo módulo), solo tienes que entrar en el aplicativo </a:t>
            </a:r>
            <a:pPr algn="l" indent="0" marL="0">
              <a:lnSpc>
                <a:spcPts val="1150"/>
              </a:lnSpc>
              <a:buNone/>
            </a:pPr>
            <a:r>
              <a:rPr lang="en-US" sz="950" b="1" dirty="0">
                <a:solidFill>
                  <a:srgbClr val="3C3939"/>
                </a:solidFill>
                <a:latin typeface="Open Sans" pitchFamily="34" charset="0"/>
                <a:ea typeface="Open Sans" pitchFamily="34" charset="-122"/>
                <a:cs typeface="Open Sans" pitchFamily="34" charset="-120"/>
              </a:rPr>
              <a:t>'</a:t>
            </a:r>
            <a:pPr algn="l" indent="0" marL="0">
              <a:lnSpc>
                <a:spcPts val="1150"/>
              </a:lnSpc>
              <a:buNone/>
            </a:pPr>
            <a:r>
              <a:rPr lang="en-US" sz="950" b="1" dirty="0">
                <a:solidFill>
                  <a:srgbClr val="098CD2"/>
                </a:solidFill>
                <a:latin typeface="Open Sans" pitchFamily="34" charset="0"/>
                <a:ea typeface="Open Sans" pitchFamily="34" charset="-122"/>
                <a:cs typeface="Open Sans" pitchFamily="34" charset="-120"/>
              </a:rPr>
              <a:t>SIC</a:t>
            </a:r>
            <a:pPr algn="l" indent="0" marL="0">
              <a:lnSpc>
                <a:spcPts val="1150"/>
              </a:lnSpc>
              <a:buNone/>
            </a:pPr>
            <a:r>
              <a:rPr lang="en-US" sz="950" b="1" dirty="0">
                <a:solidFill>
                  <a:srgbClr val="3C3939"/>
                </a:solidFill>
                <a:latin typeface="Open Sans" pitchFamily="34" charset="0"/>
                <a:ea typeface="Open Sans" pitchFamily="34" charset="-122"/>
                <a:cs typeface="Open Sans" pitchFamily="34" charset="-120"/>
              </a:rPr>
              <a:t>'</a:t>
            </a:r>
            <a:pPr algn="l" indent="0" marL="0">
              <a:lnSpc>
                <a:spcPts val="1150"/>
              </a:lnSpc>
              <a:buNone/>
            </a:pPr>
            <a:r>
              <a:rPr lang="en-US" sz="950" dirty="0">
                <a:solidFill>
                  <a:srgbClr val="3C3939"/>
                </a:solidFill>
                <a:latin typeface="Open Sans" pitchFamily="34" charset="0"/>
                <a:ea typeface="Open Sans" pitchFamily="34" charset="-122"/>
                <a:cs typeface="Open Sans" pitchFamily="34" charset="-120"/>
              </a:rPr>
              <a:t> y después ir a la sección </a:t>
            </a:r>
            <a:pPr algn="l" indent="0" marL="0">
              <a:lnSpc>
                <a:spcPts val="1150"/>
              </a:lnSpc>
              <a:buNone/>
            </a:pPr>
            <a:r>
              <a:rPr lang="en-US" sz="950" b="1" dirty="0">
                <a:solidFill>
                  <a:srgbClr val="3C3939"/>
                </a:solidFill>
                <a:latin typeface="Open Sans" pitchFamily="34" charset="0"/>
                <a:ea typeface="Open Sans" pitchFamily="34" charset="-122"/>
                <a:cs typeface="Open Sans" pitchFamily="34" charset="-120"/>
              </a:rPr>
              <a:t>'Mis perfiles / Gestión de personal'</a:t>
            </a:r>
            <a:pPr algn="l" indent="0" marL="0">
              <a:lnSpc>
                <a:spcPts val="1150"/>
              </a:lnSpc>
              <a:buNone/>
            </a:pPr>
            <a:r>
              <a:rPr lang="en-US" sz="950" dirty="0">
                <a:solidFill>
                  <a:srgbClr val="3C3939"/>
                </a:solidFill>
                <a:latin typeface="Open Sans" pitchFamily="34" charset="0"/>
                <a:ea typeface="Open Sans" pitchFamily="34" charset="-122"/>
                <a:cs typeface="Open Sans" pitchFamily="34" charset="-120"/>
              </a:rPr>
              <a:t>.</a:t>
            </a:r>
            <a:endParaRPr lang="en-US" sz="950" dirty="0"/>
          </a:p>
        </p:txBody>
      </p:sp>
      <p:pic>
        <p:nvPicPr>
          <p:cNvPr id="5" name="Image 1" descr="preencoded.png">    </p:cNvPr>
          <p:cNvPicPr>
            <a:picLocks noChangeAspect="1"/>
          </p:cNvPicPr>
          <p:nvPr/>
        </p:nvPicPr>
        <p:blipFill>
          <a:blip r:embed="rId2"/>
          <a:stretch>
            <a:fillRect/>
          </a:stretch>
        </p:blipFill>
        <p:spPr>
          <a:xfrm>
            <a:off x="7092196" y="2059781"/>
            <a:ext cx="1124664" cy="1368862"/>
          </a:xfrm>
          <a:prstGeom prst="rect">
            <a:avLst/>
          </a:prstGeom>
        </p:spPr>
      </p:pic>
      <p:pic>
        <p:nvPicPr>
          <p:cNvPr id="6" name="Image 2" descr="preencoded.png">    </p:cNvPr>
          <p:cNvPicPr>
            <a:picLocks noChangeAspect="1"/>
          </p:cNvPicPr>
          <p:nvPr/>
        </p:nvPicPr>
        <p:blipFill>
          <a:blip r:embed="rId3"/>
          <a:stretch>
            <a:fillRect/>
          </a:stretch>
        </p:blipFill>
        <p:spPr>
          <a:xfrm>
            <a:off x="3797022" y="3551992"/>
            <a:ext cx="617220" cy="1361837"/>
          </a:xfrm>
          <a:prstGeom prst="rect">
            <a:avLst/>
          </a:prstGeom>
        </p:spPr>
      </p:pic>
      <p:sp>
        <p:nvSpPr>
          <p:cNvPr id="7" name="Text 2"/>
          <p:cNvSpPr/>
          <p:nvPr/>
        </p:nvSpPr>
        <p:spPr>
          <a:xfrm>
            <a:off x="4475917" y="3675340"/>
            <a:ext cx="6357342" cy="148114"/>
          </a:xfrm>
          <a:prstGeom prst="rect">
            <a:avLst/>
          </a:prstGeom>
          <a:noFill/>
          <a:ln/>
        </p:spPr>
        <p:txBody>
          <a:bodyPr wrap="none" lIns="0" tIns="0" rIns="0" bIns="0" rtlCol="0" anchor="t"/>
          <a:lstStyle/>
          <a:p>
            <a:pPr algn="l" indent="0" marL="0">
              <a:lnSpc>
                <a:spcPts val="1150"/>
              </a:lnSpc>
              <a:buNone/>
            </a:pPr>
            <a:r>
              <a:rPr lang="en-US" sz="950" dirty="0">
                <a:solidFill>
                  <a:srgbClr val="3C3939"/>
                </a:solidFill>
                <a:latin typeface="Open Sans" pitchFamily="34" charset="0"/>
                <a:ea typeface="Open Sans" pitchFamily="34" charset="-122"/>
                <a:cs typeface="Open Sans" pitchFamily="34" charset="-120"/>
              </a:rPr>
              <a:t>Una vez ahí, </a:t>
            </a:r>
            <a:pPr algn="l" indent="0" marL="0">
              <a:lnSpc>
                <a:spcPts val="1150"/>
              </a:lnSpc>
              <a:buNone/>
            </a:pPr>
            <a:r>
              <a:rPr lang="en-US" sz="950" b="1" dirty="0">
                <a:solidFill>
                  <a:srgbClr val="3C3939"/>
                </a:solidFill>
                <a:latin typeface="Open Sans" pitchFamily="34" charset="0"/>
                <a:ea typeface="Open Sans" pitchFamily="34" charset="-122"/>
                <a:cs typeface="Open Sans" pitchFamily="34" charset="-120"/>
              </a:rPr>
              <a:t>haz click en el Panel de '</a:t>
            </a:r>
            <a:pPr algn="l" indent="0" marL="0">
              <a:lnSpc>
                <a:spcPts val="1150"/>
              </a:lnSpc>
              <a:buNone/>
            </a:pPr>
            <a:r>
              <a:rPr lang="en-US" sz="950" dirty="0">
                <a:solidFill>
                  <a:srgbClr val="3C3939"/>
                </a:solidFill>
                <a:latin typeface="Open Sans" pitchFamily="34" charset="0"/>
                <a:ea typeface="Open Sans" pitchFamily="34" charset="-122"/>
                <a:cs typeface="Open Sans" pitchFamily="34" charset="-120"/>
              </a:rPr>
              <a:t>Registro'.</a:t>
            </a:r>
            <a:endParaRPr lang="en-US" sz="950" dirty="0"/>
          </a:p>
        </p:txBody>
      </p:sp>
      <p:pic>
        <p:nvPicPr>
          <p:cNvPr id="8" name="Image 3" descr="preencoded.png">    </p:cNvPr>
          <p:cNvPicPr>
            <a:picLocks noChangeAspect="1"/>
          </p:cNvPicPr>
          <p:nvPr/>
        </p:nvPicPr>
        <p:blipFill>
          <a:blip r:embed="rId4"/>
          <a:stretch>
            <a:fillRect/>
          </a:stretch>
        </p:blipFill>
        <p:spPr>
          <a:xfrm>
            <a:off x="6793944" y="3892868"/>
            <a:ext cx="1721287" cy="897612"/>
          </a:xfrm>
          <a:prstGeom prst="rect">
            <a:avLst/>
          </a:prstGeom>
        </p:spPr>
      </p:pic>
      <p:pic>
        <p:nvPicPr>
          <p:cNvPr id="9" name="Image 4" descr="preencoded.png">    </p:cNvPr>
          <p:cNvPicPr>
            <a:picLocks noChangeAspect="1"/>
          </p:cNvPicPr>
          <p:nvPr/>
        </p:nvPicPr>
        <p:blipFill>
          <a:blip r:embed="rId5"/>
          <a:stretch>
            <a:fillRect/>
          </a:stretch>
        </p:blipFill>
        <p:spPr>
          <a:xfrm>
            <a:off x="3797022" y="4913828"/>
            <a:ext cx="617220" cy="1083707"/>
          </a:xfrm>
          <a:prstGeom prst="rect">
            <a:avLst/>
          </a:prstGeom>
        </p:spPr>
      </p:pic>
      <p:sp>
        <p:nvSpPr>
          <p:cNvPr id="10" name="Text 3"/>
          <p:cNvSpPr/>
          <p:nvPr/>
        </p:nvSpPr>
        <p:spPr>
          <a:xfrm>
            <a:off x="4475917" y="5037177"/>
            <a:ext cx="6357342" cy="296228"/>
          </a:xfrm>
          <a:prstGeom prst="rect">
            <a:avLst/>
          </a:prstGeom>
          <a:noFill/>
          <a:ln/>
        </p:spPr>
        <p:txBody>
          <a:bodyPr wrap="square" lIns="0" tIns="0" rIns="0" bIns="0" rtlCol="0" anchor="t"/>
          <a:lstStyle/>
          <a:p>
            <a:pPr algn="l" indent="0" marL="0">
              <a:lnSpc>
                <a:spcPts val="1150"/>
              </a:lnSpc>
              <a:buNone/>
            </a:pPr>
            <a:r>
              <a:rPr lang="en-US" sz="950" b="1" dirty="0">
                <a:solidFill>
                  <a:srgbClr val="3C3939"/>
                </a:solidFill>
                <a:latin typeface="Open Sans" pitchFamily="34" charset="0"/>
                <a:ea typeface="Open Sans" pitchFamily="34" charset="-122"/>
                <a:cs typeface="Open Sans" pitchFamily="34" charset="-120"/>
              </a:rPr>
              <a:t>En el panel que aparece, se debe digitar la cédula</a:t>
            </a:r>
            <a:pPr algn="l" indent="0" marL="0">
              <a:lnSpc>
                <a:spcPts val="1150"/>
              </a:lnSpc>
              <a:buNone/>
            </a:pPr>
            <a:r>
              <a:rPr lang="en-US" sz="950" dirty="0">
                <a:solidFill>
                  <a:srgbClr val="3C3939"/>
                </a:solidFill>
                <a:latin typeface="Open Sans" pitchFamily="34" charset="0"/>
                <a:ea typeface="Open Sans" pitchFamily="34" charset="-122"/>
                <a:cs typeface="Open Sans" pitchFamily="34" charset="-120"/>
              </a:rPr>
              <a:t> de la persona a la que se le realizara la novedad, después haz click en el botón "buscar"</a:t>
            </a:r>
            <a:endParaRPr lang="en-US" sz="950" dirty="0"/>
          </a:p>
        </p:txBody>
      </p:sp>
      <p:pic>
        <p:nvPicPr>
          <p:cNvPr id="11" name="Image 5" descr="preencoded.png">    </p:cNvPr>
          <p:cNvPicPr>
            <a:picLocks noChangeAspect="1"/>
          </p:cNvPicPr>
          <p:nvPr/>
        </p:nvPicPr>
        <p:blipFill>
          <a:blip r:embed="rId6"/>
          <a:stretch>
            <a:fillRect/>
          </a:stretch>
        </p:blipFill>
        <p:spPr>
          <a:xfrm>
            <a:off x="6495574" y="5402818"/>
            <a:ext cx="2317909" cy="471368"/>
          </a:xfrm>
          <a:prstGeom prst="rect">
            <a:avLst/>
          </a:prstGeom>
        </p:spPr>
      </p:pic>
      <p:pic>
        <p:nvPicPr>
          <p:cNvPr id="12" name="Image 6" descr="preencoded.png">    </p:cNvPr>
          <p:cNvPicPr>
            <a:picLocks noChangeAspect="1"/>
          </p:cNvPicPr>
          <p:nvPr/>
        </p:nvPicPr>
        <p:blipFill>
          <a:blip r:embed="rId7"/>
          <a:stretch>
            <a:fillRect/>
          </a:stretch>
        </p:blipFill>
        <p:spPr>
          <a:xfrm>
            <a:off x="3797022" y="5997535"/>
            <a:ext cx="617220" cy="1556028"/>
          </a:xfrm>
          <a:prstGeom prst="rect">
            <a:avLst/>
          </a:prstGeom>
        </p:spPr>
      </p:pic>
      <p:sp>
        <p:nvSpPr>
          <p:cNvPr id="13" name="Text 4"/>
          <p:cNvSpPr/>
          <p:nvPr/>
        </p:nvSpPr>
        <p:spPr>
          <a:xfrm>
            <a:off x="4475917" y="6120884"/>
            <a:ext cx="6357342" cy="296228"/>
          </a:xfrm>
          <a:prstGeom prst="rect">
            <a:avLst/>
          </a:prstGeom>
          <a:noFill/>
          <a:ln/>
        </p:spPr>
        <p:txBody>
          <a:bodyPr wrap="square" lIns="0" tIns="0" rIns="0" bIns="0" rtlCol="0" anchor="t"/>
          <a:lstStyle/>
          <a:p>
            <a:pPr algn="l" indent="0" marL="0">
              <a:lnSpc>
                <a:spcPts val="1150"/>
              </a:lnSpc>
              <a:buNone/>
            </a:pPr>
            <a:r>
              <a:rPr lang="en-US" sz="950" dirty="0">
                <a:solidFill>
                  <a:srgbClr val="3C3939"/>
                </a:solidFill>
                <a:latin typeface="Open Sans" pitchFamily="34" charset="0"/>
                <a:ea typeface="Open Sans" pitchFamily="34" charset="-122"/>
                <a:cs typeface="Open Sans" pitchFamily="34" charset="-120"/>
              </a:rPr>
              <a:t>Dentro de la información de la persona que aparece, </a:t>
            </a:r>
            <a:pPr algn="l" indent="0" marL="0">
              <a:lnSpc>
                <a:spcPts val="1150"/>
              </a:lnSpc>
              <a:buNone/>
            </a:pPr>
            <a:r>
              <a:rPr lang="en-US" sz="950" b="1" dirty="0">
                <a:solidFill>
                  <a:srgbClr val="3C3939"/>
                </a:solidFill>
                <a:latin typeface="Open Sans" pitchFamily="34" charset="0"/>
                <a:ea typeface="Open Sans" pitchFamily="34" charset="-122"/>
                <a:cs typeface="Open Sans" pitchFamily="34" charset="-120"/>
              </a:rPr>
              <a:t>desplázate hasta la sección 'Estados'</a:t>
            </a:r>
            <a:pPr algn="l" indent="0" marL="0">
              <a:lnSpc>
                <a:spcPts val="1150"/>
              </a:lnSpc>
              <a:buNone/>
            </a:pPr>
            <a:r>
              <a:rPr lang="en-US" sz="950" dirty="0">
                <a:solidFill>
                  <a:srgbClr val="3C3939"/>
                </a:solidFill>
                <a:latin typeface="Open Sans" pitchFamily="34" charset="0"/>
                <a:ea typeface="Open Sans" pitchFamily="34" charset="-122"/>
                <a:cs typeface="Open Sans" pitchFamily="34" charset="-120"/>
              </a:rPr>
              <a:t> (generalmente al final) y </a:t>
            </a:r>
            <a:pPr algn="l" indent="0" marL="0">
              <a:lnSpc>
                <a:spcPts val="1150"/>
              </a:lnSpc>
              <a:buNone/>
            </a:pPr>
            <a:r>
              <a:rPr lang="en-US" sz="950" b="1" dirty="0">
                <a:solidFill>
                  <a:srgbClr val="3C3939"/>
                </a:solidFill>
                <a:latin typeface="Open Sans" pitchFamily="34" charset="0"/>
                <a:ea typeface="Open Sans" pitchFamily="34" charset="-122"/>
                <a:cs typeface="Open Sans" pitchFamily="34" charset="-120"/>
              </a:rPr>
              <a:t>localiza el botón 'OTROSI Y/O TRASLADO DE CECO'</a:t>
            </a:r>
            <a:pPr algn="l" indent="0" marL="0">
              <a:lnSpc>
                <a:spcPts val="1150"/>
              </a:lnSpc>
              <a:buNone/>
            </a:pPr>
            <a:r>
              <a:rPr lang="en-US" sz="950" dirty="0">
                <a:solidFill>
                  <a:srgbClr val="3C3939"/>
                </a:solidFill>
                <a:latin typeface="Open Sans" pitchFamily="34" charset="0"/>
                <a:ea typeface="Open Sans" pitchFamily="34" charset="-122"/>
                <a:cs typeface="Open Sans" pitchFamily="34" charset="-120"/>
              </a:rPr>
              <a:t>.</a:t>
            </a:r>
            <a:endParaRPr lang="en-US" sz="950" dirty="0"/>
          </a:p>
        </p:txBody>
      </p:sp>
      <p:pic>
        <p:nvPicPr>
          <p:cNvPr id="14" name="Image 7" descr="preencoded.png">    </p:cNvPr>
          <p:cNvPicPr>
            <a:picLocks noChangeAspect="1"/>
          </p:cNvPicPr>
          <p:nvPr/>
        </p:nvPicPr>
        <p:blipFill>
          <a:blip r:embed="rId8"/>
          <a:stretch>
            <a:fillRect/>
          </a:stretch>
        </p:blipFill>
        <p:spPr>
          <a:xfrm>
            <a:off x="5316022" y="6486525"/>
            <a:ext cx="4677132" cy="94368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3198614" y="1361599"/>
            <a:ext cx="8233053" cy="366236"/>
          </a:xfrm>
          <a:prstGeom prst="rect">
            <a:avLst/>
          </a:prstGeom>
          <a:noFill/>
          <a:ln/>
        </p:spPr>
        <p:txBody>
          <a:bodyPr wrap="square" lIns="0" tIns="0" rIns="0" bIns="0" rtlCol="0" anchor="t"/>
          <a:lstStyle/>
          <a:p>
            <a:pPr algn="l" indent="0" marL="0">
              <a:lnSpc>
                <a:spcPts val="1400"/>
              </a:lnSpc>
              <a:buNone/>
            </a:pPr>
            <a:r>
              <a:rPr lang="en-US" sz="1100" b="1" dirty="0">
                <a:solidFill>
                  <a:srgbClr val="3C3939"/>
                </a:solidFill>
                <a:latin typeface="Open Sans" pitchFamily="34" charset="0"/>
                <a:ea typeface="Open Sans" pitchFamily="34" charset="-122"/>
                <a:cs typeface="Open Sans" pitchFamily="34" charset="-120"/>
              </a:rPr>
              <a:t>Al entrar al nuevo módulo</a:t>
            </a:r>
            <a:pPr algn="l" indent="0" marL="0">
              <a:lnSpc>
                <a:spcPts val="1400"/>
              </a:lnSpc>
              <a:buNone/>
            </a:pPr>
            <a:r>
              <a:rPr lang="en-US" sz="1100" dirty="0">
                <a:solidFill>
                  <a:srgbClr val="3C3939"/>
                </a:solidFill>
                <a:latin typeface="Open Sans" pitchFamily="34" charset="0"/>
                <a:ea typeface="Open Sans" pitchFamily="34" charset="-122"/>
                <a:cs typeface="Open Sans" pitchFamily="34" charset="-120"/>
              </a:rPr>
              <a:t>, encontrarás </a:t>
            </a:r>
            <a:pPr algn="l" indent="0" marL="0">
              <a:lnSpc>
                <a:spcPts val="1400"/>
              </a:lnSpc>
              <a:buNone/>
            </a:pPr>
            <a:r>
              <a:rPr lang="en-US" sz="1100" b="1" dirty="0">
                <a:solidFill>
                  <a:srgbClr val="3C3939"/>
                </a:solidFill>
                <a:latin typeface="Open Sans" pitchFamily="34" charset="0"/>
                <a:ea typeface="Open Sans" pitchFamily="34" charset="-122"/>
                <a:cs typeface="Open Sans" pitchFamily="34" charset="-120"/>
              </a:rPr>
              <a:t>dos opciones principales</a:t>
            </a:r>
            <a:pPr algn="l" indent="0" marL="0">
              <a:lnSpc>
                <a:spcPts val="1400"/>
              </a:lnSpc>
              <a:buNone/>
            </a:pPr>
            <a:r>
              <a:rPr lang="en-US" sz="1100" dirty="0">
                <a:solidFill>
                  <a:srgbClr val="3C3939"/>
                </a:solidFill>
                <a:latin typeface="Open Sans" pitchFamily="34" charset="0"/>
                <a:ea typeface="Open Sans" pitchFamily="34" charset="-122"/>
                <a:cs typeface="Open Sans" pitchFamily="34" charset="-120"/>
              </a:rPr>
              <a:t>. Deberás elegir la opción que corresponda al tipo de cambio que vas a realizar. Cada una de estas opciones tiene sus propios pasos a seguir (lo que llamamos 'rutas').</a:t>
            </a:r>
            <a:endParaRPr lang="en-US" sz="1100" dirty="0"/>
          </a:p>
        </p:txBody>
      </p:sp>
      <p:sp>
        <p:nvSpPr>
          <p:cNvPr id="3" name="Text 1"/>
          <p:cNvSpPr/>
          <p:nvPr/>
        </p:nvSpPr>
        <p:spPr>
          <a:xfrm>
            <a:off x="3593783" y="1907262"/>
            <a:ext cx="1805464" cy="225623"/>
          </a:xfrm>
          <a:prstGeom prst="rect">
            <a:avLst/>
          </a:prstGeom>
          <a:noFill/>
          <a:ln/>
        </p:spPr>
        <p:txBody>
          <a:bodyPr wrap="none" lIns="0" tIns="0" rIns="0" bIns="0" rtlCol="0" anchor="t"/>
          <a:lstStyle/>
          <a:p>
            <a:pPr algn="ctr" indent="0" marL="0">
              <a:lnSpc>
                <a:spcPts val="1750"/>
              </a:lnSpc>
              <a:buNone/>
            </a:pPr>
            <a:r>
              <a:rPr lang="en-US" sz="1400" b="1" dirty="0">
                <a:solidFill>
                  <a:srgbClr val="098CD2"/>
                </a:solidFill>
                <a:latin typeface="Unbounded Bold" pitchFamily="34" charset="0"/>
                <a:ea typeface="Unbounded Bold" pitchFamily="34" charset="-122"/>
                <a:cs typeface="Unbounded Bold" pitchFamily="34" charset="-120"/>
              </a:rPr>
              <a:t>RUTA 1</a:t>
            </a:r>
            <a:endParaRPr lang="en-US" sz="1400" dirty="0"/>
          </a:p>
        </p:txBody>
      </p:sp>
      <p:pic>
        <p:nvPicPr>
          <p:cNvPr id="4" name="Image 0" descr="preencoded.png">    </p:cNvPr>
          <p:cNvPicPr>
            <a:picLocks noChangeAspect="1"/>
          </p:cNvPicPr>
          <p:nvPr/>
        </p:nvPicPr>
        <p:blipFill>
          <a:blip r:embed="rId1"/>
          <a:stretch>
            <a:fillRect/>
          </a:stretch>
        </p:blipFill>
        <p:spPr>
          <a:xfrm>
            <a:off x="3198614" y="2227898"/>
            <a:ext cx="2054185" cy="673418"/>
          </a:xfrm>
          <a:prstGeom prst="rect">
            <a:avLst/>
          </a:prstGeom>
        </p:spPr>
      </p:pic>
      <p:sp>
        <p:nvSpPr>
          <p:cNvPr id="5" name="Text 2"/>
          <p:cNvSpPr/>
          <p:nvPr/>
        </p:nvSpPr>
        <p:spPr>
          <a:xfrm>
            <a:off x="3198614" y="2996327"/>
            <a:ext cx="2595801" cy="732473"/>
          </a:xfrm>
          <a:prstGeom prst="rect">
            <a:avLst/>
          </a:prstGeom>
          <a:noFill/>
          <a:ln/>
        </p:spPr>
        <p:txBody>
          <a:bodyPr wrap="square" lIns="0" tIns="0" rIns="0" bIns="0" rtlCol="0" anchor="t"/>
          <a:lstStyle/>
          <a:p>
            <a:pPr algn="ctr" indent="0" marL="0">
              <a:lnSpc>
                <a:spcPts val="1400"/>
              </a:lnSpc>
              <a:buNone/>
            </a:pPr>
            <a:r>
              <a:rPr lang="en-US" sz="1100" b="1" dirty="0">
                <a:solidFill>
                  <a:srgbClr val="3C3939"/>
                </a:solidFill>
                <a:latin typeface="Open Sans" pitchFamily="34" charset="0"/>
                <a:ea typeface="Open Sans" pitchFamily="34" charset="-122"/>
                <a:cs typeface="Open Sans" pitchFamily="34" charset="-120"/>
              </a:rPr>
              <a:t>Si solo necesitas cambiar el Centro de Costo (CECO):</a:t>
            </a:r>
            <a:pPr algn="ctr" indent="0" marL="0">
              <a:lnSpc>
                <a:spcPts val="1400"/>
              </a:lnSpc>
              <a:buNone/>
            </a:pPr>
            <a:r>
              <a:rPr lang="en-US" sz="1100" dirty="0">
                <a:solidFill>
                  <a:srgbClr val="3C3939"/>
                </a:solidFill>
                <a:latin typeface="Open Sans" pitchFamily="34" charset="0"/>
                <a:ea typeface="Open Sans" pitchFamily="34" charset="-122"/>
                <a:cs typeface="Open Sans" pitchFamily="34" charset="-120"/>
              </a:rPr>
              <a:t> Marca con 'Sí' </a:t>
            </a:r>
            <a:pPr algn="ctr" indent="0" marL="0">
              <a:lnSpc>
                <a:spcPts val="1400"/>
              </a:lnSpc>
              <a:buNone/>
            </a:pPr>
            <a:r>
              <a:rPr lang="en-US" sz="1100" b="1" dirty="0">
                <a:solidFill>
                  <a:srgbClr val="3C3939"/>
                </a:solidFill>
                <a:latin typeface="Open Sans" pitchFamily="34" charset="0"/>
                <a:ea typeface="Open Sans" pitchFamily="34" charset="-122"/>
                <a:cs typeface="Open Sans" pitchFamily="34" charset="-120"/>
              </a:rPr>
              <a:t>únicamente la primera opción/casilla</a:t>
            </a:r>
            <a:endParaRPr lang="en-US" sz="1100" dirty="0"/>
          </a:p>
        </p:txBody>
      </p:sp>
      <p:sp>
        <p:nvSpPr>
          <p:cNvPr id="6" name="Text 3"/>
          <p:cNvSpPr/>
          <p:nvPr/>
        </p:nvSpPr>
        <p:spPr>
          <a:xfrm>
            <a:off x="6484739" y="1907262"/>
            <a:ext cx="1805464" cy="225623"/>
          </a:xfrm>
          <a:prstGeom prst="rect">
            <a:avLst/>
          </a:prstGeom>
          <a:noFill/>
          <a:ln/>
        </p:spPr>
        <p:txBody>
          <a:bodyPr wrap="none" lIns="0" tIns="0" rIns="0" bIns="0" rtlCol="0" anchor="t"/>
          <a:lstStyle/>
          <a:p>
            <a:pPr algn="ctr" indent="0" marL="0">
              <a:lnSpc>
                <a:spcPts val="1750"/>
              </a:lnSpc>
              <a:buNone/>
            </a:pPr>
            <a:r>
              <a:rPr lang="en-US" sz="1400" b="1" dirty="0">
                <a:solidFill>
                  <a:srgbClr val="8AC340"/>
                </a:solidFill>
                <a:latin typeface="Unbounded Bold" pitchFamily="34" charset="0"/>
                <a:ea typeface="Unbounded Bold" pitchFamily="34" charset="-122"/>
                <a:cs typeface="Unbounded Bold" pitchFamily="34" charset="-120"/>
              </a:rPr>
              <a:t>RUTA 2</a:t>
            </a:r>
            <a:endParaRPr lang="en-US" sz="1400" dirty="0"/>
          </a:p>
        </p:txBody>
      </p:sp>
      <p:pic>
        <p:nvPicPr>
          <p:cNvPr id="7" name="Image 1" descr="preencoded.png">    </p:cNvPr>
          <p:cNvPicPr>
            <a:picLocks noChangeAspect="1"/>
          </p:cNvPicPr>
          <p:nvPr/>
        </p:nvPicPr>
        <p:blipFill>
          <a:blip r:embed="rId2"/>
          <a:stretch>
            <a:fillRect/>
          </a:stretch>
        </p:blipFill>
        <p:spPr>
          <a:xfrm>
            <a:off x="6154460" y="2227898"/>
            <a:ext cx="2466142" cy="733068"/>
          </a:xfrm>
          <a:prstGeom prst="rect">
            <a:avLst/>
          </a:prstGeom>
        </p:spPr>
      </p:pic>
      <p:sp>
        <p:nvSpPr>
          <p:cNvPr id="8" name="Text 4"/>
          <p:cNvSpPr/>
          <p:nvPr/>
        </p:nvSpPr>
        <p:spPr>
          <a:xfrm>
            <a:off x="6154460" y="3055977"/>
            <a:ext cx="2466142" cy="732473"/>
          </a:xfrm>
          <a:prstGeom prst="rect">
            <a:avLst/>
          </a:prstGeom>
          <a:noFill/>
          <a:ln/>
        </p:spPr>
        <p:txBody>
          <a:bodyPr wrap="square" lIns="0" tIns="0" rIns="0" bIns="0" rtlCol="0" anchor="t"/>
          <a:lstStyle/>
          <a:p>
            <a:pPr algn="ctr" indent="0" marL="0">
              <a:lnSpc>
                <a:spcPts val="1400"/>
              </a:lnSpc>
              <a:buNone/>
            </a:pPr>
            <a:r>
              <a:rPr lang="en-US" sz="1100" b="1" dirty="0">
                <a:solidFill>
                  <a:srgbClr val="3C3939"/>
                </a:solidFill>
                <a:latin typeface="Open Sans" pitchFamily="34" charset="0"/>
                <a:ea typeface="Open Sans" pitchFamily="34" charset="-122"/>
                <a:cs typeface="Open Sans" pitchFamily="34" charset="-120"/>
              </a:rPr>
              <a:t>Si solo necesitas cambiar Conceptos o Bonificaciones:</a:t>
            </a:r>
            <a:pPr algn="ctr" indent="0" marL="0">
              <a:lnSpc>
                <a:spcPts val="1400"/>
              </a:lnSpc>
              <a:buNone/>
            </a:pPr>
            <a:r>
              <a:rPr lang="en-US" sz="1100" dirty="0">
                <a:solidFill>
                  <a:srgbClr val="3C3939"/>
                </a:solidFill>
                <a:latin typeface="Open Sans" pitchFamily="34" charset="0"/>
                <a:ea typeface="Open Sans" pitchFamily="34" charset="-122"/>
                <a:cs typeface="Open Sans" pitchFamily="34" charset="-120"/>
              </a:rPr>
              <a:t> Marca con 'Sí' </a:t>
            </a:r>
            <a:pPr algn="ctr" indent="0" marL="0">
              <a:lnSpc>
                <a:spcPts val="1400"/>
              </a:lnSpc>
              <a:buNone/>
            </a:pPr>
            <a:r>
              <a:rPr lang="en-US" sz="1100" b="1" dirty="0">
                <a:solidFill>
                  <a:srgbClr val="3C3939"/>
                </a:solidFill>
                <a:latin typeface="Open Sans" pitchFamily="34" charset="0"/>
                <a:ea typeface="Open Sans" pitchFamily="34" charset="-122"/>
                <a:cs typeface="Open Sans" pitchFamily="34" charset="-120"/>
              </a:rPr>
              <a:t>únicamente la segunda opción/casilla</a:t>
            </a:r>
            <a:pPr algn="ctr" indent="0" marL="0">
              <a:lnSpc>
                <a:spcPts val="1400"/>
              </a:lnSpc>
              <a:buNone/>
            </a:pPr>
            <a:r>
              <a:rPr lang="en-US" sz="1100" dirty="0">
                <a:solidFill>
                  <a:srgbClr val="3C3939"/>
                </a:solidFill>
                <a:latin typeface="Open Sans" pitchFamily="34" charset="0"/>
                <a:ea typeface="Open Sans" pitchFamily="34" charset="-122"/>
                <a:cs typeface="Open Sans" pitchFamily="34" charset="-120"/>
              </a:rPr>
              <a:t>.</a:t>
            </a:r>
            <a:endParaRPr lang="en-US" sz="1100" dirty="0"/>
          </a:p>
        </p:txBody>
      </p:sp>
      <p:sp>
        <p:nvSpPr>
          <p:cNvPr id="9" name="Text 5"/>
          <p:cNvSpPr/>
          <p:nvPr/>
        </p:nvSpPr>
        <p:spPr>
          <a:xfrm>
            <a:off x="6154460" y="3864412"/>
            <a:ext cx="2466142" cy="183118"/>
          </a:xfrm>
          <a:prstGeom prst="rect">
            <a:avLst/>
          </a:prstGeom>
          <a:noFill/>
          <a:ln/>
        </p:spPr>
        <p:txBody>
          <a:bodyPr wrap="none" lIns="0" tIns="0" rIns="0" bIns="0" rtlCol="0" anchor="t"/>
          <a:lstStyle/>
          <a:p>
            <a:pPr algn="l" indent="0" marL="0">
              <a:lnSpc>
                <a:spcPts val="1400"/>
              </a:lnSpc>
              <a:buNone/>
            </a:pPr>
            <a:endParaRPr lang="en-US" sz="1100" dirty="0"/>
          </a:p>
        </p:txBody>
      </p:sp>
      <p:sp>
        <p:nvSpPr>
          <p:cNvPr id="10" name="Text 6"/>
          <p:cNvSpPr/>
          <p:nvPr/>
        </p:nvSpPr>
        <p:spPr>
          <a:xfrm>
            <a:off x="9310926" y="1907262"/>
            <a:ext cx="1805464" cy="225623"/>
          </a:xfrm>
          <a:prstGeom prst="rect">
            <a:avLst/>
          </a:prstGeom>
          <a:noFill/>
          <a:ln/>
        </p:spPr>
        <p:txBody>
          <a:bodyPr wrap="none" lIns="0" tIns="0" rIns="0" bIns="0" rtlCol="0" anchor="t"/>
          <a:lstStyle/>
          <a:p>
            <a:pPr algn="ctr" indent="0" marL="0">
              <a:lnSpc>
                <a:spcPts val="1750"/>
              </a:lnSpc>
              <a:buNone/>
            </a:pPr>
            <a:r>
              <a:rPr lang="en-US" sz="1400" b="1" dirty="0">
                <a:solidFill>
                  <a:srgbClr val="098CD2"/>
                </a:solidFill>
                <a:latin typeface="Unbounded Bold" pitchFamily="34" charset="0"/>
                <a:ea typeface="Unbounded Bold" pitchFamily="34" charset="-122"/>
                <a:cs typeface="Unbounded Bold" pitchFamily="34" charset="-120"/>
              </a:rPr>
              <a:t>RUTA 3</a:t>
            </a:r>
            <a:endParaRPr lang="en-US" sz="1400" dirty="0"/>
          </a:p>
        </p:txBody>
      </p:sp>
      <p:pic>
        <p:nvPicPr>
          <p:cNvPr id="11" name="Image 2" descr="preencoded.png">    </p:cNvPr>
          <p:cNvPicPr>
            <a:picLocks noChangeAspect="1"/>
          </p:cNvPicPr>
          <p:nvPr/>
        </p:nvPicPr>
        <p:blipFill>
          <a:blip r:embed="rId3"/>
          <a:stretch>
            <a:fillRect/>
          </a:stretch>
        </p:blipFill>
        <p:spPr>
          <a:xfrm>
            <a:off x="8980646" y="2227898"/>
            <a:ext cx="2466142" cy="817602"/>
          </a:xfrm>
          <a:prstGeom prst="rect">
            <a:avLst/>
          </a:prstGeom>
        </p:spPr>
      </p:pic>
      <p:sp>
        <p:nvSpPr>
          <p:cNvPr id="12" name="Text 7"/>
          <p:cNvSpPr/>
          <p:nvPr/>
        </p:nvSpPr>
        <p:spPr>
          <a:xfrm>
            <a:off x="8980646" y="3140512"/>
            <a:ext cx="2466142" cy="732473"/>
          </a:xfrm>
          <a:prstGeom prst="rect">
            <a:avLst/>
          </a:prstGeom>
          <a:noFill/>
          <a:ln/>
        </p:spPr>
        <p:txBody>
          <a:bodyPr wrap="square" lIns="0" tIns="0" rIns="0" bIns="0" rtlCol="0" anchor="t"/>
          <a:lstStyle/>
          <a:p>
            <a:pPr algn="ctr" indent="0" marL="0">
              <a:lnSpc>
                <a:spcPts val="1400"/>
              </a:lnSpc>
              <a:buNone/>
            </a:pPr>
            <a:r>
              <a:rPr lang="en-US" sz="1100" b="1" dirty="0">
                <a:solidFill>
                  <a:srgbClr val="3C3939"/>
                </a:solidFill>
                <a:latin typeface="Open Sans" pitchFamily="34" charset="0"/>
                <a:ea typeface="Open Sans" pitchFamily="34" charset="-122"/>
                <a:cs typeface="Open Sans" pitchFamily="34" charset="-120"/>
              </a:rPr>
              <a:t>Si necesitas cambiar tanto el Centro de Costo (CECO) como algún Concepto/Bonificación:</a:t>
            </a:r>
            <a:pPr algn="ctr" indent="0" marL="0">
              <a:lnSpc>
                <a:spcPts val="1400"/>
              </a:lnSpc>
              <a:buNone/>
            </a:pPr>
            <a:r>
              <a:rPr lang="en-US" sz="1100" dirty="0">
                <a:solidFill>
                  <a:srgbClr val="3C3939"/>
                </a:solidFill>
                <a:latin typeface="Open Sans" pitchFamily="34" charset="0"/>
                <a:ea typeface="Open Sans" pitchFamily="34" charset="-122"/>
                <a:cs typeface="Open Sans" pitchFamily="34" charset="-120"/>
              </a:rPr>
              <a:t> Marca con 'Sí' </a:t>
            </a:r>
            <a:pPr algn="ctr" indent="0" marL="0">
              <a:lnSpc>
                <a:spcPts val="1400"/>
              </a:lnSpc>
              <a:buNone/>
            </a:pPr>
            <a:r>
              <a:rPr lang="en-US" sz="1100" b="1" dirty="0">
                <a:solidFill>
                  <a:srgbClr val="3C3939"/>
                </a:solidFill>
                <a:latin typeface="Open Sans" pitchFamily="34" charset="0"/>
                <a:ea typeface="Open Sans" pitchFamily="34" charset="-122"/>
                <a:cs typeface="Open Sans" pitchFamily="34" charset="-120"/>
              </a:rPr>
              <a:t>ambas casillas</a:t>
            </a:r>
            <a:pPr algn="ctr" indent="0" marL="0">
              <a:lnSpc>
                <a:spcPts val="1400"/>
              </a:lnSpc>
              <a:buNone/>
            </a:pPr>
            <a:r>
              <a:rPr lang="en-US" sz="1100" dirty="0">
                <a:solidFill>
                  <a:srgbClr val="3C3939"/>
                </a:solidFill>
                <a:latin typeface="Open Sans" pitchFamily="34" charset="0"/>
                <a:ea typeface="Open Sans" pitchFamily="34" charset="-122"/>
                <a:cs typeface="Open Sans" pitchFamily="34" charset="-120"/>
              </a:rPr>
              <a:t>.</a:t>
            </a:r>
            <a:endParaRPr lang="en-US" sz="1100" dirty="0"/>
          </a:p>
        </p:txBody>
      </p:sp>
      <p:sp>
        <p:nvSpPr>
          <p:cNvPr id="13" name="Text 8"/>
          <p:cNvSpPr/>
          <p:nvPr/>
        </p:nvSpPr>
        <p:spPr>
          <a:xfrm>
            <a:off x="3198614" y="4218503"/>
            <a:ext cx="8233053" cy="190738"/>
          </a:xfrm>
          <a:prstGeom prst="rect">
            <a:avLst/>
          </a:prstGeom>
          <a:noFill/>
          <a:ln/>
        </p:spPr>
        <p:txBody>
          <a:bodyPr wrap="none" lIns="0" tIns="0" rIns="0" bIns="0" rtlCol="0" anchor="t"/>
          <a:lstStyle/>
          <a:p>
            <a:pPr algn="l" indent="0" marL="0">
              <a:lnSpc>
                <a:spcPts val="1400"/>
              </a:lnSpc>
              <a:buNone/>
            </a:pPr>
            <a:r>
              <a:rPr lang="en-US" sz="1100" dirty="0">
                <a:solidFill>
                  <a:srgbClr val="000000"/>
                </a:solidFill>
                <a:latin typeface="Open Sans" pitchFamily="34" charset="0"/>
                <a:ea typeface="Open Sans" pitchFamily="34" charset="-122"/>
                <a:cs typeface="Open Sans" pitchFamily="34" charset="-120"/>
              </a:rPr>
              <a:t>📢</a:t>
            </a:r>
            <a:pPr algn="l" indent="0" marL="0">
              <a:lnSpc>
                <a:spcPts val="1400"/>
              </a:lnSpc>
              <a:buNone/>
            </a:pPr>
            <a:r>
              <a:rPr lang="en-US" sz="1100" b="1" dirty="0">
                <a:solidFill>
                  <a:srgbClr val="3C3939"/>
                </a:solidFill>
                <a:latin typeface="Open Sans" pitchFamily="34" charset="0"/>
                <a:ea typeface="Open Sans" pitchFamily="34" charset="-122"/>
                <a:cs typeface="Open Sans" pitchFamily="34" charset="-120"/>
              </a:rPr>
              <a:t> Aclaraciones Importantes en los Cambios:</a:t>
            </a:r>
            <a:endParaRPr lang="en-US" sz="1100" dirty="0"/>
          </a:p>
        </p:txBody>
      </p:sp>
      <p:sp>
        <p:nvSpPr>
          <p:cNvPr id="14" name="Text 9"/>
          <p:cNvSpPr/>
          <p:nvPr/>
        </p:nvSpPr>
        <p:spPr>
          <a:xfrm>
            <a:off x="3198614" y="4504253"/>
            <a:ext cx="8233053" cy="2439591"/>
          </a:xfrm>
          <a:prstGeom prst="rect">
            <a:avLst/>
          </a:prstGeom>
          <a:noFill/>
          <a:ln/>
        </p:spPr>
        <p:txBody>
          <a:bodyPr wrap="square" lIns="0" tIns="0" rIns="0" bIns="0" rtlCol="0" anchor="t"/>
          <a:lstStyle/>
          <a:p>
            <a:pPr algn="l" marL="342900" indent="-342900">
              <a:lnSpc>
                <a:spcPts val="1400"/>
              </a:lnSpc>
              <a:buSzPct val="100000"/>
              <a:buChar char="•"/>
            </a:pPr>
            <a:r>
              <a:rPr lang="en-US" sz="1100" b="1" dirty="0">
                <a:solidFill>
                  <a:srgbClr val="3C3939"/>
                </a:solidFill>
                <a:latin typeface="Open Sans" pitchFamily="34" charset="0"/>
                <a:ea typeface="Open Sans" pitchFamily="34" charset="-122"/>
                <a:cs typeface="Open Sans" pitchFamily="34" charset="-120"/>
              </a:rPr>
              <a:t>Consideración 1: Cambio de CECO entre clientes diferentes.</a:t>
            </a:r>
            <a:pPr algn="l" indent="0" marL="0">
              <a:lnSpc>
                <a:spcPts val="1400"/>
              </a:lnSpc>
              <a:buNone/>
            </a:pPr>
            <a:r>
              <a:rPr lang="en-US" sz="1100" dirty="0">
                <a:solidFill>
                  <a:srgbClr val="3C3939"/>
                </a:solidFill>
                <a:latin typeface="Open Sans" pitchFamily="34" charset="0"/>
                <a:ea typeface="Open Sans" pitchFamily="34" charset="-122"/>
                <a:cs typeface="Open Sans" pitchFamily="34" charset="-120"/>
              </a:rPr>
              <a:t> Si la persona tiene bonificaciones (fijas o variables) y cambias su CECO </a:t>
            </a:r>
            <a:pPr algn="l" indent="0" marL="0">
              <a:lnSpc>
                <a:spcPts val="1400"/>
              </a:lnSpc>
              <a:buNone/>
            </a:pPr>
            <a:r>
              <a:rPr lang="en-US" sz="1100" b="1" dirty="0">
                <a:solidFill>
                  <a:srgbClr val="3C3939"/>
                </a:solidFill>
                <a:latin typeface="Open Sans" pitchFamily="34" charset="0"/>
                <a:ea typeface="Open Sans" pitchFamily="34" charset="-122"/>
                <a:cs typeface="Open Sans" pitchFamily="34" charset="-120"/>
              </a:rPr>
              <a:t>de un cliente a otro cliente diferente</a:t>
            </a:r>
            <a:pPr algn="l" indent="0" marL="0">
              <a:lnSpc>
                <a:spcPts val="1400"/>
              </a:lnSpc>
              <a:buNone/>
            </a:pPr>
            <a:r>
              <a:rPr lang="en-US" sz="1100" dirty="0">
                <a:solidFill>
                  <a:srgbClr val="3C3939"/>
                </a:solidFill>
                <a:latin typeface="Open Sans" pitchFamily="34" charset="0"/>
                <a:ea typeface="Open Sans" pitchFamily="34" charset="-122"/>
                <a:cs typeface="Open Sans" pitchFamily="34" charset="-120"/>
              </a:rPr>
              <a:t>, </a:t>
            </a:r>
            <a:pPr algn="l" indent="0" marL="0">
              <a:lnSpc>
                <a:spcPts val="1400"/>
              </a:lnSpc>
              <a:buNone/>
            </a:pPr>
            <a:r>
              <a:rPr lang="en-US" sz="1100" b="1" dirty="0">
                <a:solidFill>
                  <a:srgbClr val="3C3939"/>
                </a:solidFill>
                <a:latin typeface="Open Sans" pitchFamily="34" charset="0"/>
                <a:ea typeface="Open Sans" pitchFamily="34" charset="-122"/>
                <a:cs typeface="Open Sans" pitchFamily="34" charset="-120"/>
              </a:rPr>
              <a:t>el sistema marcará automáticamente la bonificación para ser eliminada</a:t>
            </a:r>
            <a:pPr algn="l" indent="0" marL="0">
              <a:lnSpc>
                <a:spcPts val="1400"/>
              </a:lnSpc>
              <a:buNone/>
            </a:pPr>
            <a:r>
              <a:rPr lang="en-US" sz="1100" dirty="0">
                <a:solidFill>
                  <a:srgbClr val="3C3939"/>
                </a:solidFill>
                <a:latin typeface="Open Sans" pitchFamily="34" charset="0"/>
                <a:ea typeface="Open Sans" pitchFamily="34" charset="-122"/>
                <a:cs typeface="Open Sans" pitchFamily="34" charset="-120"/>
              </a:rPr>
              <a:t>. Esto ocurre porque las bonificaciones están ligadas a clientes o labores específicas. Si la persona sí debe tener bonificaciones en el nuevo cliente, deberás </a:t>
            </a:r>
            <a:pPr algn="l" indent="0" marL="0">
              <a:lnSpc>
                <a:spcPts val="1400"/>
              </a:lnSpc>
              <a:buNone/>
            </a:pPr>
            <a:r>
              <a:rPr lang="en-US" sz="1100" b="1" dirty="0">
                <a:solidFill>
                  <a:srgbClr val="3C3939"/>
                </a:solidFill>
                <a:latin typeface="Open Sans" pitchFamily="34" charset="0"/>
                <a:ea typeface="Open Sans" pitchFamily="34" charset="-122"/>
                <a:cs typeface="Open Sans" pitchFamily="34" charset="-120"/>
              </a:rPr>
              <a:t>agregarlas manualmente después</a:t>
            </a:r>
            <a:pPr algn="l" indent="0" marL="0">
              <a:lnSpc>
                <a:spcPts val="1400"/>
              </a:lnSpc>
              <a:buNone/>
            </a:pPr>
            <a:r>
              <a:rPr lang="en-US" sz="1100" dirty="0">
                <a:solidFill>
                  <a:srgbClr val="3C3939"/>
                </a:solidFill>
                <a:latin typeface="Open Sans" pitchFamily="34" charset="0"/>
                <a:ea typeface="Open Sans" pitchFamily="34" charset="-122"/>
                <a:cs typeface="Open Sans" pitchFamily="34" charset="-120"/>
              </a:rPr>
              <a:t> para que sus condiciones contractuales queden correctas. Si en el nuevo cliente no aplica bonificación, el sistema simplemente asegurará que pase sin ellas.</a:t>
            </a:r>
            <a:endParaRPr lang="en-US" sz="1100" dirty="0"/>
          </a:p>
          <a:p>
            <a:pPr algn="l" marL="342900" indent="-342900">
              <a:lnSpc>
                <a:spcPts val="1400"/>
              </a:lnSpc>
              <a:buSzPct val="100000"/>
              <a:buChar char="•"/>
            </a:pPr>
            <a:r>
              <a:rPr lang="en-US" sz="1100" b="1" dirty="0">
                <a:solidFill>
                  <a:srgbClr val="3C3939"/>
                </a:solidFill>
                <a:latin typeface="Open Sans" pitchFamily="34" charset="0"/>
                <a:ea typeface="Open Sans" pitchFamily="34" charset="-122"/>
                <a:cs typeface="Open Sans" pitchFamily="34" charset="-120"/>
              </a:rPr>
              <a:t>Consideración 2: Cambio de CECO dentro del mismo cliente.</a:t>
            </a:r>
            <a:pPr algn="l" indent="0" marL="0">
              <a:lnSpc>
                <a:spcPts val="1400"/>
              </a:lnSpc>
              <a:buNone/>
            </a:pPr>
            <a:r>
              <a:rPr lang="en-US" sz="1100" dirty="0">
                <a:solidFill>
                  <a:srgbClr val="3C3939"/>
                </a:solidFill>
                <a:latin typeface="Open Sans" pitchFamily="34" charset="0"/>
                <a:ea typeface="Open Sans" pitchFamily="34" charset="-122"/>
                <a:cs typeface="Open Sans" pitchFamily="34" charset="-120"/>
              </a:rPr>
              <a:t> Si la persona cambia de puesto o frente de trabajo </a:t>
            </a:r>
            <a:pPr algn="l" indent="0" marL="0">
              <a:lnSpc>
                <a:spcPts val="1400"/>
              </a:lnSpc>
              <a:buNone/>
            </a:pPr>
            <a:r>
              <a:rPr lang="en-US" sz="1100" dirty="0">
                <a:solidFill>
                  <a:srgbClr val="3C3939"/>
                </a:solidFill>
                <a:latin typeface="Open Sans" pitchFamily="34" charset="0"/>
                <a:ea typeface="Open Sans" pitchFamily="34" charset="-122"/>
                <a:cs typeface="Open Sans" pitchFamily="34" charset="-120"/>
              </a:rPr>
              <a:t>dentro del </a:t>
            </a:r>
            <a:pPr algn="l" indent="0" marL="0">
              <a:lnSpc>
                <a:spcPts val="1400"/>
              </a:lnSpc>
              <a:buNone/>
            </a:pPr>
            <a:r>
              <a:rPr lang="en-US" sz="1100" b="1" i="1" dirty="0">
                <a:solidFill>
                  <a:srgbClr val="3C3939"/>
                </a:solidFill>
                <a:latin typeface="Open Sans" pitchFamily="34" charset="0"/>
                <a:ea typeface="Open Sans" pitchFamily="34" charset="-122"/>
                <a:cs typeface="Open Sans" pitchFamily="34" charset="-120"/>
              </a:rPr>
              <a:t>mismo</a:t>
            </a:r>
            <a:pPr algn="l" indent="0" marL="0">
              <a:lnSpc>
                <a:spcPts val="1400"/>
              </a:lnSpc>
              <a:buNone/>
            </a:pPr>
            <a:r>
              <a:rPr lang="en-US" sz="1100" dirty="0">
                <a:solidFill>
                  <a:srgbClr val="3C3939"/>
                </a:solidFill>
                <a:latin typeface="Open Sans" pitchFamily="34" charset="0"/>
                <a:ea typeface="Open Sans" pitchFamily="34" charset="-122"/>
                <a:cs typeface="Open Sans" pitchFamily="34" charset="-120"/>
              </a:rPr>
              <a:t> cliente</a:t>
            </a:r>
            <a:pPr algn="l" indent="0" marL="0">
              <a:lnSpc>
                <a:spcPts val="1400"/>
              </a:lnSpc>
              <a:buNone/>
            </a:pPr>
            <a:r>
              <a:rPr lang="en-US" sz="1100" dirty="0">
                <a:solidFill>
                  <a:srgbClr val="3C3939"/>
                </a:solidFill>
                <a:latin typeface="Open Sans" pitchFamily="34" charset="0"/>
                <a:ea typeface="Open Sans" pitchFamily="34" charset="-122"/>
                <a:cs typeface="Open Sans" pitchFamily="34" charset="-120"/>
              </a:rPr>
              <a:t>, </a:t>
            </a:r>
            <a:pPr algn="l" indent="0" marL="0">
              <a:lnSpc>
                <a:spcPts val="1400"/>
              </a:lnSpc>
              <a:buNone/>
            </a:pPr>
            <a:r>
              <a:rPr lang="en-US" sz="1100" b="1" dirty="0">
                <a:solidFill>
                  <a:srgbClr val="3C3939"/>
                </a:solidFill>
                <a:latin typeface="Open Sans" pitchFamily="34" charset="0"/>
                <a:ea typeface="Open Sans" pitchFamily="34" charset="-122"/>
                <a:cs typeface="Open Sans" pitchFamily="34" charset="-120"/>
              </a:rPr>
              <a:t>las bonificaciones no se eliminarán automáticamente</a:t>
            </a:r>
            <a:pPr algn="l" indent="0" marL="0">
              <a:lnSpc>
                <a:spcPts val="1400"/>
              </a:lnSpc>
              <a:buNone/>
            </a:pPr>
            <a:r>
              <a:rPr lang="en-US" sz="1100" dirty="0">
                <a:solidFill>
                  <a:srgbClr val="3C3939"/>
                </a:solidFill>
                <a:latin typeface="Open Sans" pitchFamily="34" charset="0"/>
                <a:ea typeface="Open Sans" pitchFamily="34" charset="-122"/>
                <a:cs typeface="Open Sans" pitchFamily="34" charset="-120"/>
              </a:rPr>
              <a:t>. De todas formas, es </a:t>
            </a:r>
            <a:pPr algn="l" indent="0" marL="0">
              <a:lnSpc>
                <a:spcPts val="1400"/>
              </a:lnSpc>
              <a:buNone/>
            </a:pPr>
            <a:r>
              <a:rPr lang="en-US" sz="1100" b="1" dirty="0">
                <a:solidFill>
                  <a:srgbClr val="3C3939"/>
                </a:solidFill>
                <a:latin typeface="Open Sans" pitchFamily="34" charset="0"/>
                <a:ea typeface="Open Sans" pitchFamily="34" charset="-122"/>
                <a:cs typeface="Open Sans" pitchFamily="34" charset="-120"/>
              </a:rPr>
              <a:t>crucial que verifiques</a:t>
            </a:r>
            <a:pPr algn="l" indent="0" marL="0">
              <a:lnSpc>
                <a:spcPts val="1400"/>
              </a:lnSpc>
              <a:buNone/>
            </a:pPr>
            <a:r>
              <a:rPr lang="en-US" sz="1100" dirty="0">
                <a:solidFill>
                  <a:srgbClr val="3C3939"/>
                </a:solidFill>
                <a:latin typeface="Open Sans" pitchFamily="34" charset="0"/>
                <a:ea typeface="Open Sans" pitchFamily="34" charset="-122"/>
                <a:cs typeface="Open Sans" pitchFamily="34" charset="-120"/>
              </a:rPr>
              <a:t> si las condiciones del nuevo puesto/frente de trabajo requieren algún cambio manual en sus bonificaciones (si aplican otras, si no aplican, etc.) y las ajustes si es necesario.</a:t>
            </a:r>
            <a:endParaRPr lang="en-US" sz="1100" dirty="0"/>
          </a:p>
          <a:p>
            <a:pPr algn="l" marL="342900" indent="-342900">
              <a:lnSpc>
                <a:spcPts val="1400"/>
              </a:lnSpc>
              <a:buSzPct val="100000"/>
              <a:buChar char="•"/>
            </a:pPr>
            <a:r>
              <a:rPr lang="en-US" sz="1100" b="1" dirty="0">
                <a:solidFill>
                  <a:srgbClr val="3C3939"/>
                </a:solidFill>
                <a:latin typeface="Open Sans" pitchFamily="34" charset="0"/>
                <a:ea typeface="Open Sans" pitchFamily="34" charset="-122"/>
                <a:cs typeface="Open Sans" pitchFamily="34" charset="-120"/>
              </a:rPr>
              <a:t>Recordatorio sobre las rutas:</a:t>
            </a:r>
            <a:pPr algn="l" indent="0" marL="0">
              <a:lnSpc>
                <a:spcPts val="1400"/>
              </a:lnSpc>
              <a:buNone/>
            </a:pPr>
            <a:r>
              <a:rPr lang="en-US" sz="1100" dirty="0">
                <a:solidFill>
                  <a:srgbClr val="3C3939"/>
                </a:solidFill>
                <a:latin typeface="Open Sans" pitchFamily="34" charset="0"/>
                <a:ea typeface="Open Sans" pitchFamily="34" charset="-122"/>
                <a:cs typeface="Open Sans" pitchFamily="34" charset="-120"/>
              </a:rPr>
              <a:t> Ten presente que las 3 rutas existen precisamente porque </a:t>
            </a:r>
            <a:pPr algn="l" indent="0" marL="0">
              <a:lnSpc>
                <a:spcPts val="1400"/>
              </a:lnSpc>
              <a:buNone/>
            </a:pPr>
            <a:r>
              <a:rPr lang="en-US" sz="1100" b="1" dirty="0">
                <a:solidFill>
                  <a:srgbClr val="3C3939"/>
                </a:solidFill>
                <a:latin typeface="Open Sans" pitchFamily="34" charset="0"/>
                <a:ea typeface="Open Sans" pitchFamily="34" charset="-122"/>
                <a:cs typeface="Open Sans" pitchFamily="34" charset="-120"/>
              </a:rPr>
              <a:t>no siempre un cambio de CECO implica un cambio de conceptos/bonificaciones</a:t>
            </a:r>
            <a:pPr algn="l" indent="0" marL="0">
              <a:lnSpc>
                <a:spcPts val="1400"/>
              </a:lnSpc>
              <a:buNone/>
            </a:pPr>
            <a:r>
              <a:rPr lang="en-US" sz="1100" dirty="0">
                <a:solidFill>
                  <a:srgbClr val="3C3939"/>
                </a:solidFill>
                <a:latin typeface="Open Sans" pitchFamily="34" charset="0"/>
                <a:ea typeface="Open Sans" pitchFamily="34" charset="-122"/>
                <a:cs typeface="Open Sans" pitchFamily="34" charset="-120"/>
              </a:rPr>
              <a:t>, y viceversa. Elige la opción que refleje </a:t>
            </a:r>
            <a:pPr algn="l" indent="0" marL="0">
              <a:lnSpc>
                <a:spcPts val="1400"/>
              </a:lnSpc>
              <a:buNone/>
            </a:pPr>
            <a:r>
              <a:rPr lang="en-US" sz="1100" b="1" dirty="0">
                <a:solidFill>
                  <a:srgbClr val="3C3939"/>
                </a:solidFill>
                <a:latin typeface="Open Sans" pitchFamily="34" charset="0"/>
                <a:ea typeface="Open Sans" pitchFamily="34" charset="-122"/>
                <a:cs typeface="Open Sans" pitchFamily="34" charset="-120"/>
              </a:rPr>
              <a:t>exactamente</a:t>
            </a:r>
            <a:pPr algn="l" indent="0" marL="0">
              <a:lnSpc>
                <a:spcPts val="1400"/>
              </a:lnSpc>
              <a:buNone/>
            </a:pPr>
            <a:r>
              <a:rPr lang="en-US" sz="1100" dirty="0">
                <a:solidFill>
                  <a:srgbClr val="3C3939"/>
                </a:solidFill>
                <a:latin typeface="Open Sans" pitchFamily="34" charset="0"/>
                <a:ea typeface="Open Sans" pitchFamily="34" charset="-122"/>
                <a:cs typeface="Open Sans" pitchFamily="34" charset="-120"/>
              </a:rPr>
              <a:t> el cambio que necesitas realizar para esa persona.</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3679269" y="931664"/>
            <a:ext cx="7271861" cy="478155"/>
          </a:xfrm>
          <a:prstGeom prst="rect">
            <a:avLst/>
          </a:prstGeom>
          <a:noFill/>
          <a:ln/>
        </p:spPr>
        <p:txBody>
          <a:bodyPr wrap="square" lIns="0" tIns="0" rIns="0" bIns="0" rtlCol="0" anchor="t"/>
          <a:lstStyle/>
          <a:p>
            <a:pPr algn="ctr" indent="0" marL="0">
              <a:lnSpc>
                <a:spcPts val="1850"/>
              </a:lnSpc>
              <a:buNone/>
            </a:pPr>
            <a:r>
              <a:rPr lang="en-US" sz="1500" b="1" dirty="0">
                <a:solidFill>
                  <a:srgbClr val="098CD2"/>
                </a:solidFill>
                <a:latin typeface="Unbounded Bold" pitchFamily="34" charset="0"/>
                <a:ea typeface="Unbounded Bold" pitchFamily="34" charset="-122"/>
                <a:cs typeface="Unbounded Bold" pitchFamily="34" charset="-120"/>
              </a:rPr>
              <a:t>PASO A PASO PARA SOLICITAR UN CAMBIO O TRASLADO DE CENTRO DE COSTOS (CECO)</a:t>
            </a:r>
            <a:endParaRPr lang="en-US" sz="1500" dirty="0"/>
          </a:p>
        </p:txBody>
      </p:sp>
      <p:sp>
        <p:nvSpPr>
          <p:cNvPr id="3" name="Text 1"/>
          <p:cNvSpPr/>
          <p:nvPr/>
        </p:nvSpPr>
        <p:spPr>
          <a:xfrm>
            <a:off x="3679269" y="1541621"/>
            <a:ext cx="7271861" cy="154781"/>
          </a:xfrm>
          <a:prstGeom prst="rect">
            <a:avLst/>
          </a:prstGeom>
          <a:noFill/>
          <a:ln/>
        </p:spPr>
        <p:txBody>
          <a:bodyPr wrap="none" lIns="0" tIns="0" rIns="0" bIns="0" rtlCol="0" anchor="t"/>
          <a:lstStyle/>
          <a:p>
            <a:pPr algn="l" indent="0" marL="0">
              <a:lnSpc>
                <a:spcPts val="1200"/>
              </a:lnSpc>
              <a:buNone/>
            </a:pPr>
            <a:r>
              <a:rPr lang="en-US" sz="1000" dirty="0">
                <a:solidFill>
                  <a:srgbClr val="000000"/>
                </a:solidFill>
                <a:latin typeface="Open Sans" pitchFamily="34" charset="0"/>
                <a:ea typeface="Open Sans" pitchFamily="34" charset="-122"/>
                <a:cs typeface="Open Sans" pitchFamily="34" charset="-120"/>
              </a:rPr>
              <a:t>✅</a:t>
            </a:r>
            <a:pPr algn="l" indent="0" marL="0">
              <a:lnSpc>
                <a:spcPts val="1200"/>
              </a:lnSpc>
              <a:buNone/>
            </a:pPr>
            <a:r>
              <a:rPr lang="en-US" sz="1000" b="1" dirty="0">
                <a:solidFill>
                  <a:srgbClr val="3C3939"/>
                </a:solidFill>
                <a:latin typeface="Open Sans" pitchFamily="34" charset="0"/>
                <a:ea typeface="Open Sans" pitchFamily="34" charset="-122"/>
                <a:cs typeface="Open Sans" pitchFamily="34" charset="-120"/>
              </a:rPr>
              <a:t> Si seleccionaste una opción que incluye Cambio de Centro de Costo (CECO) (Ruta 1 o Ruta 3):</a:t>
            </a:r>
            <a:endParaRPr lang="en-US" sz="1000" dirty="0"/>
          </a:p>
        </p:txBody>
      </p:sp>
      <p:sp>
        <p:nvSpPr>
          <p:cNvPr id="4" name="Text 2"/>
          <p:cNvSpPr/>
          <p:nvPr/>
        </p:nvSpPr>
        <p:spPr>
          <a:xfrm>
            <a:off x="3679269" y="1770459"/>
            <a:ext cx="7271861" cy="154781"/>
          </a:xfrm>
          <a:prstGeom prst="rect">
            <a:avLst/>
          </a:prstGeom>
          <a:noFill/>
          <a:ln/>
        </p:spPr>
        <p:txBody>
          <a:bodyPr wrap="none" lIns="0" tIns="0" rIns="0" bIns="0" rtlCol="0" anchor="t"/>
          <a:lstStyle/>
          <a:p>
            <a:pPr algn="l" indent="0" marL="0">
              <a:lnSpc>
                <a:spcPts val="1200"/>
              </a:lnSpc>
              <a:buNone/>
            </a:pPr>
            <a:r>
              <a:rPr lang="en-US" sz="1000" dirty="0">
                <a:solidFill>
                  <a:srgbClr val="3C3939"/>
                </a:solidFill>
                <a:latin typeface="Open Sans" pitchFamily="34" charset="0"/>
                <a:ea typeface="Open Sans" pitchFamily="34" charset="-122"/>
                <a:cs typeface="Open Sans" pitchFamily="34" charset="-120"/>
              </a:rPr>
              <a:t>Verás un panel para ingresar los datos del nuevo CECO de la persona</a:t>
            </a:r>
            <a:endParaRPr lang="en-US" sz="1000" dirty="0"/>
          </a:p>
        </p:txBody>
      </p:sp>
      <p:pic>
        <p:nvPicPr>
          <p:cNvPr id="5" name="Image 0" descr="preencoded.png">    </p:cNvPr>
          <p:cNvPicPr>
            <a:picLocks noChangeAspect="1"/>
          </p:cNvPicPr>
          <p:nvPr/>
        </p:nvPicPr>
        <p:blipFill>
          <a:blip r:embed="rId1"/>
          <a:stretch>
            <a:fillRect/>
          </a:stretch>
        </p:blipFill>
        <p:spPr>
          <a:xfrm>
            <a:off x="3679269" y="1999298"/>
            <a:ext cx="7271861" cy="778907"/>
          </a:xfrm>
          <a:prstGeom prst="rect">
            <a:avLst/>
          </a:prstGeom>
        </p:spPr>
      </p:pic>
      <p:sp>
        <p:nvSpPr>
          <p:cNvPr id="6" name="Text 3"/>
          <p:cNvSpPr/>
          <p:nvPr/>
        </p:nvSpPr>
        <p:spPr>
          <a:xfrm>
            <a:off x="3679269" y="2852261"/>
            <a:ext cx="7271861" cy="154781"/>
          </a:xfrm>
          <a:prstGeom prst="rect">
            <a:avLst/>
          </a:prstGeom>
          <a:noFill/>
          <a:ln/>
        </p:spPr>
        <p:txBody>
          <a:bodyPr wrap="none" lIns="0" tIns="0" rIns="0" bIns="0" rtlCol="0" anchor="t"/>
          <a:lstStyle/>
          <a:p>
            <a:pPr algn="l" indent="0" marL="0">
              <a:lnSpc>
                <a:spcPts val="1200"/>
              </a:lnSpc>
              <a:buNone/>
            </a:pPr>
            <a:r>
              <a:rPr lang="en-US" sz="1000" dirty="0">
                <a:solidFill>
                  <a:srgbClr val="3C3939"/>
                </a:solidFill>
                <a:latin typeface="Open Sans" pitchFamily="34" charset="0"/>
                <a:ea typeface="Open Sans" pitchFamily="34" charset="-122"/>
                <a:cs typeface="Open Sans" pitchFamily="34" charset="-120"/>
              </a:rPr>
              <a:t>En este panel, deberás </a:t>
            </a:r>
            <a:pPr algn="l" indent="0" marL="0">
              <a:lnSpc>
                <a:spcPts val="1200"/>
              </a:lnSpc>
              <a:buNone/>
            </a:pPr>
            <a:r>
              <a:rPr lang="en-US" sz="1000" b="1" dirty="0">
                <a:solidFill>
                  <a:srgbClr val="3C3939"/>
                </a:solidFill>
                <a:latin typeface="Open Sans" pitchFamily="34" charset="0"/>
                <a:ea typeface="Open Sans" pitchFamily="34" charset="-122"/>
                <a:cs typeface="Open Sans" pitchFamily="34" charset="-120"/>
              </a:rPr>
              <a:t>completar la siguiente información</a:t>
            </a:r>
            <a:pPr algn="l" indent="0" marL="0">
              <a:lnSpc>
                <a:spcPts val="1200"/>
              </a:lnSpc>
              <a:buNone/>
            </a:pPr>
            <a:r>
              <a:rPr lang="en-US" sz="1000" dirty="0">
                <a:solidFill>
                  <a:srgbClr val="3C3939"/>
                </a:solidFill>
                <a:latin typeface="Open Sans" pitchFamily="34" charset="0"/>
                <a:ea typeface="Open Sans" pitchFamily="34" charset="-122"/>
                <a:cs typeface="Open Sans" pitchFamily="34" charset="-120"/>
              </a:rPr>
              <a:t> en orden:</a:t>
            </a:r>
            <a:endParaRPr lang="en-US" sz="1000" dirty="0"/>
          </a:p>
        </p:txBody>
      </p:sp>
      <p:sp>
        <p:nvSpPr>
          <p:cNvPr id="7" name="Text 4"/>
          <p:cNvSpPr/>
          <p:nvPr/>
        </p:nvSpPr>
        <p:spPr>
          <a:xfrm>
            <a:off x="3679269" y="3081099"/>
            <a:ext cx="7271861" cy="1020604"/>
          </a:xfrm>
          <a:prstGeom prst="rect">
            <a:avLst/>
          </a:prstGeom>
          <a:noFill/>
          <a:ln/>
        </p:spPr>
        <p:txBody>
          <a:bodyPr wrap="square" lIns="0" tIns="0" rIns="0" bIns="0" rtlCol="0" anchor="t"/>
          <a:lstStyle/>
          <a:p>
            <a:pPr algn="l" marL="342900" indent="-342900">
              <a:lnSpc>
                <a:spcPts val="1200"/>
              </a:lnSpc>
              <a:buSzPct val="100000"/>
              <a:buChar char="•"/>
            </a:pPr>
            <a:r>
              <a:rPr lang="en-US" sz="1000" b="1" dirty="0">
                <a:solidFill>
                  <a:srgbClr val="3C3939"/>
                </a:solidFill>
                <a:latin typeface="Open Sans" pitchFamily="34" charset="0"/>
                <a:ea typeface="Open Sans" pitchFamily="34" charset="-122"/>
                <a:cs typeface="Open Sans" pitchFamily="34" charset="-120"/>
              </a:rPr>
              <a:t>Fecha de Cambio:</a:t>
            </a:r>
            <a:pPr algn="l" indent="0" marL="0">
              <a:lnSpc>
                <a:spcPts val="1200"/>
              </a:lnSpc>
              <a:buNone/>
            </a:pPr>
            <a:r>
              <a:rPr lang="en-US" sz="1000" dirty="0">
                <a:solidFill>
                  <a:srgbClr val="3C3939"/>
                </a:solidFill>
                <a:latin typeface="Open Sans" pitchFamily="34" charset="0"/>
                <a:ea typeface="Open Sans" pitchFamily="34" charset="-122"/>
                <a:cs typeface="Open Sans" pitchFamily="34" charset="-120"/>
              </a:rPr>
              <a:t> Indica la fecha exacta en que la persona comenzará a trabajar en el nuevo puesto/frente de trabajo.</a:t>
            </a:r>
            <a:endParaRPr lang="en-US" sz="1000" dirty="0"/>
          </a:p>
          <a:p>
            <a:pPr algn="l" marL="342900" indent="-342900">
              <a:lnSpc>
                <a:spcPts val="1200"/>
              </a:lnSpc>
              <a:buSzPct val="100000"/>
              <a:buChar char="•"/>
            </a:pPr>
            <a:r>
              <a:rPr lang="en-US" sz="1000" b="1" dirty="0">
                <a:solidFill>
                  <a:srgbClr val="3C3939"/>
                </a:solidFill>
                <a:latin typeface="Open Sans" pitchFamily="34" charset="0"/>
                <a:ea typeface="Open Sans" pitchFamily="34" charset="-122"/>
                <a:cs typeface="Open Sans" pitchFamily="34" charset="-120"/>
              </a:rPr>
              <a:t>Cliente:</a:t>
            </a:r>
            <a:pPr algn="l" indent="0" marL="0">
              <a:lnSpc>
                <a:spcPts val="1200"/>
              </a:lnSpc>
              <a:buNone/>
            </a:pPr>
            <a:r>
              <a:rPr lang="en-US" sz="1000" dirty="0">
                <a:solidFill>
                  <a:srgbClr val="3C3939"/>
                </a:solidFill>
                <a:latin typeface="Open Sans" pitchFamily="34" charset="0"/>
                <a:ea typeface="Open Sans" pitchFamily="34" charset="-122"/>
                <a:cs typeface="Open Sans" pitchFamily="34" charset="-120"/>
              </a:rPr>
              <a:t> Digita y Selecciona el nombre del cliente al que se traslada la persona.</a:t>
            </a:r>
            <a:endParaRPr lang="en-US" sz="1000" dirty="0"/>
          </a:p>
          <a:p>
            <a:pPr algn="l" marL="342900" indent="-342900">
              <a:lnSpc>
                <a:spcPts val="1200"/>
              </a:lnSpc>
              <a:buSzPct val="100000"/>
              <a:buChar char="•"/>
            </a:pPr>
            <a:r>
              <a:rPr lang="en-US" sz="1000" b="1" dirty="0">
                <a:solidFill>
                  <a:srgbClr val="3C3939"/>
                </a:solidFill>
                <a:latin typeface="Open Sans" pitchFamily="34" charset="0"/>
                <a:ea typeface="Open Sans" pitchFamily="34" charset="-122"/>
                <a:cs typeface="Open Sans" pitchFamily="34" charset="-120"/>
              </a:rPr>
              <a:t>Frente de Trabajo:</a:t>
            </a:r>
            <a:pPr algn="l" indent="0" marL="0">
              <a:lnSpc>
                <a:spcPts val="1200"/>
              </a:lnSpc>
              <a:buNone/>
            </a:pPr>
            <a:r>
              <a:rPr lang="en-US" sz="1000" dirty="0">
                <a:solidFill>
                  <a:srgbClr val="3C3939"/>
                </a:solidFill>
                <a:latin typeface="Open Sans" pitchFamily="34" charset="0"/>
                <a:ea typeface="Open Sans" pitchFamily="34" charset="-122"/>
                <a:cs typeface="Open Sans" pitchFamily="34" charset="-120"/>
              </a:rPr>
              <a:t> Elige la ubicación o dirección específica donde trabajará dentro de ese cliente.</a:t>
            </a:r>
            <a:endParaRPr lang="en-US" sz="1000" dirty="0"/>
          </a:p>
          <a:p>
            <a:pPr algn="l" marL="342900" indent="-342900">
              <a:lnSpc>
                <a:spcPts val="1200"/>
              </a:lnSpc>
              <a:buSzPct val="100000"/>
              <a:buChar char="•"/>
            </a:pPr>
            <a:r>
              <a:rPr lang="en-US" sz="1000" b="1" dirty="0">
                <a:solidFill>
                  <a:srgbClr val="3C3939"/>
                </a:solidFill>
                <a:latin typeface="Open Sans" pitchFamily="34" charset="0"/>
                <a:ea typeface="Open Sans" pitchFamily="34" charset="-122"/>
                <a:cs typeface="Open Sans" pitchFamily="34" charset="-120"/>
              </a:rPr>
              <a:t>Jefatura:</a:t>
            </a:r>
            <a:pPr algn="l" indent="0" marL="0">
              <a:lnSpc>
                <a:spcPts val="1200"/>
              </a:lnSpc>
              <a:buNone/>
            </a:pPr>
            <a:r>
              <a:rPr lang="en-US" sz="1000" dirty="0">
                <a:solidFill>
                  <a:srgbClr val="3C3939"/>
                </a:solidFill>
                <a:latin typeface="Open Sans" pitchFamily="34" charset="0"/>
                <a:ea typeface="Open Sans" pitchFamily="34" charset="-122"/>
                <a:cs typeface="Open Sans" pitchFamily="34" charset="-120"/>
              </a:rPr>
              <a:t> Indica cual sera la jefatura de la persona en el nuevo puesto/frente.</a:t>
            </a:r>
            <a:endParaRPr lang="en-US" sz="1000" dirty="0"/>
          </a:p>
          <a:p>
            <a:pPr algn="l" marL="342900" indent="-342900">
              <a:lnSpc>
                <a:spcPts val="1200"/>
              </a:lnSpc>
              <a:buSzPct val="100000"/>
              <a:buChar char="•"/>
            </a:pPr>
            <a:r>
              <a:rPr lang="en-US" sz="1000" b="1" dirty="0">
                <a:solidFill>
                  <a:srgbClr val="3C3939"/>
                </a:solidFill>
                <a:latin typeface="Open Sans" pitchFamily="34" charset="0"/>
                <a:ea typeface="Open Sans" pitchFamily="34" charset="-122"/>
                <a:cs typeface="Open Sans" pitchFamily="34" charset="-120"/>
              </a:rPr>
              <a:t>Motivo del Cambio:</a:t>
            </a:r>
            <a:pPr algn="l" indent="0" marL="0">
              <a:lnSpc>
                <a:spcPts val="1200"/>
              </a:lnSpc>
              <a:buNone/>
            </a:pPr>
            <a:r>
              <a:rPr lang="en-US" sz="1000" dirty="0">
                <a:solidFill>
                  <a:srgbClr val="3C3939"/>
                </a:solidFill>
                <a:latin typeface="Open Sans" pitchFamily="34" charset="0"/>
                <a:ea typeface="Open Sans" pitchFamily="34" charset="-122"/>
                <a:cs typeface="Open Sans" pitchFamily="34" charset="-120"/>
              </a:rPr>
              <a:t> Selecciona la razón del traslado.</a:t>
            </a:r>
            <a:endParaRPr lang="en-US" sz="1000" dirty="0"/>
          </a:p>
        </p:txBody>
      </p:sp>
      <p:pic>
        <p:nvPicPr>
          <p:cNvPr id="8" name="Image 1" descr="preencoded.png">    </p:cNvPr>
          <p:cNvPicPr>
            <a:picLocks noChangeAspect="1"/>
          </p:cNvPicPr>
          <p:nvPr/>
        </p:nvPicPr>
        <p:blipFill>
          <a:blip r:embed="rId2"/>
          <a:stretch>
            <a:fillRect/>
          </a:stretch>
        </p:blipFill>
        <p:spPr>
          <a:xfrm>
            <a:off x="3679269" y="4175760"/>
            <a:ext cx="7271861" cy="961549"/>
          </a:xfrm>
          <a:prstGeom prst="rect">
            <a:avLst/>
          </a:prstGeom>
        </p:spPr>
      </p:pic>
      <p:sp>
        <p:nvSpPr>
          <p:cNvPr id="9" name="Text 5"/>
          <p:cNvSpPr/>
          <p:nvPr/>
        </p:nvSpPr>
        <p:spPr>
          <a:xfrm>
            <a:off x="3679269" y="5211366"/>
            <a:ext cx="7271861" cy="309563"/>
          </a:xfrm>
          <a:prstGeom prst="rect">
            <a:avLst/>
          </a:prstGeom>
          <a:noFill/>
          <a:ln/>
        </p:spPr>
        <p:txBody>
          <a:bodyPr wrap="square" lIns="0" tIns="0" rIns="0" bIns="0" rtlCol="0" anchor="t"/>
          <a:lstStyle/>
          <a:p>
            <a:pPr algn="l" indent="0" marL="0">
              <a:lnSpc>
                <a:spcPts val="1200"/>
              </a:lnSpc>
              <a:buNone/>
            </a:pPr>
            <a:r>
              <a:rPr lang="en-US" sz="1000" dirty="0">
                <a:solidFill>
                  <a:srgbClr val="3C3939"/>
                </a:solidFill>
                <a:latin typeface="Open Sans" pitchFamily="34" charset="0"/>
                <a:ea typeface="Open Sans" pitchFamily="34" charset="-122"/>
                <a:cs typeface="Open Sans" pitchFamily="34" charset="-120"/>
              </a:rPr>
              <a:t>Una vez completados todos los campos, es </a:t>
            </a:r>
            <a:pPr algn="l" indent="0" marL="0">
              <a:lnSpc>
                <a:spcPts val="1200"/>
              </a:lnSpc>
              <a:buNone/>
            </a:pPr>
            <a:r>
              <a:rPr lang="en-US" sz="1000" b="1" dirty="0">
                <a:solidFill>
                  <a:srgbClr val="3C3939"/>
                </a:solidFill>
                <a:latin typeface="Open Sans" pitchFamily="34" charset="0"/>
                <a:ea typeface="Open Sans" pitchFamily="34" charset="-122"/>
                <a:cs typeface="Open Sans" pitchFamily="34" charset="-120"/>
              </a:rPr>
              <a:t>fundamental</a:t>
            </a:r>
            <a:pPr algn="l" indent="0" marL="0">
              <a:lnSpc>
                <a:spcPts val="1200"/>
              </a:lnSpc>
              <a:buNone/>
            </a:pPr>
            <a:r>
              <a:rPr lang="en-US" sz="1000" dirty="0">
                <a:solidFill>
                  <a:srgbClr val="3C3939"/>
                </a:solidFill>
                <a:latin typeface="Open Sans" pitchFamily="34" charset="0"/>
                <a:ea typeface="Open Sans" pitchFamily="34" charset="-122"/>
                <a:cs typeface="Open Sans" pitchFamily="34" charset="-120"/>
              </a:rPr>
              <a:t> que hagas click en el botón </a:t>
            </a:r>
            <a:pPr algn="l" indent="0" marL="0">
              <a:lnSpc>
                <a:spcPts val="1200"/>
              </a:lnSpc>
              <a:buNone/>
            </a:pPr>
            <a:r>
              <a:rPr lang="en-US" sz="1000" b="1" dirty="0">
                <a:solidFill>
                  <a:srgbClr val="3C3939"/>
                </a:solidFill>
                <a:latin typeface="Open Sans" pitchFamily="34" charset="0"/>
                <a:ea typeface="Open Sans" pitchFamily="34" charset="-122"/>
                <a:cs typeface="Open Sans" pitchFamily="34" charset="-120"/>
              </a:rPr>
              <a:t>'Adicionar'</a:t>
            </a:r>
            <a:pPr algn="l" indent="0" marL="0">
              <a:lnSpc>
                <a:spcPts val="1200"/>
              </a:lnSpc>
              <a:buNone/>
            </a:pPr>
            <a:r>
              <a:rPr lang="en-US" sz="1000" dirty="0">
                <a:solidFill>
                  <a:srgbClr val="3C3939"/>
                </a:solidFill>
                <a:latin typeface="Open Sans" pitchFamily="34" charset="0"/>
                <a:ea typeface="Open Sans" pitchFamily="34" charset="-122"/>
                <a:cs typeface="Open Sans" pitchFamily="34" charset="-120"/>
              </a:rPr>
              <a:t>. </a:t>
            </a:r>
            <a:pPr algn="l" indent="0" marL="0">
              <a:lnSpc>
                <a:spcPts val="1200"/>
              </a:lnSpc>
              <a:buNone/>
            </a:pPr>
            <a:r>
              <a:rPr lang="en-US" sz="1000" dirty="0">
                <a:solidFill>
                  <a:srgbClr val="3C3939"/>
                </a:solidFill>
                <a:latin typeface="Open Sans" pitchFamily="34" charset="0"/>
                <a:ea typeface="Open Sans" pitchFamily="34" charset="-122"/>
                <a:cs typeface="Open Sans" pitchFamily="34" charset="-120"/>
              </a:rPr>
              <a:t>Este paso es </a:t>
            </a:r>
            <a:pPr algn="l" indent="0" marL="0">
              <a:lnSpc>
                <a:spcPts val="1200"/>
              </a:lnSpc>
              <a:buNone/>
            </a:pPr>
            <a:r>
              <a:rPr lang="en-US" sz="1000" b="1" i="1" dirty="0">
                <a:solidFill>
                  <a:srgbClr val="3C3939"/>
                </a:solidFill>
                <a:latin typeface="Open Sans" pitchFamily="34" charset="0"/>
                <a:ea typeface="Open Sans" pitchFamily="34" charset="-122"/>
                <a:cs typeface="Open Sans" pitchFamily="34" charset="-120"/>
              </a:rPr>
              <a:t>obligatorio</a:t>
            </a:r>
            <a:pPr algn="l" indent="0" marL="0">
              <a:lnSpc>
                <a:spcPts val="1200"/>
              </a:lnSpc>
              <a:buNone/>
            </a:pPr>
            <a:r>
              <a:rPr lang="en-US" sz="1000" dirty="0">
                <a:solidFill>
                  <a:srgbClr val="3C3939"/>
                </a:solidFill>
                <a:latin typeface="Open Sans" pitchFamily="34" charset="0"/>
                <a:ea typeface="Open Sans" pitchFamily="34" charset="-122"/>
                <a:cs typeface="Open Sans" pitchFamily="34" charset="-120"/>
              </a:rPr>
              <a:t>. Si no haces click en 'Adicionar', el cambio NO se registrará correctamente.</a:t>
            </a:r>
            <a:endParaRPr lang="en-US" sz="1000" dirty="0"/>
          </a:p>
        </p:txBody>
      </p:sp>
      <p:sp>
        <p:nvSpPr>
          <p:cNvPr id="10" name="Text 6"/>
          <p:cNvSpPr/>
          <p:nvPr/>
        </p:nvSpPr>
        <p:spPr>
          <a:xfrm>
            <a:off x="3679269" y="5594985"/>
            <a:ext cx="7271861" cy="309563"/>
          </a:xfrm>
          <a:prstGeom prst="rect">
            <a:avLst/>
          </a:prstGeom>
          <a:noFill/>
          <a:ln/>
        </p:spPr>
        <p:txBody>
          <a:bodyPr wrap="square" lIns="0" tIns="0" rIns="0" bIns="0" rtlCol="0" anchor="t"/>
          <a:lstStyle/>
          <a:p>
            <a:pPr algn="l" indent="0" marL="0">
              <a:lnSpc>
                <a:spcPts val="1200"/>
              </a:lnSpc>
              <a:buNone/>
            </a:pPr>
            <a:r>
              <a:rPr lang="en-US" sz="1000" dirty="0">
                <a:solidFill>
                  <a:srgbClr val="3C3939"/>
                </a:solidFill>
                <a:latin typeface="Open Sans" pitchFamily="34" charset="0"/>
                <a:ea typeface="Open Sans" pitchFamily="34" charset="-122"/>
                <a:cs typeface="Open Sans" pitchFamily="34" charset="-120"/>
              </a:rPr>
              <a:t>Después de hacer click en 'Adicionar', la información del cambio se añadirá a un listado o aparecerá confirmada, indicando que está lista para ser guardada</a:t>
            </a:r>
            <a:endParaRPr lang="en-US" sz="1000" dirty="0"/>
          </a:p>
        </p:txBody>
      </p:sp>
      <p:pic>
        <p:nvPicPr>
          <p:cNvPr id="11" name="Image 2" descr="preencoded.png">    </p:cNvPr>
          <p:cNvPicPr>
            <a:picLocks noChangeAspect="1"/>
          </p:cNvPicPr>
          <p:nvPr/>
        </p:nvPicPr>
        <p:blipFill>
          <a:blip r:embed="rId3"/>
          <a:stretch>
            <a:fillRect/>
          </a:stretch>
        </p:blipFill>
        <p:spPr>
          <a:xfrm>
            <a:off x="3679269" y="5978604"/>
            <a:ext cx="7271861" cy="131933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3797022" y="339447"/>
            <a:ext cx="7036237" cy="462677"/>
          </a:xfrm>
          <a:prstGeom prst="rect">
            <a:avLst/>
          </a:prstGeom>
          <a:noFill/>
          <a:ln/>
        </p:spPr>
        <p:txBody>
          <a:bodyPr wrap="square" lIns="0" tIns="0" rIns="0" bIns="0" rtlCol="0" anchor="t"/>
          <a:lstStyle/>
          <a:p>
            <a:pPr algn="ctr" indent="0" marL="0">
              <a:lnSpc>
                <a:spcPts val="1800"/>
              </a:lnSpc>
              <a:buNone/>
            </a:pPr>
            <a:r>
              <a:rPr lang="en-US" sz="1450" b="1" dirty="0">
                <a:solidFill>
                  <a:srgbClr val="8AC340"/>
                </a:solidFill>
                <a:latin typeface="Unbounded Bold" pitchFamily="34" charset="0"/>
                <a:ea typeface="Unbounded Bold" pitchFamily="34" charset="-122"/>
                <a:cs typeface="Unbounded Bold" pitchFamily="34" charset="-120"/>
              </a:rPr>
              <a:t>PASO A PASO PARA SOLICITAR UN CAMBIO DE CONCEPTOS Y/O BONIFICACIONES</a:t>
            </a:r>
            <a:endParaRPr lang="en-US" sz="1450" dirty="0"/>
          </a:p>
        </p:txBody>
      </p:sp>
      <p:sp>
        <p:nvSpPr>
          <p:cNvPr id="3" name="Text 1"/>
          <p:cNvSpPr/>
          <p:nvPr/>
        </p:nvSpPr>
        <p:spPr>
          <a:xfrm>
            <a:off x="3797022" y="925473"/>
            <a:ext cx="7036237" cy="148114"/>
          </a:xfrm>
          <a:prstGeom prst="rect">
            <a:avLst/>
          </a:prstGeom>
          <a:noFill/>
          <a:ln/>
        </p:spPr>
        <p:txBody>
          <a:bodyPr wrap="none" lIns="0" tIns="0" rIns="0" bIns="0" rtlCol="0" anchor="t"/>
          <a:lstStyle/>
          <a:p>
            <a:pPr algn="l" indent="0" marL="0">
              <a:lnSpc>
                <a:spcPts val="1150"/>
              </a:lnSpc>
              <a:buNone/>
            </a:pPr>
            <a:r>
              <a:rPr lang="en-US" sz="950" dirty="0">
                <a:solidFill>
                  <a:srgbClr val="000000"/>
                </a:solidFill>
                <a:latin typeface="Open Sans" pitchFamily="34" charset="0"/>
                <a:ea typeface="Open Sans" pitchFamily="34" charset="-122"/>
                <a:cs typeface="Open Sans" pitchFamily="34" charset="-120"/>
              </a:rPr>
              <a:t>✅</a:t>
            </a:r>
            <a:pPr algn="l" indent="0" marL="0">
              <a:lnSpc>
                <a:spcPts val="1150"/>
              </a:lnSpc>
              <a:buNone/>
            </a:pPr>
            <a:r>
              <a:rPr lang="en-US" sz="950" b="1" dirty="0">
                <a:solidFill>
                  <a:srgbClr val="3C3939"/>
                </a:solidFill>
                <a:latin typeface="Open Sans" pitchFamily="34" charset="0"/>
                <a:ea typeface="Open Sans" pitchFamily="34" charset="-122"/>
                <a:cs typeface="Open Sans" pitchFamily="34" charset="-120"/>
              </a:rPr>
              <a:t> Si seleccionaste una opción que incluye Cambio de Conceptos y/o Bonificaciones (Ruta 2 o Ruta 3):</a:t>
            </a:r>
            <a:endParaRPr lang="en-US" sz="950" dirty="0"/>
          </a:p>
        </p:txBody>
      </p:sp>
      <p:sp>
        <p:nvSpPr>
          <p:cNvPr id="4" name="Text 2"/>
          <p:cNvSpPr/>
          <p:nvPr/>
        </p:nvSpPr>
        <p:spPr>
          <a:xfrm>
            <a:off x="3797022" y="1143000"/>
            <a:ext cx="7036237" cy="148114"/>
          </a:xfrm>
          <a:prstGeom prst="rect">
            <a:avLst/>
          </a:prstGeom>
          <a:noFill/>
          <a:ln/>
        </p:spPr>
        <p:txBody>
          <a:bodyPr wrap="none" lIns="0" tIns="0" rIns="0" bIns="0" rtlCol="0" anchor="t"/>
          <a:lstStyle/>
          <a:p>
            <a:pPr algn="l" indent="0" marL="0">
              <a:lnSpc>
                <a:spcPts val="1150"/>
              </a:lnSpc>
              <a:buNone/>
            </a:pPr>
            <a:r>
              <a:rPr lang="en-US" sz="950" dirty="0">
                <a:solidFill>
                  <a:srgbClr val="3C3939"/>
                </a:solidFill>
                <a:latin typeface="Open Sans" pitchFamily="34" charset="0"/>
                <a:ea typeface="Open Sans" pitchFamily="34" charset="-122"/>
                <a:cs typeface="Open Sans" pitchFamily="34" charset="-120"/>
              </a:rPr>
              <a:t>Verás un panel específico para gestionar los conceptos y bonificaciones. </a:t>
            </a:r>
            <a:endParaRPr lang="en-US" sz="950" dirty="0"/>
          </a:p>
        </p:txBody>
      </p:sp>
      <p:pic>
        <p:nvPicPr>
          <p:cNvPr id="5" name="Image 0" descr="preencoded.png">    </p:cNvPr>
          <p:cNvPicPr>
            <a:picLocks noChangeAspect="1"/>
          </p:cNvPicPr>
          <p:nvPr/>
        </p:nvPicPr>
        <p:blipFill>
          <a:blip r:embed="rId1"/>
          <a:stretch>
            <a:fillRect/>
          </a:stretch>
        </p:blipFill>
        <p:spPr>
          <a:xfrm>
            <a:off x="3797022" y="1360527"/>
            <a:ext cx="7036237" cy="458153"/>
          </a:xfrm>
          <a:prstGeom prst="rect">
            <a:avLst/>
          </a:prstGeom>
        </p:spPr>
      </p:pic>
      <p:sp>
        <p:nvSpPr>
          <p:cNvPr id="6" name="Text 3"/>
          <p:cNvSpPr/>
          <p:nvPr/>
        </p:nvSpPr>
        <p:spPr>
          <a:xfrm>
            <a:off x="3797022" y="1888093"/>
            <a:ext cx="7036237" cy="148114"/>
          </a:xfrm>
          <a:prstGeom prst="rect">
            <a:avLst/>
          </a:prstGeom>
          <a:noFill/>
          <a:ln/>
        </p:spPr>
        <p:txBody>
          <a:bodyPr wrap="none" lIns="0" tIns="0" rIns="0" bIns="0" rtlCol="0" anchor="t"/>
          <a:lstStyle/>
          <a:p>
            <a:pPr algn="l" indent="0" marL="0">
              <a:lnSpc>
                <a:spcPts val="1150"/>
              </a:lnSpc>
              <a:buNone/>
            </a:pPr>
            <a:r>
              <a:rPr lang="en-US" sz="950" dirty="0">
                <a:solidFill>
                  <a:srgbClr val="3C3939"/>
                </a:solidFill>
                <a:latin typeface="Open Sans" pitchFamily="34" charset="0"/>
                <a:ea typeface="Open Sans" pitchFamily="34" charset="-122"/>
                <a:cs typeface="Open Sans" pitchFamily="34" charset="-120"/>
              </a:rPr>
              <a:t>Aquí, el proceso es el siguiente:</a:t>
            </a:r>
            <a:endParaRPr lang="en-US" sz="950" dirty="0"/>
          </a:p>
        </p:txBody>
      </p:sp>
      <p:sp>
        <p:nvSpPr>
          <p:cNvPr id="7" name="Text 4"/>
          <p:cNvSpPr/>
          <p:nvPr/>
        </p:nvSpPr>
        <p:spPr>
          <a:xfrm>
            <a:off x="3797022" y="2105620"/>
            <a:ext cx="7036237" cy="296228"/>
          </a:xfrm>
          <a:prstGeom prst="rect">
            <a:avLst/>
          </a:prstGeom>
          <a:noFill/>
          <a:ln/>
        </p:spPr>
        <p:txBody>
          <a:bodyPr wrap="square" lIns="0" tIns="0" rIns="0" bIns="0" rtlCol="0" anchor="t"/>
          <a:lstStyle/>
          <a:p>
            <a:pPr algn="l" marL="342900" indent="-342900">
              <a:lnSpc>
                <a:spcPts val="1150"/>
              </a:lnSpc>
              <a:buSzPct val="100000"/>
              <a:buChar char="•"/>
            </a:pPr>
            <a:r>
              <a:rPr lang="en-US" sz="950" b="1" dirty="0">
                <a:solidFill>
                  <a:srgbClr val="3C3939"/>
                </a:solidFill>
                <a:latin typeface="Open Sans" pitchFamily="34" charset="0"/>
                <a:ea typeface="Open Sans" pitchFamily="34" charset="-122"/>
                <a:cs typeface="Open Sans" pitchFamily="34" charset="-120"/>
              </a:rPr>
              <a:t>Selecciona el Concepto:</a:t>
            </a:r>
            <a:pPr algn="l" indent="0" marL="0">
              <a:lnSpc>
                <a:spcPts val="1150"/>
              </a:lnSpc>
              <a:buNone/>
            </a:pPr>
            <a:r>
              <a:rPr lang="en-US" sz="950" dirty="0">
                <a:solidFill>
                  <a:srgbClr val="3C3939"/>
                </a:solidFill>
                <a:latin typeface="Open Sans" pitchFamily="34" charset="0"/>
                <a:ea typeface="Open Sans" pitchFamily="34" charset="-122"/>
                <a:cs typeface="Open Sans" pitchFamily="34" charset="-120"/>
              </a:rPr>
              <a:t> Utiliza la lista desplegable para elegir el concepto o bonificación específico que deseas modificar (ya sea para aumentar, disminuir, eliminar o agregar uno nuevo). Verás la selección reflejada así:</a:t>
            </a:r>
            <a:endParaRPr lang="en-US" sz="950" dirty="0"/>
          </a:p>
        </p:txBody>
      </p:sp>
      <p:pic>
        <p:nvPicPr>
          <p:cNvPr id="8" name="Image 1" descr="preencoded.png">    </p:cNvPr>
          <p:cNvPicPr>
            <a:picLocks noChangeAspect="1"/>
          </p:cNvPicPr>
          <p:nvPr/>
        </p:nvPicPr>
        <p:blipFill>
          <a:blip r:embed="rId2"/>
          <a:stretch>
            <a:fillRect/>
          </a:stretch>
        </p:blipFill>
        <p:spPr>
          <a:xfrm>
            <a:off x="3797022" y="2471261"/>
            <a:ext cx="7036237" cy="2002869"/>
          </a:xfrm>
          <a:prstGeom prst="rect">
            <a:avLst/>
          </a:prstGeom>
        </p:spPr>
      </p:pic>
      <p:sp>
        <p:nvSpPr>
          <p:cNvPr id="9" name="Text 5"/>
          <p:cNvSpPr/>
          <p:nvPr/>
        </p:nvSpPr>
        <p:spPr>
          <a:xfrm>
            <a:off x="3797022" y="4543544"/>
            <a:ext cx="7036237" cy="740569"/>
          </a:xfrm>
          <a:prstGeom prst="rect">
            <a:avLst/>
          </a:prstGeom>
          <a:noFill/>
          <a:ln/>
        </p:spPr>
        <p:txBody>
          <a:bodyPr wrap="square" lIns="0" tIns="0" rIns="0" bIns="0" rtlCol="0" anchor="t"/>
          <a:lstStyle/>
          <a:p>
            <a:pPr algn="l" marL="342900" indent="-342900">
              <a:lnSpc>
                <a:spcPts val="1150"/>
              </a:lnSpc>
              <a:buSzPct val="100000"/>
              <a:buChar char="•"/>
            </a:pPr>
            <a:r>
              <a:rPr lang="en-US" sz="950" b="1" dirty="0">
                <a:solidFill>
                  <a:srgbClr val="3C3939"/>
                </a:solidFill>
                <a:latin typeface="Open Sans" pitchFamily="34" charset="0"/>
                <a:ea typeface="Open Sans" pitchFamily="34" charset="-122"/>
                <a:cs typeface="Open Sans" pitchFamily="34" charset="-120"/>
              </a:rPr>
              <a:t>Completa los Campos del Concepto:</a:t>
            </a:r>
            <a:pPr algn="l" indent="0" marL="0">
              <a:lnSpc>
                <a:spcPts val="1150"/>
              </a:lnSpc>
              <a:buNone/>
            </a:pPr>
            <a:r>
              <a:rPr lang="en-US" sz="950" dirty="0">
                <a:solidFill>
                  <a:srgbClr val="3C3939"/>
                </a:solidFill>
                <a:latin typeface="Open Sans" pitchFamily="34" charset="0"/>
                <a:ea typeface="Open Sans" pitchFamily="34" charset="-122"/>
                <a:cs typeface="Open Sans" pitchFamily="34" charset="-120"/>
              </a:rPr>
              <a:t> Dependiendo del concepto que elegiste, aparecerán campos específicos que debes llenar. Estos campos son </a:t>
            </a:r>
            <a:pPr algn="l" indent="0" marL="0">
              <a:lnSpc>
                <a:spcPts val="1150"/>
              </a:lnSpc>
              <a:buNone/>
            </a:pPr>
            <a:r>
              <a:rPr lang="en-US" sz="950" b="1" dirty="0">
                <a:solidFill>
                  <a:srgbClr val="3C3939"/>
                </a:solidFill>
                <a:latin typeface="Open Sans" pitchFamily="34" charset="0"/>
                <a:ea typeface="Open Sans" pitchFamily="34" charset="-122"/>
                <a:cs typeface="Open Sans" pitchFamily="34" charset="-120"/>
              </a:rPr>
              <a:t>intuitivos</a:t>
            </a:r>
            <a:pPr algn="l" indent="0" marL="0">
              <a:lnSpc>
                <a:spcPts val="1150"/>
              </a:lnSpc>
              <a:buNone/>
            </a:pPr>
            <a:r>
              <a:rPr lang="en-US" sz="950" dirty="0">
                <a:solidFill>
                  <a:srgbClr val="3C3939"/>
                </a:solidFill>
                <a:latin typeface="Open Sans" pitchFamily="34" charset="0"/>
                <a:ea typeface="Open Sans" pitchFamily="34" charset="-122"/>
                <a:cs typeface="Open Sans" pitchFamily="34" charset="-120"/>
              </a:rPr>
              <a:t> y se adaptan al tipo de concepto. Lo primero que debes ingresar es la </a:t>
            </a:r>
            <a:pPr algn="l" indent="0" marL="0">
              <a:lnSpc>
                <a:spcPts val="1150"/>
              </a:lnSpc>
              <a:buNone/>
            </a:pPr>
            <a:r>
              <a:rPr lang="en-US" sz="950" b="1" dirty="0">
                <a:solidFill>
                  <a:srgbClr val="3C3939"/>
                </a:solidFill>
                <a:latin typeface="Open Sans" pitchFamily="34" charset="0"/>
                <a:ea typeface="Open Sans" pitchFamily="34" charset="-122"/>
                <a:cs typeface="Open Sans" pitchFamily="34" charset="-120"/>
              </a:rPr>
              <a:t>Fecha de Cambio</a:t>
            </a:r>
            <a:pPr algn="l" indent="0" marL="0">
              <a:lnSpc>
                <a:spcPts val="1150"/>
              </a:lnSpc>
              <a:buNone/>
            </a:pPr>
            <a:r>
              <a:rPr lang="en-US" sz="950" dirty="0">
                <a:solidFill>
                  <a:srgbClr val="3C3939"/>
                </a:solidFill>
                <a:latin typeface="Open Sans" pitchFamily="34" charset="0"/>
                <a:ea typeface="Open Sans" pitchFamily="34" charset="-122"/>
                <a:cs typeface="Open Sans" pitchFamily="34" charset="-120"/>
              </a:rPr>
              <a:t> para ese concepto, que es la fecha exacta a partir de la cual aplica la modificación (Ejemplo: Si agregas un bono de alimentación desde el 5 de junio, esa es la fecha a relacionar). Si hay algún dato incorrecto, el sistema te avisará con una alerta al intentar generar la novedad para que lo corrijas. La información ingresada se verá así:</a:t>
            </a:r>
            <a:endParaRPr lang="en-US" sz="950" dirty="0"/>
          </a:p>
        </p:txBody>
      </p:sp>
      <p:pic>
        <p:nvPicPr>
          <p:cNvPr id="10" name="Image 2" descr="preencoded.png">    </p:cNvPr>
          <p:cNvPicPr>
            <a:picLocks noChangeAspect="1"/>
          </p:cNvPicPr>
          <p:nvPr/>
        </p:nvPicPr>
        <p:blipFill>
          <a:blip r:embed="rId3"/>
          <a:stretch>
            <a:fillRect/>
          </a:stretch>
        </p:blipFill>
        <p:spPr>
          <a:xfrm>
            <a:off x="3797022" y="5353526"/>
            <a:ext cx="7036237" cy="892016"/>
          </a:xfrm>
          <a:prstGeom prst="rect">
            <a:avLst/>
          </a:prstGeom>
        </p:spPr>
      </p:pic>
      <p:sp>
        <p:nvSpPr>
          <p:cNvPr id="11" name="Text 6"/>
          <p:cNvSpPr/>
          <p:nvPr/>
        </p:nvSpPr>
        <p:spPr>
          <a:xfrm>
            <a:off x="3797022" y="6314956"/>
            <a:ext cx="7036237" cy="592455"/>
          </a:xfrm>
          <a:prstGeom prst="rect">
            <a:avLst/>
          </a:prstGeom>
          <a:noFill/>
          <a:ln/>
        </p:spPr>
        <p:txBody>
          <a:bodyPr wrap="square" lIns="0" tIns="0" rIns="0" bIns="0" rtlCol="0" anchor="t"/>
          <a:lstStyle/>
          <a:p>
            <a:pPr algn="l" marL="342900" indent="-342900">
              <a:lnSpc>
                <a:spcPts val="1150"/>
              </a:lnSpc>
              <a:buSzPct val="100000"/>
              <a:buChar char="•"/>
            </a:pPr>
            <a:r>
              <a:rPr lang="en-US" sz="950" b="1" dirty="0">
                <a:solidFill>
                  <a:srgbClr val="3C3939"/>
                </a:solidFill>
                <a:latin typeface="Open Sans" pitchFamily="34" charset="0"/>
                <a:ea typeface="Open Sans" pitchFamily="34" charset="-122"/>
                <a:cs typeface="Open Sans" pitchFamily="34" charset="-120"/>
              </a:rPr>
              <a:t>Adjunta los Documentos de Soporte:</a:t>
            </a:r>
            <a:pPr algn="l" indent="0" marL="0">
              <a:lnSpc>
                <a:spcPts val="1150"/>
              </a:lnSpc>
              <a:buNone/>
            </a:pPr>
            <a:r>
              <a:rPr lang="en-US" sz="950" dirty="0">
                <a:solidFill>
                  <a:srgbClr val="3C3939"/>
                </a:solidFill>
                <a:latin typeface="Open Sans" pitchFamily="34" charset="0"/>
                <a:ea typeface="Open Sans" pitchFamily="34" charset="-122"/>
                <a:cs typeface="Open Sans" pitchFamily="34" charset="-120"/>
              </a:rPr>
              <a:t> Dependiendo del concepto seleccionado, en la parte inferior del panel se indicará si se requieren documentos adjuntos (como soportes de planilla de ejecución, novedades de facturación, informativas, autorizaciones, etc.). </a:t>
            </a:r>
            <a:pPr algn="l" indent="0" marL="0">
              <a:lnSpc>
                <a:spcPts val="1150"/>
              </a:lnSpc>
              <a:buNone/>
            </a:pPr>
            <a:r>
              <a:rPr lang="en-US" sz="950" b="1" dirty="0">
                <a:solidFill>
                  <a:srgbClr val="3C3939"/>
                </a:solidFill>
                <a:latin typeface="Open Sans" pitchFamily="34" charset="0"/>
                <a:ea typeface="Open Sans" pitchFamily="34" charset="-122"/>
                <a:cs typeface="Open Sans" pitchFamily="34" charset="-120"/>
              </a:rPr>
              <a:t>Todo cambio de concepto requiere un soporte</a:t>
            </a:r>
            <a:pPr algn="l" indent="0" marL="0">
              <a:lnSpc>
                <a:spcPts val="1150"/>
              </a:lnSpc>
              <a:buNone/>
            </a:pPr>
            <a:r>
              <a:rPr lang="en-US" sz="950" dirty="0">
                <a:solidFill>
                  <a:srgbClr val="3C3939"/>
                </a:solidFill>
                <a:latin typeface="Open Sans" pitchFamily="34" charset="0"/>
                <a:ea typeface="Open Sans" pitchFamily="34" charset="-122"/>
                <a:cs typeface="Open Sans" pitchFamily="34" charset="-120"/>
              </a:rPr>
              <a:t>, el cual debes tener listo previamente. Para adjuntarlo:</a:t>
            </a:r>
            <a:endParaRPr lang="en-US" sz="950" dirty="0"/>
          </a:p>
        </p:txBody>
      </p:sp>
      <p:sp>
        <p:nvSpPr>
          <p:cNvPr id="12" name="Text 7"/>
          <p:cNvSpPr/>
          <p:nvPr/>
        </p:nvSpPr>
        <p:spPr>
          <a:xfrm>
            <a:off x="3797022" y="6928961"/>
            <a:ext cx="7036237" cy="783669"/>
          </a:xfrm>
          <a:prstGeom prst="rect">
            <a:avLst/>
          </a:prstGeom>
          <a:noFill/>
          <a:ln/>
        </p:spPr>
        <p:txBody>
          <a:bodyPr wrap="square" lIns="0" tIns="0" rIns="0" bIns="0" rtlCol="0" anchor="t"/>
          <a:lstStyle/>
          <a:p>
            <a:pPr algn="l" lvl="2" marL="1028700" indent="-342900">
              <a:lnSpc>
                <a:spcPts val="1150"/>
              </a:lnSpc>
              <a:buSzPct val="100000"/>
              <a:buFont typeface="+mj-lt"/>
              <a:buAutoNum type="romanLcPeriod" startAt="1"/>
            </a:pPr>
            <a:r>
              <a:rPr lang="en-US" sz="950" dirty="0">
                <a:solidFill>
                  <a:srgbClr val="3C3939"/>
                </a:solidFill>
                <a:latin typeface="Open Sans" pitchFamily="34" charset="0"/>
                <a:ea typeface="Open Sans" pitchFamily="34" charset="-122"/>
                <a:cs typeface="Open Sans" pitchFamily="34" charset="-120"/>
              </a:rPr>
              <a:t>Haz click en el botón </a:t>
            </a:r>
            <a:pPr algn="l" indent="0" marL="0">
              <a:lnSpc>
                <a:spcPts val="1150"/>
              </a:lnSpc>
              <a:buNone/>
            </a:pPr>
            <a:r>
              <a:rPr lang="en-US" sz="950" b="1" dirty="0">
                <a:solidFill>
                  <a:srgbClr val="3C3939"/>
                </a:solidFill>
                <a:latin typeface="Open Sans" pitchFamily="34" charset="0"/>
                <a:ea typeface="Open Sans" pitchFamily="34" charset="-122"/>
                <a:cs typeface="Open Sans" pitchFamily="34" charset="-120"/>
              </a:rPr>
              <a:t>'Escoger'</a:t>
            </a:r>
            <a:pPr algn="l" indent="0" marL="0">
              <a:lnSpc>
                <a:spcPts val="1150"/>
              </a:lnSpc>
              <a:buNone/>
            </a:pPr>
            <a:r>
              <a:rPr lang="en-US" sz="950" dirty="0">
                <a:solidFill>
                  <a:srgbClr val="3C3939"/>
                </a:solidFill>
                <a:latin typeface="Open Sans" pitchFamily="34" charset="0"/>
                <a:ea typeface="Open Sans" pitchFamily="34" charset="-122"/>
                <a:cs typeface="Open Sans" pitchFamily="34" charset="-120"/>
              </a:rPr>
              <a:t> para buscar el archivo(s) en tu computador.</a:t>
            </a:r>
            <a:endParaRPr lang="en-US" sz="950" dirty="0"/>
          </a:p>
          <a:p>
            <a:pPr algn="l" lvl="2" marL="1028700" indent="-342900">
              <a:lnSpc>
                <a:spcPts val="1150"/>
              </a:lnSpc>
              <a:buSzPct val="100000"/>
              <a:buFont typeface="+mj-lt"/>
              <a:buAutoNum type="romanLcPeriod" startAt="2"/>
            </a:pPr>
            <a:r>
              <a:rPr lang="en-US" sz="950" dirty="0">
                <a:solidFill>
                  <a:srgbClr val="3C3939"/>
                </a:solidFill>
                <a:latin typeface="Open Sans" pitchFamily="34" charset="0"/>
                <a:ea typeface="Open Sans" pitchFamily="34" charset="-122"/>
                <a:cs typeface="Open Sans" pitchFamily="34" charset="-120"/>
              </a:rPr>
              <a:t>Selecciona el(los) documento(s) necesario(s) y confirma tu selección en la ventana que se abra (ej: haciendo click en 'Abrir' o 'Guardar' en el explorador de archivos).</a:t>
            </a:r>
            <a:endParaRPr lang="en-US" sz="950" dirty="0"/>
          </a:p>
          <a:p>
            <a:pPr algn="l" lvl="2" marL="1028700" indent="-342900">
              <a:lnSpc>
                <a:spcPts val="1150"/>
              </a:lnSpc>
              <a:buSzPct val="100000"/>
              <a:buFont typeface="+mj-lt"/>
              <a:buAutoNum type="romanLcPeriod" startAt="3"/>
            </a:pPr>
            <a:r>
              <a:rPr lang="en-US" sz="950" dirty="0">
                <a:solidFill>
                  <a:srgbClr val="3C3939"/>
                </a:solidFill>
                <a:latin typeface="Open Sans" pitchFamily="34" charset="0"/>
                <a:ea typeface="Open Sans" pitchFamily="34" charset="-122"/>
                <a:cs typeface="Open Sans" pitchFamily="34" charset="-120"/>
              </a:rPr>
              <a:t>Luego, en el panel del aplicativo, haz click en el botón </a:t>
            </a:r>
            <a:pPr algn="l" indent="0" marL="0">
              <a:lnSpc>
                <a:spcPts val="1150"/>
              </a:lnSpc>
              <a:buNone/>
            </a:pPr>
            <a:r>
              <a:rPr lang="en-US" sz="950" b="1" dirty="0">
                <a:solidFill>
                  <a:srgbClr val="3C3939"/>
                </a:solidFill>
                <a:latin typeface="Open Sans" pitchFamily="34" charset="0"/>
                <a:ea typeface="Open Sans" pitchFamily="34" charset="-122"/>
                <a:cs typeface="Open Sans" pitchFamily="34" charset="-120"/>
              </a:rPr>
              <a:t>'Subir'</a:t>
            </a:r>
            <a:pPr algn="l" indent="0" marL="0">
              <a:lnSpc>
                <a:spcPts val="1150"/>
              </a:lnSpc>
              <a:buNone/>
            </a:pPr>
            <a:r>
              <a:rPr lang="en-US" sz="950" dirty="0">
                <a:solidFill>
                  <a:srgbClr val="3C3939"/>
                </a:solidFill>
                <a:latin typeface="Open Sans" pitchFamily="34" charset="0"/>
                <a:ea typeface="Open Sans" pitchFamily="34" charset="-122"/>
                <a:cs typeface="Open Sans" pitchFamily="34" charset="-120"/>
              </a:rPr>
              <a:t> para adjuntar el(los) documento(s) a la novedad. Una vez adjunto, se verá:</a:t>
            </a:r>
            <a:endParaRPr lang="en-US" sz="950" dirty="0"/>
          </a:p>
        </p:txBody>
      </p:sp>
      <p:pic>
        <p:nvPicPr>
          <p:cNvPr id="13" name="Image 3" descr="preencoded.png">    </p:cNvPr>
          <p:cNvPicPr>
            <a:picLocks noChangeAspect="1"/>
          </p:cNvPicPr>
          <p:nvPr/>
        </p:nvPicPr>
        <p:blipFill>
          <a:blip r:embed="rId4"/>
          <a:stretch>
            <a:fillRect/>
          </a:stretch>
        </p:blipFill>
        <p:spPr>
          <a:xfrm>
            <a:off x="3797022" y="7782044"/>
            <a:ext cx="7036237" cy="1099185"/>
          </a:xfrm>
          <a:prstGeom prst="rect">
            <a:avLst/>
          </a:prstGeom>
        </p:spPr>
      </p:pic>
      <p:sp>
        <p:nvSpPr>
          <p:cNvPr id="14" name="Text 8"/>
          <p:cNvSpPr/>
          <p:nvPr/>
        </p:nvSpPr>
        <p:spPr>
          <a:xfrm>
            <a:off x="3797022" y="8950643"/>
            <a:ext cx="7036237" cy="296228"/>
          </a:xfrm>
          <a:prstGeom prst="rect">
            <a:avLst/>
          </a:prstGeom>
          <a:noFill/>
          <a:ln/>
        </p:spPr>
        <p:txBody>
          <a:bodyPr wrap="square" lIns="0" tIns="0" rIns="0" bIns="0" rtlCol="0" anchor="t"/>
          <a:lstStyle/>
          <a:p>
            <a:pPr algn="l" marL="342900" indent="-342900">
              <a:lnSpc>
                <a:spcPts val="1150"/>
              </a:lnSpc>
              <a:buSzPct val="100000"/>
              <a:buChar char="•"/>
            </a:pPr>
            <a:r>
              <a:rPr lang="en-US" sz="950" b="1" dirty="0">
                <a:solidFill>
                  <a:srgbClr val="3C3939"/>
                </a:solidFill>
                <a:latin typeface="Open Sans" pitchFamily="34" charset="0"/>
                <a:ea typeface="Open Sans" pitchFamily="34" charset="-122"/>
                <a:cs typeface="Open Sans" pitchFamily="34" charset="-120"/>
              </a:rPr>
              <a:t>Adiciona el Cambio de Concepto:</a:t>
            </a:r>
            <a:pPr algn="l" indent="0" marL="0">
              <a:lnSpc>
                <a:spcPts val="1150"/>
              </a:lnSpc>
              <a:buNone/>
            </a:pPr>
            <a:r>
              <a:rPr lang="en-US" sz="950" dirty="0">
                <a:solidFill>
                  <a:srgbClr val="3C3939"/>
                </a:solidFill>
                <a:latin typeface="Open Sans" pitchFamily="34" charset="0"/>
                <a:ea typeface="Open Sans" pitchFamily="34" charset="-122"/>
                <a:cs typeface="Open Sans" pitchFamily="34" charset="-120"/>
              </a:rPr>
              <a:t> Después de completar los campos y adjuntar los soportes para </a:t>
            </a:r>
            <a:pPr algn="l" indent="0" marL="0">
              <a:lnSpc>
                <a:spcPts val="1150"/>
              </a:lnSpc>
              <a:buNone/>
            </a:pPr>
            <a:r>
              <a:rPr lang="en-US" sz="950" b="1" dirty="0">
                <a:solidFill>
                  <a:srgbClr val="3C3939"/>
                </a:solidFill>
                <a:latin typeface="Open Sans" pitchFamily="34" charset="0"/>
                <a:ea typeface="Open Sans" pitchFamily="34" charset="-122"/>
                <a:cs typeface="Open Sans" pitchFamily="34" charset="-120"/>
              </a:rPr>
              <a:t>un</a:t>
            </a:r>
            <a:pPr algn="l" indent="0" marL="0">
              <a:lnSpc>
                <a:spcPts val="1150"/>
              </a:lnSpc>
              <a:buNone/>
            </a:pPr>
            <a:r>
              <a:rPr lang="en-US" sz="950" dirty="0">
                <a:solidFill>
                  <a:srgbClr val="3C3939"/>
                </a:solidFill>
                <a:latin typeface="Open Sans" pitchFamily="34" charset="0"/>
                <a:ea typeface="Open Sans" pitchFamily="34" charset="-122"/>
                <a:cs typeface="Open Sans" pitchFamily="34" charset="-120"/>
              </a:rPr>
              <a:t> concepto, haz click en el botón </a:t>
            </a:r>
            <a:pPr algn="l" indent="0" marL="0">
              <a:lnSpc>
                <a:spcPts val="1150"/>
              </a:lnSpc>
              <a:buNone/>
            </a:pPr>
            <a:r>
              <a:rPr lang="en-US" sz="950" b="1" dirty="0">
                <a:solidFill>
                  <a:srgbClr val="3C3939"/>
                </a:solidFill>
                <a:latin typeface="Open Sans" pitchFamily="34" charset="0"/>
                <a:ea typeface="Open Sans" pitchFamily="34" charset="-122"/>
                <a:cs typeface="Open Sans" pitchFamily="34" charset="-120"/>
              </a:rPr>
              <a:t>'Agregar'</a:t>
            </a:r>
            <a:pPr algn="l" indent="0" marL="0">
              <a:lnSpc>
                <a:spcPts val="1150"/>
              </a:lnSpc>
              <a:buNone/>
            </a:pPr>
            <a:r>
              <a:rPr lang="en-US" sz="950" dirty="0">
                <a:solidFill>
                  <a:srgbClr val="3C3939"/>
                </a:solidFill>
                <a:latin typeface="Open Sans" pitchFamily="34" charset="0"/>
                <a:ea typeface="Open Sans" pitchFamily="34" charset="-122"/>
                <a:cs typeface="Open Sans" pitchFamily="34" charset="-120"/>
              </a:rPr>
              <a:t>. Esto añade ese cambio de concepto específico a la lista de novedades para esta persona.</a:t>
            </a:r>
            <a:endParaRPr lang="en-US" sz="950" dirty="0"/>
          </a:p>
        </p:txBody>
      </p:sp>
      <p:pic>
        <p:nvPicPr>
          <p:cNvPr id="15" name="Image 4" descr="preencoded.png">    </p:cNvPr>
          <p:cNvPicPr>
            <a:picLocks noChangeAspect="1"/>
          </p:cNvPicPr>
          <p:nvPr/>
        </p:nvPicPr>
        <p:blipFill>
          <a:blip r:embed="rId5"/>
          <a:stretch>
            <a:fillRect/>
          </a:stretch>
        </p:blipFill>
        <p:spPr>
          <a:xfrm>
            <a:off x="3797022" y="9316283"/>
            <a:ext cx="7036237" cy="687110"/>
          </a:xfrm>
          <a:prstGeom prst="rect">
            <a:avLst/>
          </a:prstGeom>
        </p:spPr>
      </p:pic>
      <p:sp>
        <p:nvSpPr>
          <p:cNvPr id="16" name="Text 9"/>
          <p:cNvSpPr/>
          <p:nvPr/>
        </p:nvSpPr>
        <p:spPr>
          <a:xfrm>
            <a:off x="3797022" y="10072807"/>
            <a:ext cx="7036237" cy="296228"/>
          </a:xfrm>
          <a:prstGeom prst="rect">
            <a:avLst/>
          </a:prstGeom>
          <a:noFill/>
          <a:ln/>
        </p:spPr>
        <p:txBody>
          <a:bodyPr wrap="square" lIns="0" tIns="0" rIns="0" bIns="0" rtlCol="0" anchor="t"/>
          <a:lstStyle/>
          <a:p>
            <a:pPr algn="l" marL="342900" indent="-342900">
              <a:lnSpc>
                <a:spcPts val="1150"/>
              </a:lnSpc>
              <a:buSzPct val="100000"/>
              <a:buChar char="•"/>
            </a:pPr>
            <a:r>
              <a:rPr lang="en-US" sz="950" dirty="0">
                <a:solidFill>
                  <a:srgbClr val="3C3939"/>
                </a:solidFill>
                <a:latin typeface="Open Sans" pitchFamily="34" charset="0"/>
                <a:ea typeface="Open Sans" pitchFamily="34" charset="-122"/>
                <a:cs typeface="Open Sans" pitchFamily="34" charset="-120"/>
              </a:rPr>
              <a:t> Si necesitas agregar </a:t>
            </a:r>
            <a:pPr algn="l" indent="0" marL="0">
              <a:lnSpc>
                <a:spcPts val="1150"/>
              </a:lnSpc>
              <a:buNone/>
            </a:pPr>
            <a:r>
              <a:rPr lang="en-US" sz="950" b="1" dirty="0">
                <a:solidFill>
                  <a:srgbClr val="3C3939"/>
                </a:solidFill>
                <a:latin typeface="Open Sans" pitchFamily="34" charset="0"/>
                <a:ea typeface="Open Sans" pitchFamily="34" charset="-122"/>
                <a:cs typeface="Open Sans" pitchFamily="34" charset="-120"/>
              </a:rPr>
              <a:t>otros</a:t>
            </a:r>
            <a:pPr algn="l" indent="0" marL="0">
              <a:lnSpc>
                <a:spcPts val="1150"/>
              </a:lnSpc>
              <a:buNone/>
            </a:pPr>
            <a:r>
              <a:rPr lang="en-US" sz="950" dirty="0">
                <a:solidFill>
                  <a:srgbClr val="3C3939"/>
                </a:solidFill>
                <a:latin typeface="Open Sans" pitchFamily="34" charset="0"/>
                <a:ea typeface="Open Sans" pitchFamily="34" charset="-122"/>
                <a:cs typeface="Open Sans" pitchFamily="34" charset="-120"/>
              </a:rPr>
              <a:t> conceptos, repite los pasos de seleccionar concepto, llenar campos, adjuntar soporte y hacer click en '</a:t>
            </a:r>
            <a:pPr algn="l" indent="0" marL="0">
              <a:lnSpc>
                <a:spcPts val="1150"/>
              </a:lnSpc>
              <a:buNone/>
            </a:pPr>
            <a:r>
              <a:rPr lang="en-US" sz="950" b="1" dirty="0">
                <a:solidFill>
                  <a:srgbClr val="3C3939"/>
                </a:solidFill>
                <a:latin typeface="Open Sans" pitchFamily="34" charset="0"/>
                <a:ea typeface="Open Sans" pitchFamily="34" charset="-122"/>
                <a:cs typeface="Open Sans" pitchFamily="34" charset="-120"/>
              </a:rPr>
              <a:t>Agregar</a:t>
            </a:r>
            <a:pPr algn="l" indent="0" marL="0">
              <a:lnSpc>
                <a:spcPts val="1150"/>
              </a:lnSpc>
              <a:buNone/>
            </a:pPr>
            <a:r>
              <a:rPr lang="en-US" sz="950" dirty="0">
                <a:solidFill>
                  <a:srgbClr val="3C3939"/>
                </a:solidFill>
                <a:latin typeface="Open Sans" pitchFamily="34" charset="0"/>
                <a:ea typeface="Open Sans" pitchFamily="34" charset="-122"/>
                <a:cs typeface="Open Sans" pitchFamily="34" charset="-120"/>
              </a:rPr>
              <a:t>' para cada uno.</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3507938" y="1211818"/>
            <a:ext cx="7614404" cy="842486"/>
          </a:xfrm>
          <a:prstGeom prst="rect">
            <a:avLst/>
          </a:prstGeom>
          <a:noFill/>
          <a:ln/>
        </p:spPr>
        <p:txBody>
          <a:bodyPr wrap="square" lIns="0" tIns="0" rIns="0" bIns="0" rtlCol="0" anchor="t"/>
          <a:lstStyle/>
          <a:p>
            <a:pPr algn="l" indent="0" marL="0">
              <a:lnSpc>
                <a:spcPts val="3250"/>
              </a:lnSpc>
              <a:buNone/>
            </a:pPr>
            <a:r>
              <a:rPr lang="en-US" sz="2600" b="1" dirty="0">
                <a:solidFill>
                  <a:srgbClr val="000000"/>
                </a:solidFill>
                <a:latin typeface="Unbounded Bold" pitchFamily="34" charset="0"/>
                <a:ea typeface="Unbounded Bold" pitchFamily="34" charset="-122"/>
                <a:cs typeface="Unbounded Bold" pitchFamily="34" charset="-120"/>
              </a:rPr>
              <a:t>📝</a:t>
            </a:r>
            <a:pPr algn="l" indent="0" marL="0">
              <a:lnSpc>
                <a:spcPts val="3250"/>
              </a:lnSpc>
              <a:buNone/>
            </a:pPr>
            <a:r>
              <a:rPr lang="en-US" sz="2600" b="1" dirty="0">
                <a:solidFill>
                  <a:srgbClr val="098CD2"/>
                </a:solidFill>
                <a:latin typeface="Unbounded Bold" pitchFamily="34" charset="0"/>
                <a:ea typeface="Unbounded Bold" pitchFamily="34" charset="-122"/>
                <a:cs typeface="Unbounded Bold" pitchFamily="34" charset="-120"/>
              </a:rPr>
              <a:t> OBSERVACIONES, REVISIÓN Y REGISTRO FINAL:</a:t>
            </a:r>
            <a:endParaRPr lang="en-US" sz="2600" dirty="0"/>
          </a:p>
        </p:txBody>
      </p:sp>
      <p:sp>
        <p:nvSpPr>
          <p:cNvPr id="3" name="Text 1"/>
          <p:cNvSpPr/>
          <p:nvPr/>
        </p:nvSpPr>
        <p:spPr>
          <a:xfrm>
            <a:off x="3507938" y="2198846"/>
            <a:ext cx="7614404" cy="329327"/>
          </a:xfrm>
          <a:prstGeom prst="rect">
            <a:avLst/>
          </a:prstGeom>
          <a:noFill/>
          <a:ln/>
        </p:spPr>
        <p:txBody>
          <a:bodyPr wrap="square" lIns="0" tIns="0" rIns="0" bIns="0" rtlCol="0" anchor="t"/>
          <a:lstStyle/>
          <a:p>
            <a:pPr algn="l" indent="0" marL="0">
              <a:lnSpc>
                <a:spcPts val="1250"/>
              </a:lnSpc>
              <a:buNone/>
            </a:pPr>
            <a:r>
              <a:rPr lang="en-US" sz="1050" dirty="0">
                <a:solidFill>
                  <a:srgbClr val="3C3939"/>
                </a:solidFill>
                <a:latin typeface="Open Sans" pitchFamily="34" charset="0"/>
                <a:ea typeface="Open Sans" pitchFamily="34" charset="-122"/>
                <a:cs typeface="Open Sans" pitchFamily="34" charset="-120"/>
              </a:rPr>
              <a:t>Una vez que hayas añadido todos los cambios necesarios (tanto de centro de costos como de conceptos y/o bonificaciones, si aplicaron), dirígete al final de la página.</a:t>
            </a:r>
            <a:endParaRPr lang="en-US" sz="1050" dirty="0"/>
          </a:p>
        </p:txBody>
      </p:sp>
      <p:sp>
        <p:nvSpPr>
          <p:cNvPr id="4" name="Text 2"/>
          <p:cNvSpPr/>
          <p:nvPr/>
        </p:nvSpPr>
        <p:spPr>
          <a:xfrm>
            <a:off x="3507938" y="2609374"/>
            <a:ext cx="7614404" cy="329327"/>
          </a:xfrm>
          <a:prstGeom prst="rect">
            <a:avLst/>
          </a:prstGeom>
          <a:noFill/>
          <a:ln/>
        </p:spPr>
        <p:txBody>
          <a:bodyPr wrap="square" lIns="0" tIns="0" rIns="0" bIns="0" rtlCol="0" anchor="t"/>
          <a:lstStyle/>
          <a:p>
            <a:pPr algn="l" marL="342900" indent="-342900">
              <a:lnSpc>
                <a:spcPts val="1250"/>
              </a:lnSpc>
              <a:buSzPct val="100000"/>
              <a:buChar char="•"/>
            </a:pPr>
            <a:r>
              <a:rPr lang="en-US" sz="1050" b="1" dirty="0">
                <a:solidFill>
                  <a:srgbClr val="3C3939"/>
                </a:solidFill>
                <a:latin typeface="Open Sans" pitchFamily="34" charset="0"/>
                <a:ea typeface="Open Sans" pitchFamily="34" charset="-122"/>
                <a:cs typeface="Open Sans" pitchFamily="34" charset="-120"/>
              </a:rPr>
              <a:t>Campo 'Motivo':</a:t>
            </a:r>
            <a:pPr algn="l" indent="0" marL="0">
              <a:lnSpc>
                <a:spcPts val="1250"/>
              </a:lnSpc>
              <a:buNone/>
            </a:pPr>
            <a:r>
              <a:rPr lang="en-US" sz="1050" dirty="0">
                <a:solidFill>
                  <a:srgbClr val="3C3939"/>
                </a:solidFill>
                <a:latin typeface="Open Sans" pitchFamily="34" charset="0"/>
                <a:ea typeface="Open Sans" pitchFamily="34" charset="-122"/>
                <a:cs typeface="Open Sans" pitchFamily="34" charset="-120"/>
              </a:rPr>
              <a:t> Escribe de forma clara y concisa cualquier detalle adicional, nota importante o aclaración sobre esta novedad específica en este campo.</a:t>
            </a:r>
            <a:endParaRPr lang="en-US" sz="1050" dirty="0"/>
          </a:p>
        </p:txBody>
      </p:sp>
      <p:sp>
        <p:nvSpPr>
          <p:cNvPr id="5" name="Text 3"/>
          <p:cNvSpPr/>
          <p:nvPr/>
        </p:nvSpPr>
        <p:spPr>
          <a:xfrm>
            <a:off x="3507938" y="3019901"/>
            <a:ext cx="7614404" cy="164663"/>
          </a:xfrm>
          <a:prstGeom prst="rect">
            <a:avLst/>
          </a:prstGeom>
          <a:noFill/>
          <a:ln/>
        </p:spPr>
        <p:txBody>
          <a:bodyPr wrap="none" lIns="0" tIns="0" rIns="0" bIns="0" rtlCol="0" anchor="t"/>
          <a:lstStyle/>
          <a:p>
            <a:pPr algn="l" indent="0" marL="0">
              <a:lnSpc>
                <a:spcPts val="1250"/>
              </a:lnSpc>
              <a:buNone/>
            </a:pPr>
            <a:r>
              <a:rPr lang="en-US" sz="1050" b="1" dirty="0">
                <a:solidFill>
                  <a:srgbClr val="F44444"/>
                </a:solidFill>
                <a:latin typeface="Open Sans" pitchFamily="34" charset="0"/>
                <a:ea typeface="Open Sans" pitchFamily="34" charset="-122"/>
                <a:cs typeface="Open Sans" pitchFamily="34" charset="-120"/>
              </a:rPr>
              <a:t>¡¡Antes de registrar la novedad definitivamente, es CRUCIAL que revises cuidadosamente!!</a:t>
            </a:r>
            <a:pPr algn="l" indent="0" marL="0">
              <a:lnSpc>
                <a:spcPts val="1250"/>
              </a:lnSpc>
              <a:buNone/>
            </a:pPr>
            <a:r>
              <a:rPr lang="en-US" sz="1050" dirty="0">
                <a:solidFill>
                  <a:srgbClr val="F9D933"/>
                </a:solidFill>
                <a:latin typeface="Open Sans" pitchFamily="34" charset="0"/>
                <a:ea typeface="Open Sans" pitchFamily="34" charset="-122"/>
                <a:cs typeface="Open Sans" pitchFamily="34" charset="-120"/>
              </a:rPr>
              <a:t> </a:t>
            </a:r>
            <a:pPr algn="l" indent="0" marL="0">
              <a:lnSpc>
                <a:spcPts val="1250"/>
              </a:lnSpc>
              <a:buNone/>
            </a:pPr>
            <a:r>
              <a:rPr lang="en-US" sz="1050" dirty="0">
                <a:solidFill>
                  <a:srgbClr val="3C3939"/>
                </a:solidFill>
                <a:latin typeface="Open Sans" pitchFamily="34" charset="0"/>
                <a:ea typeface="Open Sans" pitchFamily="34" charset="-122"/>
                <a:cs typeface="Open Sans" pitchFamily="34" charset="-120"/>
              </a:rPr>
              <a:t>Verifica que:</a:t>
            </a:r>
            <a:endParaRPr lang="en-US" sz="1050" dirty="0"/>
          </a:p>
        </p:txBody>
      </p:sp>
      <p:sp>
        <p:nvSpPr>
          <p:cNvPr id="6" name="Text 4"/>
          <p:cNvSpPr/>
          <p:nvPr/>
        </p:nvSpPr>
        <p:spPr>
          <a:xfrm>
            <a:off x="3507938" y="3265765"/>
            <a:ext cx="7614404" cy="354568"/>
          </a:xfrm>
          <a:prstGeom prst="rect">
            <a:avLst/>
          </a:prstGeom>
          <a:noFill/>
          <a:ln/>
        </p:spPr>
        <p:txBody>
          <a:bodyPr wrap="square" lIns="0" tIns="0" rIns="0" bIns="0" rtlCol="0" anchor="t"/>
          <a:lstStyle/>
          <a:p>
            <a:pPr algn="l" marL="342900" indent="-342900">
              <a:lnSpc>
                <a:spcPts val="1250"/>
              </a:lnSpc>
              <a:buSzPct val="100000"/>
              <a:buChar char="•"/>
            </a:pPr>
            <a:r>
              <a:rPr lang="en-US" sz="1050" dirty="0">
                <a:solidFill>
                  <a:srgbClr val="3C3939"/>
                </a:solidFill>
                <a:latin typeface="Open Sans" pitchFamily="34" charset="0"/>
                <a:ea typeface="Open Sans" pitchFamily="34" charset="-122"/>
                <a:cs typeface="Open Sans" pitchFamily="34" charset="-120"/>
              </a:rPr>
              <a:t>Toda la información que digitaste es </a:t>
            </a:r>
            <a:pPr algn="l" indent="0" marL="0">
              <a:lnSpc>
                <a:spcPts val="1250"/>
              </a:lnSpc>
              <a:buNone/>
            </a:pPr>
            <a:r>
              <a:rPr lang="en-US" sz="1050" b="1" dirty="0">
                <a:solidFill>
                  <a:srgbClr val="3C3939"/>
                </a:solidFill>
                <a:latin typeface="Open Sans" pitchFamily="34" charset="0"/>
                <a:ea typeface="Open Sans" pitchFamily="34" charset="-122"/>
                <a:cs typeface="Open Sans" pitchFamily="34" charset="-120"/>
              </a:rPr>
              <a:t>correcta</a:t>
            </a:r>
            <a:pPr algn="l" indent="0" marL="0">
              <a:lnSpc>
                <a:spcPts val="1250"/>
              </a:lnSpc>
              <a:buNone/>
            </a:pPr>
            <a:r>
              <a:rPr lang="en-US" sz="1050" dirty="0">
                <a:solidFill>
                  <a:srgbClr val="3C3939"/>
                </a:solidFill>
                <a:latin typeface="Open Sans" pitchFamily="34" charset="0"/>
                <a:ea typeface="Open Sans" pitchFamily="34" charset="-122"/>
                <a:cs typeface="Open Sans" pitchFamily="34" charset="-120"/>
              </a:rPr>
              <a:t>.</a:t>
            </a:r>
            <a:endParaRPr lang="en-US" sz="1050" dirty="0"/>
          </a:p>
          <a:p>
            <a:pPr algn="l" marL="342900" indent="-342900">
              <a:lnSpc>
                <a:spcPts val="1250"/>
              </a:lnSpc>
              <a:buSzPct val="100000"/>
              <a:buChar char="•"/>
            </a:pPr>
            <a:r>
              <a:rPr lang="en-US" sz="1050" dirty="0">
                <a:solidFill>
                  <a:srgbClr val="3C3939"/>
                </a:solidFill>
                <a:latin typeface="Open Sans" pitchFamily="34" charset="0"/>
                <a:ea typeface="Open Sans" pitchFamily="34" charset="-122"/>
                <a:cs typeface="Open Sans" pitchFamily="34" charset="-120"/>
              </a:rPr>
              <a:t>Todos los conceptos y/o bonificaciones que cargaste (si aplica) tengan sus </a:t>
            </a:r>
            <a:pPr algn="l" indent="0" marL="0">
              <a:lnSpc>
                <a:spcPts val="1250"/>
              </a:lnSpc>
              <a:buNone/>
            </a:pPr>
            <a:r>
              <a:rPr lang="en-US" sz="1050" b="1" dirty="0">
                <a:solidFill>
                  <a:srgbClr val="3C3939"/>
                </a:solidFill>
                <a:latin typeface="Open Sans" pitchFamily="34" charset="0"/>
                <a:ea typeface="Open Sans" pitchFamily="34" charset="-122"/>
                <a:cs typeface="Open Sans" pitchFamily="34" charset="-120"/>
              </a:rPr>
              <a:t>respectivos soportes adjuntos</a:t>
            </a:r>
            <a:pPr algn="l" indent="0" marL="0">
              <a:lnSpc>
                <a:spcPts val="1250"/>
              </a:lnSpc>
              <a:buNone/>
            </a:pPr>
            <a:r>
              <a:rPr lang="en-US" sz="1050" dirty="0">
                <a:solidFill>
                  <a:srgbClr val="3C3939"/>
                </a:solidFill>
                <a:latin typeface="Open Sans" pitchFamily="34" charset="0"/>
                <a:ea typeface="Open Sans" pitchFamily="34" charset="-122"/>
                <a:cs typeface="Open Sans" pitchFamily="34" charset="-120"/>
              </a:rPr>
              <a:t>.</a:t>
            </a:r>
            <a:endParaRPr lang="en-US" sz="1050" dirty="0"/>
          </a:p>
        </p:txBody>
      </p:sp>
      <p:sp>
        <p:nvSpPr>
          <p:cNvPr id="7" name="Text 5"/>
          <p:cNvSpPr/>
          <p:nvPr/>
        </p:nvSpPr>
        <p:spPr>
          <a:xfrm>
            <a:off x="3507938" y="3701534"/>
            <a:ext cx="7614404" cy="501610"/>
          </a:xfrm>
          <a:prstGeom prst="rect">
            <a:avLst/>
          </a:prstGeom>
          <a:noFill/>
          <a:ln/>
        </p:spPr>
        <p:txBody>
          <a:bodyPr wrap="square" lIns="0" tIns="0" rIns="0" bIns="0" rtlCol="0" anchor="t"/>
          <a:lstStyle/>
          <a:p>
            <a:pPr algn="l" indent="0" marL="0">
              <a:lnSpc>
                <a:spcPts val="1250"/>
              </a:lnSpc>
              <a:buNone/>
            </a:pPr>
            <a:r>
              <a:rPr lang="en-US" sz="1050" dirty="0">
                <a:solidFill>
                  <a:srgbClr val="000000"/>
                </a:solidFill>
                <a:latin typeface="Open Sans" pitchFamily="34" charset="0"/>
                <a:ea typeface="Open Sans" pitchFamily="34" charset="-122"/>
                <a:cs typeface="Open Sans" pitchFamily="34" charset="-120"/>
              </a:rPr>
              <a:t>⚠️</a:t>
            </a:r>
            <a:pPr algn="l" indent="0" marL="0">
              <a:lnSpc>
                <a:spcPts val="1250"/>
              </a:lnSpc>
              <a:buNone/>
            </a:pPr>
            <a:r>
              <a:rPr lang="en-US" sz="1050" b="1" dirty="0">
                <a:solidFill>
                  <a:srgbClr val="3C3939"/>
                </a:solidFill>
                <a:latin typeface="Open Sans" pitchFamily="34" charset="0"/>
                <a:ea typeface="Open Sans" pitchFamily="34" charset="-122"/>
                <a:cs typeface="Open Sans" pitchFamily="34" charset="-120"/>
              </a:rPr>
              <a:t> Nota Importante sobre Valores:</a:t>
            </a:r>
            <a:pPr algn="l" indent="0" marL="0">
              <a:lnSpc>
                <a:spcPts val="1250"/>
              </a:lnSpc>
              <a:buNone/>
            </a:pPr>
            <a:r>
              <a:rPr lang="en-US" sz="1050" dirty="0">
                <a:solidFill>
                  <a:srgbClr val="3C3939"/>
                </a:solidFill>
                <a:latin typeface="Open Sans" pitchFamily="34" charset="0"/>
                <a:ea typeface="Open Sans" pitchFamily="34" charset="-122"/>
                <a:cs typeface="Open Sans" pitchFamily="34" charset="-120"/>
              </a:rPr>
              <a:t> Al digitar el valor de las bonificaciones fijas o variables, </a:t>
            </a:r>
            <a:pPr algn="l" indent="0" marL="0">
              <a:lnSpc>
                <a:spcPts val="1250"/>
              </a:lnSpc>
              <a:buNone/>
            </a:pPr>
            <a:r>
              <a:rPr lang="en-US" sz="1050" b="1" dirty="0">
                <a:solidFill>
                  <a:srgbClr val="3C3939"/>
                </a:solidFill>
                <a:latin typeface="Open Sans" pitchFamily="34" charset="0"/>
                <a:ea typeface="Open Sans" pitchFamily="34" charset="-122"/>
                <a:cs typeface="Open Sans" pitchFamily="34" charset="-120"/>
              </a:rPr>
              <a:t>NO uses comas, puntos, espacios ni ningún otro carácter especial</a:t>
            </a:r>
            <a:pPr algn="l" indent="0" marL="0">
              <a:lnSpc>
                <a:spcPts val="1250"/>
              </a:lnSpc>
              <a:buNone/>
            </a:pPr>
            <a:r>
              <a:rPr lang="en-US" sz="1050" dirty="0">
                <a:solidFill>
                  <a:srgbClr val="3C3939"/>
                </a:solidFill>
                <a:latin typeface="Open Sans" pitchFamily="34" charset="0"/>
                <a:ea typeface="Open Sans" pitchFamily="34" charset="-122"/>
                <a:cs typeface="Open Sans" pitchFamily="34" charset="-120"/>
              </a:rPr>
              <a:t>. Digita únicamente los números. Ejemplo: Para cincuenta mil pesos, escribe 50000</a:t>
            </a:r>
            <a:endParaRPr lang="en-US" sz="1050" dirty="0"/>
          </a:p>
        </p:txBody>
      </p:sp>
      <p:sp>
        <p:nvSpPr>
          <p:cNvPr id="8" name="Text 6"/>
          <p:cNvSpPr/>
          <p:nvPr/>
        </p:nvSpPr>
        <p:spPr>
          <a:xfrm>
            <a:off x="3507938" y="4284345"/>
            <a:ext cx="7614404" cy="493990"/>
          </a:xfrm>
          <a:prstGeom prst="rect">
            <a:avLst/>
          </a:prstGeom>
          <a:noFill/>
          <a:ln/>
        </p:spPr>
        <p:txBody>
          <a:bodyPr wrap="square" lIns="0" tIns="0" rIns="0" bIns="0" rtlCol="0" anchor="t"/>
          <a:lstStyle/>
          <a:p>
            <a:pPr algn="l" marL="342900" indent="-342900">
              <a:lnSpc>
                <a:spcPts val="1250"/>
              </a:lnSpc>
              <a:buSzPct val="100000"/>
              <a:buChar char="•"/>
            </a:pPr>
            <a:r>
              <a:rPr lang="en-US" sz="1050" dirty="0">
                <a:solidFill>
                  <a:srgbClr val="3C3939"/>
                </a:solidFill>
                <a:latin typeface="Open Sans" pitchFamily="34" charset="0"/>
                <a:ea typeface="Open Sans" pitchFamily="34" charset="-122"/>
                <a:cs typeface="Open Sans" pitchFamily="34" charset="-120"/>
              </a:rPr>
              <a:t>Si identificas que algún concepto quedó mal cargado o que no aplica, puedes </a:t>
            </a:r>
            <a:pPr algn="l" indent="0" marL="0">
              <a:lnSpc>
                <a:spcPts val="1250"/>
              </a:lnSpc>
              <a:buNone/>
            </a:pPr>
            <a:r>
              <a:rPr lang="en-US" sz="1050" b="1" dirty="0">
                <a:solidFill>
                  <a:srgbClr val="3C3939"/>
                </a:solidFill>
                <a:latin typeface="Open Sans" pitchFamily="34" charset="0"/>
                <a:ea typeface="Open Sans" pitchFamily="34" charset="-122"/>
                <a:cs typeface="Open Sans" pitchFamily="34" charset="-120"/>
              </a:rPr>
              <a:t>eliminarlo</a:t>
            </a:r>
            <a:pPr algn="l" indent="0" marL="0">
              <a:lnSpc>
                <a:spcPts val="1250"/>
              </a:lnSpc>
              <a:buNone/>
            </a:pPr>
            <a:r>
              <a:rPr lang="en-US" sz="1050" dirty="0">
                <a:solidFill>
                  <a:srgbClr val="3C3939"/>
                </a:solidFill>
                <a:latin typeface="Open Sans" pitchFamily="34" charset="0"/>
                <a:ea typeface="Open Sans" pitchFamily="34" charset="-122"/>
                <a:cs typeface="Open Sans" pitchFamily="34" charset="-120"/>
              </a:rPr>
              <a:t> directamente en el apartado de conceptos dentro de esta misma novedad. Para eliminarlo, haz click en el icono de eliminar que es la opción correspondiente en la parte derecha del concepto listado (como se evidencia aquí:</a:t>
            </a:r>
            <a:endParaRPr lang="en-US" sz="1050" dirty="0"/>
          </a:p>
        </p:txBody>
      </p:sp>
      <p:pic>
        <p:nvPicPr>
          <p:cNvPr id="9" name="Image 0" descr="preencoded.png">    </p:cNvPr>
          <p:cNvPicPr>
            <a:picLocks noChangeAspect="1"/>
          </p:cNvPicPr>
          <p:nvPr/>
        </p:nvPicPr>
        <p:blipFill>
          <a:blip r:embed="rId1"/>
          <a:stretch>
            <a:fillRect/>
          </a:stretch>
        </p:blipFill>
        <p:spPr>
          <a:xfrm>
            <a:off x="3507938" y="4859536"/>
            <a:ext cx="7614404" cy="754261"/>
          </a:xfrm>
          <a:prstGeom prst="rect">
            <a:avLst/>
          </a:prstGeom>
        </p:spPr>
      </p:pic>
      <p:sp>
        <p:nvSpPr>
          <p:cNvPr id="10" name="Text 7"/>
          <p:cNvSpPr/>
          <p:nvPr/>
        </p:nvSpPr>
        <p:spPr>
          <a:xfrm>
            <a:off x="3507938" y="5694997"/>
            <a:ext cx="7614404" cy="329327"/>
          </a:xfrm>
          <a:prstGeom prst="rect">
            <a:avLst/>
          </a:prstGeom>
          <a:noFill/>
          <a:ln/>
        </p:spPr>
        <p:txBody>
          <a:bodyPr wrap="square" lIns="0" tIns="0" rIns="0" bIns="0" rtlCol="0" anchor="t"/>
          <a:lstStyle/>
          <a:p>
            <a:pPr algn="l" marL="342900" indent="-342900">
              <a:lnSpc>
                <a:spcPts val="1250"/>
              </a:lnSpc>
              <a:buSzPct val="100000"/>
              <a:buChar char="•"/>
            </a:pPr>
            <a:r>
              <a:rPr lang="en-US" sz="1050" dirty="0">
                <a:solidFill>
                  <a:srgbClr val="3C3939"/>
                </a:solidFill>
                <a:latin typeface="Open Sans" pitchFamily="34" charset="0"/>
                <a:ea typeface="Open Sans" pitchFamily="34" charset="-122"/>
                <a:cs typeface="Open Sans" pitchFamily="34" charset="-120"/>
              </a:rPr>
              <a:t>Una vez eliminado el concepto incorrecto, puedes volver a generarlo siguiendo los pasos vistos anteriormente si es necesario</a:t>
            </a:r>
            <a:endParaRPr lang="en-US" sz="1050" dirty="0"/>
          </a:p>
        </p:txBody>
      </p:sp>
      <p:sp>
        <p:nvSpPr>
          <p:cNvPr id="11" name="Text 8"/>
          <p:cNvSpPr/>
          <p:nvPr/>
        </p:nvSpPr>
        <p:spPr>
          <a:xfrm>
            <a:off x="3507938" y="6105525"/>
            <a:ext cx="7614404" cy="329327"/>
          </a:xfrm>
          <a:prstGeom prst="rect">
            <a:avLst/>
          </a:prstGeom>
          <a:noFill/>
          <a:ln/>
        </p:spPr>
        <p:txBody>
          <a:bodyPr wrap="square" lIns="0" tIns="0" rIns="0" bIns="0" rtlCol="0" anchor="t"/>
          <a:lstStyle/>
          <a:p>
            <a:pPr algn="l" indent="0" marL="0">
              <a:lnSpc>
                <a:spcPts val="1250"/>
              </a:lnSpc>
              <a:buNone/>
            </a:pPr>
            <a:r>
              <a:rPr lang="en-US" sz="1050" dirty="0">
                <a:solidFill>
                  <a:srgbClr val="3C3939"/>
                </a:solidFill>
                <a:latin typeface="Open Sans" pitchFamily="34" charset="0"/>
                <a:ea typeface="Open Sans" pitchFamily="34" charset="-122"/>
                <a:cs typeface="Open Sans" pitchFamily="34" charset="-120"/>
              </a:rPr>
              <a:t>Para </a:t>
            </a:r>
            <a:pPr algn="l" indent="0" marL="0">
              <a:lnSpc>
                <a:spcPts val="1250"/>
              </a:lnSpc>
              <a:buNone/>
            </a:pPr>
            <a:r>
              <a:rPr lang="en-US" sz="1050" b="1" dirty="0">
                <a:solidFill>
                  <a:srgbClr val="3C3939"/>
                </a:solidFill>
                <a:latin typeface="Open Sans" pitchFamily="34" charset="0"/>
                <a:ea typeface="Open Sans" pitchFamily="34" charset="-122"/>
                <a:cs typeface="Open Sans" pitchFamily="34" charset="-120"/>
              </a:rPr>
              <a:t>registrar definitivamente</a:t>
            </a:r>
            <a:pPr algn="l" indent="0" marL="0">
              <a:lnSpc>
                <a:spcPts val="1250"/>
              </a:lnSpc>
              <a:buNone/>
            </a:pPr>
            <a:r>
              <a:rPr lang="en-US" sz="1050" dirty="0">
                <a:solidFill>
                  <a:srgbClr val="3C3939"/>
                </a:solidFill>
                <a:latin typeface="Open Sans" pitchFamily="34" charset="0"/>
                <a:ea typeface="Open Sans" pitchFamily="34" charset="-122"/>
                <a:cs typeface="Open Sans" pitchFamily="34" charset="-120"/>
              </a:rPr>
              <a:t> la novedad en el sistema y que todos los cambios se hagan efectivos, haz click en el botón </a:t>
            </a:r>
            <a:pPr algn="l" indent="0" marL="0">
              <a:lnSpc>
                <a:spcPts val="1250"/>
              </a:lnSpc>
              <a:buNone/>
            </a:pPr>
            <a:r>
              <a:rPr lang="en-US" sz="1050" b="1" dirty="0">
                <a:solidFill>
                  <a:srgbClr val="3C3939"/>
                </a:solidFill>
                <a:latin typeface="Open Sans" pitchFamily="34" charset="0"/>
                <a:ea typeface="Open Sans" pitchFamily="34" charset="-122"/>
                <a:cs typeface="Open Sans" pitchFamily="34" charset="-120"/>
              </a:rPr>
              <a:t>'Guardar'</a:t>
            </a:r>
            <a:pPr algn="l" indent="0" marL="0">
              <a:lnSpc>
                <a:spcPts val="1250"/>
              </a:lnSpc>
              <a:buNone/>
            </a:pPr>
            <a:r>
              <a:rPr lang="en-US" sz="1050" dirty="0">
                <a:solidFill>
                  <a:srgbClr val="3C3939"/>
                </a:solidFill>
                <a:latin typeface="Open Sans" pitchFamily="34" charset="0"/>
                <a:ea typeface="Open Sans" pitchFamily="34" charset="-122"/>
                <a:cs typeface="Open Sans" pitchFamily="34" charset="-120"/>
              </a:rPr>
              <a:t> que encontrarás en la parte inferior de la página.</a:t>
            </a:r>
            <a:endParaRPr lang="en-US" sz="1050" dirty="0"/>
          </a:p>
        </p:txBody>
      </p:sp>
      <p:sp>
        <p:nvSpPr>
          <p:cNvPr id="12" name="Text 9"/>
          <p:cNvSpPr/>
          <p:nvPr/>
        </p:nvSpPr>
        <p:spPr>
          <a:xfrm>
            <a:off x="3507938" y="6516053"/>
            <a:ext cx="7614404" cy="501610"/>
          </a:xfrm>
          <a:prstGeom prst="rect">
            <a:avLst/>
          </a:prstGeom>
          <a:noFill/>
          <a:ln/>
        </p:spPr>
        <p:txBody>
          <a:bodyPr wrap="square" lIns="0" tIns="0" rIns="0" bIns="0" rtlCol="0" anchor="t"/>
          <a:lstStyle/>
          <a:p>
            <a:pPr algn="l" indent="0" marL="0">
              <a:lnSpc>
                <a:spcPts val="1250"/>
              </a:lnSpc>
              <a:buNone/>
            </a:pPr>
            <a:r>
              <a:rPr lang="en-US" sz="1050" dirty="0">
                <a:solidFill>
                  <a:srgbClr val="000000"/>
                </a:solidFill>
                <a:latin typeface="Open Sans" pitchFamily="34" charset="0"/>
                <a:ea typeface="Open Sans" pitchFamily="34" charset="-122"/>
                <a:cs typeface="Open Sans" pitchFamily="34" charset="-120"/>
              </a:rPr>
              <a:t>✅</a:t>
            </a:r>
            <a:pPr algn="l" indent="0" marL="0">
              <a:lnSpc>
                <a:spcPts val="1250"/>
              </a:lnSpc>
              <a:buNone/>
            </a:pPr>
            <a:r>
              <a:rPr lang="en-US" sz="1050" b="1" dirty="0">
                <a:solidFill>
                  <a:srgbClr val="3C3939"/>
                </a:solidFill>
                <a:latin typeface="Open Sans" pitchFamily="34" charset="0"/>
                <a:ea typeface="Open Sans" pitchFamily="34" charset="-122"/>
                <a:cs typeface="Open Sans" pitchFamily="34" charset="-120"/>
              </a:rPr>
              <a:t> Confirmación de Registro:</a:t>
            </a:r>
            <a:pPr algn="l" indent="0" marL="0">
              <a:lnSpc>
                <a:spcPts val="1250"/>
              </a:lnSpc>
              <a:buNone/>
            </a:pPr>
            <a:r>
              <a:rPr lang="en-US" sz="1050" dirty="0">
                <a:solidFill>
                  <a:srgbClr val="3C3939"/>
                </a:solidFill>
                <a:latin typeface="Open Sans" pitchFamily="34" charset="0"/>
                <a:ea typeface="Open Sans" pitchFamily="34" charset="-122"/>
                <a:cs typeface="Open Sans" pitchFamily="34" charset="-120"/>
              </a:rPr>
              <a:t>Inmediatamente después de hacer click en '</a:t>
            </a:r>
            <a:pPr algn="l" indent="0" marL="0">
              <a:lnSpc>
                <a:spcPts val="1250"/>
              </a:lnSpc>
              <a:buNone/>
            </a:pPr>
            <a:r>
              <a:rPr lang="en-US" sz="1050" b="1" dirty="0">
                <a:solidFill>
                  <a:srgbClr val="3C3939"/>
                </a:solidFill>
                <a:latin typeface="Open Sans" pitchFamily="34" charset="0"/>
                <a:ea typeface="Open Sans" pitchFamily="34" charset="-122"/>
                <a:cs typeface="Open Sans" pitchFamily="34" charset="-120"/>
              </a:rPr>
              <a:t>Guardar</a:t>
            </a:r>
            <a:pPr algn="l" indent="0" marL="0">
              <a:lnSpc>
                <a:spcPts val="1250"/>
              </a:lnSpc>
              <a:buNone/>
            </a:pPr>
            <a:r>
              <a:rPr lang="en-US" sz="1050" dirty="0">
                <a:solidFill>
                  <a:srgbClr val="3C3939"/>
                </a:solidFill>
                <a:latin typeface="Open Sans" pitchFamily="34" charset="0"/>
                <a:ea typeface="Open Sans" pitchFamily="34" charset="-122"/>
                <a:cs typeface="Open Sans" pitchFamily="34" charset="-120"/>
              </a:rPr>
              <a:t>', el sistema te mostrará un </a:t>
            </a:r>
            <a:pPr algn="l" indent="0" marL="0">
              <a:lnSpc>
                <a:spcPts val="1250"/>
              </a:lnSpc>
              <a:buNone/>
            </a:pPr>
            <a:r>
              <a:rPr lang="en-US" sz="1050" b="1" dirty="0">
                <a:solidFill>
                  <a:srgbClr val="3C3939"/>
                </a:solidFill>
                <a:latin typeface="Open Sans" pitchFamily="34" charset="0"/>
                <a:ea typeface="Open Sans" pitchFamily="34" charset="-122"/>
                <a:cs typeface="Open Sans" pitchFamily="34" charset="-120"/>
              </a:rPr>
              <a:t>mensaje de confirmación que incluirá el Número de Novedad</a:t>
            </a:r>
            <a:pPr algn="l" indent="0" marL="0">
              <a:lnSpc>
                <a:spcPts val="1250"/>
              </a:lnSpc>
              <a:buNone/>
            </a:pPr>
            <a:r>
              <a:rPr lang="en-US" sz="1050" dirty="0">
                <a:solidFill>
                  <a:srgbClr val="3C3939"/>
                </a:solidFill>
                <a:latin typeface="Open Sans" pitchFamily="34" charset="0"/>
                <a:ea typeface="Open Sans" pitchFamily="34" charset="-122"/>
                <a:cs typeface="Open Sans" pitchFamily="34" charset="-120"/>
              </a:rPr>
              <a:t>. Este número es el identificador de tu solicitud.</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3684389" y="1484352"/>
            <a:ext cx="7261503" cy="644604"/>
          </a:xfrm>
          <a:prstGeom prst="rect">
            <a:avLst/>
          </a:prstGeom>
          <a:noFill/>
          <a:ln/>
        </p:spPr>
        <p:txBody>
          <a:bodyPr wrap="square" lIns="0" tIns="0" rIns="0" bIns="0" rtlCol="0" anchor="t"/>
          <a:lstStyle/>
          <a:p>
            <a:pPr algn="ctr" indent="0" marL="0">
              <a:lnSpc>
                <a:spcPts val="2500"/>
              </a:lnSpc>
              <a:buNone/>
            </a:pPr>
            <a:r>
              <a:rPr lang="en-US" sz="2000" b="1" dirty="0">
                <a:solidFill>
                  <a:srgbClr val="000000"/>
                </a:solidFill>
                <a:latin typeface="Unbounded Bold" pitchFamily="34" charset="0"/>
                <a:ea typeface="Unbounded Bold" pitchFamily="34" charset="-122"/>
                <a:cs typeface="Unbounded Bold" pitchFamily="34" charset="-120"/>
              </a:rPr>
              <a:t>🔑</a:t>
            </a:r>
            <a:pPr algn="ctr" indent="0" marL="0">
              <a:lnSpc>
                <a:spcPts val="2500"/>
              </a:lnSpc>
              <a:buNone/>
            </a:pPr>
            <a:r>
              <a:rPr lang="en-US" sz="2000" b="1" dirty="0">
                <a:solidFill>
                  <a:srgbClr val="1B1B27"/>
                </a:solidFill>
                <a:latin typeface="Unbounded Bold" pitchFamily="34" charset="0"/>
                <a:ea typeface="Unbounded Bold" pitchFamily="34" charset="-122"/>
                <a:cs typeface="Unbounded Bold" pitchFamily="34" charset="-120"/>
              </a:rPr>
              <a:t> </a:t>
            </a:r>
            <a:pPr algn="ctr" indent="0" marL="0">
              <a:lnSpc>
                <a:spcPts val="2500"/>
              </a:lnSpc>
              <a:buNone/>
            </a:pPr>
            <a:r>
              <a:rPr lang="en-US" sz="2000" b="1" dirty="0">
                <a:solidFill>
                  <a:srgbClr val="8AC340"/>
                </a:solidFill>
                <a:latin typeface="Unbounded Bold" pitchFamily="34" charset="0"/>
                <a:ea typeface="Unbounded Bold" pitchFamily="34" charset="-122"/>
                <a:cs typeface="Unbounded Bold" pitchFamily="34" charset="-120"/>
              </a:rPr>
              <a:t>CONSIDERACIONES IMPORTANTES (Para tener en cuenta siempre):</a:t>
            </a:r>
            <a:endParaRPr lang="en-US" sz="2000" dirty="0"/>
          </a:p>
        </p:txBody>
      </p:sp>
      <p:sp>
        <p:nvSpPr>
          <p:cNvPr id="3" name="Text 1"/>
          <p:cNvSpPr/>
          <p:nvPr/>
        </p:nvSpPr>
        <p:spPr>
          <a:xfrm>
            <a:off x="3684389" y="2260402"/>
            <a:ext cx="7261503" cy="4484727"/>
          </a:xfrm>
          <a:prstGeom prst="rect">
            <a:avLst/>
          </a:prstGeom>
          <a:noFill/>
          <a:ln/>
        </p:spPr>
        <p:txBody>
          <a:bodyPr wrap="square" lIns="0" tIns="0" rIns="0" bIns="0" rtlCol="0" anchor="t"/>
          <a:lstStyle/>
          <a:p>
            <a:pPr algn="l" marL="342900" indent="-342900">
              <a:lnSpc>
                <a:spcPts val="1200"/>
              </a:lnSpc>
              <a:buSzPct val="100000"/>
              <a:buFont typeface="+mj-lt"/>
              <a:buAutoNum type="arabicPeriod" startAt="1"/>
            </a:pPr>
            <a:r>
              <a:rPr lang="en-US" sz="1000" dirty="0">
                <a:solidFill>
                  <a:srgbClr val="3C3939"/>
                </a:solidFill>
                <a:latin typeface="Open Sans" pitchFamily="34" charset="0"/>
                <a:ea typeface="Open Sans" pitchFamily="34" charset="-122"/>
                <a:cs typeface="Open Sans" pitchFamily="34" charset="-120"/>
              </a:rPr>
              <a:t>A partir de ahora, </a:t>
            </a:r>
            <a:pPr algn="l" indent="0" marL="0">
              <a:lnSpc>
                <a:spcPts val="1200"/>
              </a:lnSpc>
              <a:buNone/>
            </a:pPr>
            <a:r>
              <a:rPr lang="en-US" sz="1000" b="1" dirty="0">
                <a:solidFill>
                  <a:srgbClr val="3C3939"/>
                </a:solidFill>
                <a:latin typeface="Open Sans" pitchFamily="34" charset="0"/>
                <a:ea typeface="Open Sans" pitchFamily="34" charset="-122"/>
                <a:cs typeface="Open Sans" pitchFamily="34" charset="-120"/>
              </a:rPr>
              <a:t>todos los procesos</a:t>
            </a:r>
            <a:pPr algn="l" indent="0" marL="0">
              <a:lnSpc>
                <a:spcPts val="1200"/>
              </a:lnSpc>
              <a:buNone/>
            </a:pPr>
            <a:r>
              <a:rPr lang="en-US" sz="1000" dirty="0">
                <a:solidFill>
                  <a:srgbClr val="3C3939"/>
                </a:solidFill>
                <a:latin typeface="Open Sans" pitchFamily="34" charset="0"/>
                <a:ea typeface="Open Sans" pitchFamily="34" charset="-122"/>
                <a:cs typeface="Open Sans" pitchFamily="34" charset="-120"/>
              </a:rPr>
              <a:t> relacionados con cambios de centros de costos, conceptos y/o bonificaciones deben ser </a:t>
            </a:r>
            <a:pPr algn="l" indent="0" marL="0">
              <a:lnSpc>
                <a:spcPts val="1200"/>
              </a:lnSpc>
              <a:buNone/>
            </a:pPr>
            <a:r>
              <a:rPr lang="en-US" sz="1000" dirty="0">
                <a:solidFill>
                  <a:srgbClr val="3C3939"/>
                </a:solidFill>
                <a:latin typeface="Open Sans" pitchFamily="34" charset="0"/>
                <a:ea typeface="Open Sans" pitchFamily="34" charset="-122"/>
                <a:cs typeface="Open Sans" pitchFamily="34" charset="-120"/>
              </a:rPr>
              <a:t>canalizados </a:t>
            </a:r>
            <a:pPr algn="l" indent="0" marL="0">
              <a:lnSpc>
                <a:spcPts val="1200"/>
              </a:lnSpc>
              <a:buNone/>
            </a:pPr>
            <a:r>
              <a:rPr lang="en-US" sz="1000" b="1" i="1" dirty="0">
                <a:solidFill>
                  <a:srgbClr val="3C3939"/>
                </a:solidFill>
                <a:latin typeface="Open Sans" pitchFamily="34" charset="0"/>
                <a:ea typeface="Open Sans" pitchFamily="34" charset="-122"/>
                <a:cs typeface="Open Sans" pitchFamily="34" charset="-120"/>
              </a:rPr>
              <a:t>únicamente</a:t>
            </a:r>
            <a:pPr algn="l" indent="0" marL="0">
              <a:lnSpc>
                <a:spcPts val="1200"/>
              </a:lnSpc>
              <a:buNone/>
            </a:pPr>
            <a:r>
              <a:rPr lang="en-US" sz="1000" dirty="0">
                <a:solidFill>
                  <a:srgbClr val="3C3939"/>
                </a:solidFill>
                <a:latin typeface="Open Sans" pitchFamily="34" charset="0"/>
                <a:ea typeface="Open Sans" pitchFamily="34" charset="-122"/>
                <a:cs typeface="Open Sans" pitchFamily="34" charset="-120"/>
              </a:rPr>
              <a:t> a través del aplicativo </a:t>
            </a:r>
            <a:pPr algn="l" indent="0" marL="0">
              <a:lnSpc>
                <a:spcPts val="1200"/>
              </a:lnSpc>
              <a:buNone/>
            </a:pPr>
            <a:r>
              <a:rPr lang="en-US" sz="1000" b="1" dirty="0">
                <a:solidFill>
                  <a:srgbClr val="098CD2"/>
                </a:solidFill>
                <a:latin typeface="Open Sans" pitchFamily="34" charset="0"/>
                <a:ea typeface="Open Sans" pitchFamily="34" charset="-122"/>
                <a:cs typeface="Open Sans" pitchFamily="34" charset="-120"/>
              </a:rPr>
              <a:t>SIC</a:t>
            </a:r>
            <a:pPr algn="l" indent="0" marL="0">
              <a:lnSpc>
                <a:spcPts val="1200"/>
              </a:lnSpc>
              <a:buNone/>
            </a:pPr>
            <a:r>
              <a:rPr lang="en-US" sz="1000" dirty="0">
                <a:solidFill>
                  <a:srgbClr val="3C3939"/>
                </a:solidFill>
                <a:latin typeface="Open Sans" pitchFamily="34" charset="0"/>
                <a:ea typeface="Open Sans" pitchFamily="34" charset="-122"/>
                <a:cs typeface="Open Sans" pitchFamily="34" charset="-120"/>
              </a:rPr>
              <a:t> siguiendo los pasos detallados anteriormente.</a:t>
            </a:r>
            <a:endParaRPr lang="en-US" sz="1000" dirty="0"/>
          </a:p>
          <a:p>
            <a:pPr algn="l" marL="342900" indent="-342900">
              <a:lnSpc>
                <a:spcPts val="1200"/>
              </a:lnSpc>
              <a:buSzPct val="100000"/>
              <a:buFont typeface="+mj-lt"/>
              <a:buAutoNum type="arabicPeriod" startAt="2"/>
            </a:pPr>
            <a:r>
              <a:rPr lang="en-US" sz="1000" b="1" dirty="0">
                <a:solidFill>
                  <a:srgbClr val="3C3939"/>
                </a:solidFill>
                <a:latin typeface="Open Sans" pitchFamily="34" charset="0"/>
                <a:ea typeface="Open Sans" pitchFamily="34" charset="-122"/>
                <a:cs typeface="Open Sans" pitchFamily="34" charset="-120"/>
              </a:rPr>
              <a:t>Toda solicitud que llegue por otros medios</a:t>
            </a:r>
            <a:pPr algn="l" indent="0" marL="0">
              <a:lnSpc>
                <a:spcPts val="1200"/>
              </a:lnSpc>
              <a:buNone/>
            </a:pPr>
            <a:r>
              <a:rPr lang="en-US" sz="1000" dirty="0">
                <a:solidFill>
                  <a:srgbClr val="3C3939"/>
                </a:solidFill>
                <a:latin typeface="Open Sans" pitchFamily="34" charset="0"/>
                <a:ea typeface="Open Sans" pitchFamily="34" charset="-122"/>
                <a:cs typeface="Open Sans" pitchFamily="34" charset="-120"/>
              </a:rPr>
              <a:t> (correo electrónico, teléfono, formatos manuales, etc.) </a:t>
            </a:r>
            <a:pPr algn="l" indent="0" marL="0">
              <a:lnSpc>
                <a:spcPts val="1200"/>
              </a:lnSpc>
              <a:buNone/>
            </a:pPr>
            <a:r>
              <a:rPr lang="en-US" sz="1000" b="1" dirty="0">
                <a:solidFill>
                  <a:srgbClr val="3C3939"/>
                </a:solidFill>
                <a:latin typeface="Open Sans" pitchFamily="34" charset="0"/>
                <a:ea typeface="Open Sans" pitchFamily="34" charset="-122"/>
                <a:cs typeface="Open Sans" pitchFamily="34" charset="-120"/>
              </a:rPr>
              <a:t>NO será tenida en cuenta</a:t>
            </a:r>
            <a:pPr algn="l" indent="0" marL="0">
              <a:lnSpc>
                <a:spcPts val="1200"/>
              </a:lnSpc>
              <a:buNone/>
            </a:pPr>
            <a:r>
              <a:rPr lang="en-US" sz="1000" dirty="0">
                <a:solidFill>
                  <a:srgbClr val="3C3939"/>
                </a:solidFill>
                <a:latin typeface="Open Sans" pitchFamily="34" charset="0"/>
                <a:ea typeface="Open Sans" pitchFamily="34" charset="-122"/>
                <a:cs typeface="Open Sans" pitchFamily="34" charset="-120"/>
              </a:rPr>
              <a:t>. Deben usar obligatoriamente el SIC.</a:t>
            </a:r>
            <a:endParaRPr lang="en-US" sz="1000" dirty="0"/>
          </a:p>
          <a:p>
            <a:pPr algn="l" marL="342900" indent="-342900">
              <a:lnSpc>
                <a:spcPts val="1200"/>
              </a:lnSpc>
              <a:buSzPct val="100000"/>
              <a:buFont typeface="+mj-lt"/>
              <a:buAutoNum type="arabicPeriod" startAt="3"/>
            </a:pPr>
            <a:r>
              <a:rPr lang="en-US" sz="1000" dirty="0">
                <a:solidFill>
                  <a:srgbClr val="3C3939"/>
                </a:solidFill>
                <a:latin typeface="Open Sans" pitchFamily="34" charset="0"/>
                <a:ea typeface="Open Sans" pitchFamily="34" charset="-122"/>
                <a:cs typeface="Open Sans" pitchFamily="34" charset="-120"/>
              </a:rPr>
              <a:t>Para una correcta trazabilidad, </a:t>
            </a:r>
            <a:pPr algn="l" indent="0" marL="0">
              <a:lnSpc>
                <a:spcPts val="1200"/>
              </a:lnSpc>
              <a:buNone/>
            </a:pPr>
            <a:r>
              <a:rPr lang="en-US" sz="1000" b="1" dirty="0">
                <a:solidFill>
                  <a:srgbClr val="3C3939"/>
                </a:solidFill>
                <a:latin typeface="Open Sans" pitchFamily="34" charset="0"/>
                <a:ea typeface="Open Sans" pitchFamily="34" charset="-122"/>
                <a:cs typeface="Open Sans" pitchFamily="34" charset="-120"/>
              </a:rPr>
              <a:t>NO deben crear múltiples novedades para una misma persona si tienen varios cambios</a:t>
            </a:r>
            <a:pPr algn="l" indent="0" marL="0">
              <a:lnSpc>
                <a:spcPts val="1200"/>
              </a:lnSpc>
              <a:buNone/>
            </a:pPr>
            <a:r>
              <a:rPr lang="en-US" sz="1000" dirty="0">
                <a:solidFill>
                  <a:srgbClr val="3C3939"/>
                </a:solidFill>
                <a:latin typeface="Open Sans" pitchFamily="34" charset="0"/>
                <a:ea typeface="Open Sans" pitchFamily="34" charset="-122"/>
                <a:cs typeface="Open Sans" pitchFamily="34" charset="-120"/>
              </a:rPr>
              <a:t>. Deben crear </a:t>
            </a:r>
            <a:pPr algn="l" indent="0" marL="0">
              <a:lnSpc>
                <a:spcPts val="1200"/>
              </a:lnSpc>
              <a:buNone/>
            </a:pPr>
            <a:r>
              <a:rPr lang="en-US" sz="1000" b="1" dirty="0">
                <a:solidFill>
                  <a:srgbClr val="3C3939"/>
                </a:solidFill>
                <a:latin typeface="Open Sans" pitchFamily="34" charset="0"/>
                <a:ea typeface="Open Sans" pitchFamily="34" charset="-122"/>
                <a:cs typeface="Open Sans" pitchFamily="34" charset="-120"/>
              </a:rPr>
              <a:t>una única novedad</a:t>
            </a:r>
            <a:pPr algn="l" indent="0" marL="0">
              <a:lnSpc>
                <a:spcPts val="1200"/>
              </a:lnSpc>
              <a:buNone/>
            </a:pPr>
            <a:r>
              <a:rPr lang="en-US" sz="1000" dirty="0">
                <a:solidFill>
                  <a:srgbClr val="3C3939"/>
                </a:solidFill>
                <a:latin typeface="Open Sans" pitchFamily="34" charset="0"/>
                <a:ea typeface="Open Sans" pitchFamily="34" charset="-122"/>
                <a:cs typeface="Open Sans" pitchFamily="34" charset="-120"/>
              </a:rPr>
              <a:t> que incluya todos los cambios que le tengan que hacer a esa persona en ese momento (CECO, varios conceptos, etc.). Esto facilita el seguimiento integral de cada caso.</a:t>
            </a:r>
            <a:endParaRPr lang="en-US" sz="1000" dirty="0"/>
          </a:p>
          <a:p>
            <a:pPr algn="l" marL="342900" indent="-342900">
              <a:lnSpc>
                <a:spcPts val="1200"/>
              </a:lnSpc>
              <a:buSzPct val="100000"/>
              <a:buFont typeface="+mj-lt"/>
              <a:buAutoNum type="arabicPeriod" startAt="4"/>
            </a:pPr>
            <a:r>
              <a:rPr lang="en-US" sz="1000" dirty="0">
                <a:solidFill>
                  <a:srgbClr val="3C3939"/>
                </a:solidFill>
                <a:latin typeface="Open Sans" pitchFamily="34" charset="0"/>
                <a:ea typeface="Open Sans" pitchFamily="34" charset="-122"/>
                <a:cs typeface="Open Sans" pitchFamily="34" charset="-120"/>
              </a:rPr>
              <a:t>Es su responsabilidad </a:t>
            </a:r>
            <a:pPr algn="l" indent="0" marL="0">
              <a:lnSpc>
                <a:spcPts val="1200"/>
              </a:lnSpc>
              <a:buNone/>
            </a:pPr>
            <a:r>
              <a:rPr lang="en-US" sz="1000" b="1" dirty="0">
                <a:solidFill>
                  <a:srgbClr val="3C3939"/>
                </a:solidFill>
                <a:latin typeface="Open Sans" pitchFamily="34" charset="0"/>
                <a:ea typeface="Open Sans" pitchFamily="34" charset="-122"/>
                <a:cs typeface="Open Sans" pitchFamily="34" charset="-120"/>
              </a:rPr>
              <a:t>monitorear la gestión de cada novedad a través de su 'línea de vida' en la aplicación </a:t>
            </a:r>
            <a:pPr algn="l" indent="0" marL="0">
              <a:lnSpc>
                <a:spcPts val="1200"/>
              </a:lnSpc>
              <a:buNone/>
            </a:pPr>
            <a:r>
              <a:rPr lang="en-US" sz="1000" b="1" dirty="0">
                <a:solidFill>
                  <a:srgbClr val="098CD2"/>
                </a:solidFill>
                <a:latin typeface="Open Sans" pitchFamily="34" charset="0"/>
                <a:ea typeface="Open Sans" pitchFamily="34" charset="-122"/>
                <a:cs typeface="Open Sans" pitchFamily="34" charset="-120"/>
              </a:rPr>
              <a:t>SIC</a:t>
            </a:r>
            <a:pPr algn="l" indent="0" marL="0">
              <a:lnSpc>
                <a:spcPts val="1200"/>
              </a:lnSpc>
              <a:buNone/>
            </a:pPr>
            <a:r>
              <a:rPr lang="en-US" sz="1000" dirty="0">
                <a:solidFill>
                  <a:srgbClr val="3C3939"/>
                </a:solidFill>
                <a:latin typeface="Open Sans" pitchFamily="34" charset="0"/>
                <a:ea typeface="Open Sans" pitchFamily="34" charset="-122"/>
                <a:cs typeface="Open Sans" pitchFamily="34" charset="-120"/>
              </a:rPr>
              <a:t>, donde se visualiza el estado actual del proceso. Realice un </a:t>
            </a:r>
            <a:pPr algn="l" indent="0" marL="0">
              <a:lnSpc>
                <a:spcPts val="1200"/>
              </a:lnSpc>
              <a:buNone/>
            </a:pPr>
            <a:r>
              <a:rPr lang="en-US" sz="1000" b="1" dirty="0">
                <a:solidFill>
                  <a:srgbClr val="3C3939"/>
                </a:solidFill>
                <a:latin typeface="Open Sans" pitchFamily="34" charset="0"/>
                <a:ea typeface="Open Sans" pitchFamily="34" charset="-122"/>
                <a:cs typeface="Open Sans" pitchFamily="34" charset="-120"/>
              </a:rPr>
              <a:t>seguimiento continuo</a:t>
            </a:r>
            <a:pPr algn="l" indent="0" marL="0">
              <a:lnSpc>
                <a:spcPts val="1200"/>
              </a:lnSpc>
              <a:buNone/>
            </a:pPr>
            <a:r>
              <a:rPr lang="en-US" sz="1000" dirty="0">
                <a:solidFill>
                  <a:srgbClr val="3C3939"/>
                </a:solidFill>
                <a:latin typeface="Open Sans" pitchFamily="34" charset="0"/>
                <a:ea typeface="Open Sans" pitchFamily="34" charset="-122"/>
                <a:cs typeface="Open Sans" pitchFamily="34" charset="-120"/>
              </a:rPr>
              <a:t> hasta que la novedad aparezca como </a:t>
            </a:r>
            <a:pPr algn="l" indent="0" marL="0">
              <a:lnSpc>
                <a:spcPts val="1200"/>
              </a:lnSpc>
              <a:buNone/>
            </a:pPr>
            <a:r>
              <a:rPr lang="en-US" sz="1000" b="1" dirty="0">
                <a:solidFill>
                  <a:srgbClr val="3C3939"/>
                </a:solidFill>
                <a:latin typeface="Open Sans" pitchFamily="34" charset="0"/>
                <a:ea typeface="Open Sans" pitchFamily="34" charset="-122"/>
                <a:cs typeface="Open Sans" pitchFamily="34" charset="-120"/>
              </a:rPr>
              <a:t>'Finalizado' o 'Aplicado'</a:t>
            </a:r>
            <a:pPr algn="l" indent="0" marL="0">
              <a:lnSpc>
                <a:spcPts val="1200"/>
              </a:lnSpc>
              <a:buNone/>
            </a:pPr>
            <a:r>
              <a:rPr lang="en-US" sz="1000" dirty="0">
                <a:solidFill>
                  <a:srgbClr val="3C3939"/>
                </a:solidFill>
                <a:latin typeface="Open Sans" pitchFamily="34" charset="0"/>
                <a:ea typeface="Open Sans" pitchFamily="34" charset="-122"/>
                <a:cs typeface="Open Sans" pitchFamily="34" charset="-120"/>
              </a:rPr>
              <a:t> para asegurar la correcta implementación del cambio. Adicionalmente, </a:t>
            </a:r>
            <a:pPr algn="l" indent="0" marL="0">
              <a:lnSpc>
                <a:spcPts val="1200"/>
              </a:lnSpc>
              <a:buNone/>
            </a:pPr>
            <a:r>
              <a:rPr lang="en-US" sz="1000" b="1" dirty="0">
                <a:solidFill>
                  <a:srgbClr val="3C3939"/>
                </a:solidFill>
                <a:latin typeface="Open Sans" pitchFamily="34" charset="0"/>
                <a:ea typeface="Open Sans" pitchFamily="34" charset="-122"/>
                <a:cs typeface="Open Sans" pitchFamily="34" charset="-120"/>
              </a:rPr>
              <a:t>la persona que crea la novedad debe verificar que el empleado afectado acceda a la plataforma y firme los documentos correspondientes.</a:t>
            </a:r>
            <a:endParaRPr lang="en-US" sz="1000" dirty="0"/>
          </a:p>
          <a:p>
            <a:pPr algn="l" marL="342900" indent="-342900">
              <a:lnSpc>
                <a:spcPts val="1200"/>
              </a:lnSpc>
              <a:buSzPct val="100000"/>
              <a:buFont typeface="+mj-lt"/>
              <a:buAutoNum type="arabicPeriod" startAt="5"/>
            </a:pPr>
            <a:r>
              <a:rPr lang="en-US" sz="1000" dirty="0">
                <a:solidFill>
                  <a:srgbClr val="3C3939"/>
                </a:solidFill>
                <a:latin typeface="Open Sans" pitchFamily="34" charset="0"/>
                <a:ea typeface="Open Sans" pitchFamily="34" charset="-122"/>
                <a:cs typeface="Open Sans" pitchFamily="34" charset="-120"/>
              </a:rPr>
              <a:t>¡Una gran mejora! </a:t>
            </a:r>
            <a:pPr algn="l" indent="0" marL="0">
              <a:lnSpc>
                <a:spcPts val="1200"/>
              </a:lnSpc>
              <a:buNone/>
            </a:pPr>
            <a:r>
              <a:rPr lang="en-US" sz="1000" b="1" dirty="0">
                <a:solidFill>
                  <a:srgbClr val="3C3939"/>
                </a:solidFill>
                <a:latin typeface="Open Sans" pitchFamily="34" charset="0"/>
                <a:ea typeface="Open Sans" pitchFamily="34" charset="-122"/>
                <a:cs typeface="Open Sans" pitchFamily="34" charset="-120"/>
              </a:rPr>
              <a:t>Ya no tienen que generar ningún "otrosí" de manera manual</a:t>
            </a:r>
            <a:pPr algn="l" indent="0" marL="0">
              <a:lnSpc>
                <a:spcPts val="1200"/>
              </a:lnSpc>
              <a:buNone/>
            </a:pPr>
            <a:r>
              <a:rPr lang="en-US" sz="1000" dirty="0">
                <a:solidFill>
                  <a:srgbClr val="3C3939"/>
                </a:solidFill>
                <a:latin typeface="Open Sans" pitchFamily="34" charset="0"/>
                <a:ea typeface="Open Sans" pitchFamily="34" charset="-122"/>
                <a:cs typeface="Open Sans" pitchFamily="34" charset="-120"/>
              </a:rPr>
              <a:t> ni tampoco </a:t>
            </a:r>
            <a:pPr algn="l" indent="0" marL="0">
              <a:lnSpc>
                <a:spcPts val="1200"/>
              </a:lnSpc>
              <a:buNone/>
            </a:pPr>
            <a:r>
              <a:rPr lang="en-US" sz="1000" b="1" dirty="0">
                <a:solidFill>
                  <a:srgbClr val="3C3939"/>
                </a:solidFill>
                <a:latin typeface="Open Sans" pitchFamily="34" charset="0"/>
                <a:ea typeface="Open Sans" pitchFamily="34" charset="-122"/>
                <a:cs typeface="Open Sans" pitchFamily="34" charset="-120"/>
              </a:rPr>
              <a:t>imprimir ni firmar manualmente con el empleado ningún formato</a:t>
            </a:r>
            <a:pPr algn="l" indent="0" marL="0">
              <a:lnSpc>
                <a:spcPts val="1200"/>
              </a:lnSpc>
              <a:buNone/>
            </a:pPr>
            <a:r>
              <a:rPr lang="en-US" sz="1000" dirty="0">
                <a:solidFill>
                  <a:srgbClr val="3C3939"/>
                </a:solidFill>
                <a:latin typeface="Open Sans" pitchFamily="34" charset="0"/>
                <a:ea typeface="Open Sans" pitchFamily="34" charset="-122"/>
                <a:cs typeface="Open Sans" pitchFamily="34" charset="-120"/>
              </a:rPr>
              <a:t>. El aplicativo </a:t>
            </a:r>
            <a:pPr algn="l" indent="0" marL="0">
              <a:lnSpc>
                <a:spcPts val="1200"/>
              </a:lnSpc>
              <a:buNone/>
            </a:pPr>
            <a:r>
              <a:rPr lang="en-US" sz="1000" b="1" dirty="0">
                <a:solidFill>
                  <a:srgbClr val="098CD2"/>
                </a:solidFill>
                <a:latin typeface="Open Sans" pitchFamily="34" charset="0"/>
                <a:ea typeface="Open Sans" pitchFamily="34" charset="-122"/>
                <a:cs typeface="Open Sans" pitchFamily="34" charset="-120"/>
              </a:rPr>
              <a:t>SIC</a:t>
            </a:r>
            <a:pPr algn="l" indent="0" marL="0">
              <a:lnSpc>
                <a:spcPts val="1200"/>
              </a:lnSpc>
              <a:buNone/>
            </a:pPr>
            <a:r>
              <a:rPr lang="en-US" sz="1000" dirty="0">
                <a:solidFill>
                  <a:srgbClr val="3C3939"/>
                </a:solidFill>
                <a:latin typeface="Open Sans" pitchFamily="34" charset="0"/>
                <a:ea typeface="Open Sans" pitchFamily="34" charset="-122"/>
                <a:cs typeface="Open Sans" pitchFamily="34" charset="-120"/>
              </a:rPr>
              <a:t>, gracias a su integración con el aplicativo </a:t>
            </a:r>
            <a:pPr algn="l" indent="0" marL="0">
              <a:lnSpc>
                <a:spcPts val="1200"/>
              </a:lnSpc>
              <a:buNone/>
            </a:pPr>
            <a:r>
              <a:rPr lang="en-US" sz="1000" b="1" dirty="0">
                <a:solidFill>
                  <a:srgbClr val="8AC340"/>
                </a:solidFill>
                <a:latin typeface="Open Sans" pitchFamily="34" charset="0"/>
                <a:ea typeface="Open Sans" pitchFamily="34" charset="-122"/>
                <a:cs typeface="Open Sans" pitchFamily="34" charset="-120"/>
              </a:rPr>
              <a:t>T3DIGITAL</a:t>
            </a:r>
            <a:pPr algn="l" indent="0" marL="0">
              <a:lnSpc>
                <a:spcPts val="1200"/>
              </a:lnSpc>
              <a:buNone/>
            </a:pPr>
            <a:r>
              <a:rPr lang="en-US" sz="1000" dirty="0">
                <a:solidFill>
                  <a:srgbClr val="3C3939"/>
                </a:solidFill>
                <a:latin typeface="Open Sans" pitchFamily="34" charset="0"/>
                <a:ea typeface="Open Sans" pitchFamily="34" charset="-122"/>
                <a:cs typeface="Open Sans" pitchFamily="34" charset="-120"/>
              </a:rPr>
              <a:t>, ahora realiza esa tarea automáticamente y </a:t>
            </a:r>
            <a:pPr algn="l" indent="0" marL="0">
              <a:lnSpc>
                <a:spcPts val="1200"/>
              </a:lnSpc>
              <a:buNone/>
            </a:pPr>
            <a:r>
              <a:rPr lang="en-US" sz="1000" b="1" dirty="0">
                <a:solidFill>
                  <a:srgbClr val="3C3939"/>
                </a:solidFill>
                <a:latin typeface="Open Sans" pitchFamily="34" charset="0"/>
                <a:ea typeface="Open Sans" pitchFamily="34" charset="-122"/>
                <a:cs typeface="Open Sans" pitchFamily="34" charset="-120"/>
              </a:rPr>
              <a:t>envía un correo electrónico a cada persona</a:t>
            </a:r>
            <a:pPr algn="l" indent="0" marL="0">
              <a:lnSpc>
                <a:spcPts val="1200"/>
              </a:lnSpc>
              <a:buNone/>
            </a:pPr>
            <a:r>
              <a:rPr lang="en-US" sz="1000" dirty="0">
                <a:solidFill>
                  <a:srgbClr val="3C3939"/>
                </a:solidFill>
                <a:latin typeface="Open Sans" pitchFamily="34" charset="0"/>
                <a:ea typeface="Open Sans" pitchFamily="34" charset="-122"/>
                <a:cs typeface="Open Sans" pitchFamily="34" charset="-120"/>
              </a:rPr>
              <a:t> afectada por un cambio (como traslado de CECO o cambios de bonificaciones) con los documentos que debe revisar y firmar digitalmente cuando corresponda.</a:t>
            </a:r>
            <a:endParaRPr lang="en-US" sz="1000" dirty="0"/>
          </a:p>
          <a:p>
            <a:pPr algn="l" marL="342900" indent="-342900">
              <a:lnSpc>
                <a:spcPts val="1200"/>
              </a:lnSpc>
              <a:buSzPct val="100000"/>
              <a:buFont typeface="+mj-lt"/>
              <a:buAutoNum type="arabicPeriod" startAt="6"/>
            </a:pPr>
            <a:r>
              <a:rPr lang="en-US" sz="1000" dirty="0">
                <a:solidFill>
                  <a:srgbClr val="3C3939"/>
                </a:solidFill>
                <a:latin typeface="Open Sans" pitchFamily="34" charset="0"/>
                <a:ea typeface="Open Sans" pitchFamily="34" charset="-122"/>
                <a:cs typeface="Open Sans" pitchFamily="34" charset="-120"/>
              </a:rPr>
              <a:t>Revisen meticulosamente la novedad </a:t>
            </a:r>
            <a:pPr algn="l" indent="0" marL="0">
              <a:lnSpc>
                <a:spcPts val="1200"/>
              </a:lnSpc>
              <a:buNone/>
            </a:pPr>
            <a:r>
              <a:rPr lang="en-US" sz="1000" b="1" i="1" dirty="0">
                <a:solidFill>
                  <a:srgbClr val="3C3939"/>
                </a:solidFill>
                <a:latin typeface="Open Sans" pitchFamily="34" charset="0"/>
                <a:ea typeface="Open Sans" pitchFamily="34" charset="-122"/>
                <a:cs typeface="Open Sans" pitchFamily="34" charset="-120"/>
              </a:rPr>
              <a:t>antes</a:t>
            </a:r>
            <a:pPr algn="l" indent="0" marL="0">
              <a:lnSpc>
                <a:spcPts val="1200"/>
              </a:lnSpc>
              <a:buNone/>
            </a:pPr>
            <a:r>
              <a:rPr lang="en-US" sz="1000" dirty="0">
                <a:solidFill>
                  <a:srgbClr val="3C3939"/>
                </a:solidFill>
                <a:latin typeface="Open Sans" pitchFamily="34" charset="0"/>
                <a:ea typeface="Open Sans" pitchFamily="34" charset="-122"/>
                <a:cs typeface="Open Sans" pitchFamily="34" charset="-120"/>
              </a:rPr>
              <a:t> de hacer click en 'Guardar'</a:t>
            </a:r>
            <a:pPr algn="l" indent="0" marL="0">
              <a:lnSpc>
                <a:spcPts val="1200"/>
              </a:lnSpc>
              <a:buNone/>
            </a:pPr>
            <a:r>
              <a:rPr lang="en-US" sz="1000" dirty="0">
                <a:solidFill>
                  <a:srgbClr val="3C3939"/>
                </a:solidFill>
                <a:latin typeface="Open Sans" pitchFamily="34" charset="0"/>
                <a:ea typeface="Open Sans" pitchFamily="34" charset="-122"/>
                <a:cs typeface="Open Sans" pitchFamily="34" charset="-120"/>
              </a:rPr>
              <a:t>. Asegurarse de que toda la información sea correcta es vital. Si se detectan errores </a:t>
            </a:r>
            <a:pPr algn="l" indent="0" marL="0">
              <a:lnSpc>
                <a:spcPts val="1200"/>
              </a:lnSpc>
              <a:buNone/>
            </a:pPr>
            <a:r>
              <a:rPr lang="en-US" sz="1000" i="1" dirty="0">
                <a:solidFill>
                  <a:srgbClr val="3C3939"/>
                </a:solidFill>
                <a:latin typeface="Open Sans" pitchFamily="34" charset="0"/>
                <a:ea typeface="Open Sans" pitchFamily="34" charset="-122"/>
                <a:cs typeface="Open Sans" pitchFamily="34" charset="-120"/>
              </a:rPr>
              <a:t>después</a:t>
            </a:r>
            <a:pPr algn="l" indent="0" marL="0">
              <a:lnSpc>
                <a:spcPts val="1200"/>
              </a:lnSpc>
              <a:buNone/>
            </a:pPr>
            <a:r>
              <a:rPr lang="en-US" sz="1000" dirty="0">
                <a:solidFill>
                  <a:srgbClr val="3C3939"/>
                </a:solidFill>
                <a:latin typeface="Open Sans" pitchFamily="34" charset="0"/>
                <a:ea typeface="Open Sans" pitchFamily="34" charset="-122"/>
                <a:cs typeface="Open Sans" pitchFamily="34" charset="-120"/>
              </a:rPr>
              <a:t> de guardar, la novedad podría ser devuelta al usuario que la creó para que realice las correcciones necesarias, o incluso ser anulada, lo que implicaría tener que crearla nuevamente.</a:t>
            </a:r>
            <a:endParaRPr lang="en-US" sz="1000" dirty="0"/>
          </a:p>
          <a:p>
            <a:pPr algn="l" marL="342900" indent="-342900">
              <a:lnSpc>
                <a:spcPts val="1200"/>
              </a:lnSpc>
              <a:buSzPct val="100000"/>
              <a:buFont typeface="+mj-lt"/>
              <a:buAutoNum type="arabicPeriod" startAt="7"/>
            </a:pPr>
            <a:r>
              <a:rPr lang="en-US" sz="1000" dirty="0">
                <a:solidFill>
                  <a:srgbClr val="3C3939"/>
                </a:solidFill>
                <a:latin typeface="Open Sans" pitchFamily="34" charset="0"/>
                <a:ea typeface="Open Sans" pitchFamily="34" charset="-122"/>
                <a:cs typeface="Open Sans" pitchFamily="34" charset="-120"/>
              </a:rPr>
              <a:t>Es crucial que </a:t>
            </a:r>
            <a:pPr algn="l" indent="0" marL="0">
              <a:lnSpc>
                <a:spcPts val="1200"/>
              </a:lnSpc>
              <a:buNone/>
            </a:pPr>
            <a:r>
              <a:rPr lang="en-US" sz="1000" dirty="0">
                <a:solidFill>
                  <a:srgbClr val="3C3939"/>
                </a:solidFill>
                <a:latin typeface="Open Sans" pitchFamily="34" charset="0"/>
                <a:ea typeface="Open Sans" pitchFamily="34" charset="-122"/>
                <a:cs typeface="Open Sans" pitchFamily="34" charset="-120"/>
              </a:rPr>
              <a:t>todos los cambios requeridos para una persona en un momento dado queden incluidos dentro de la </a:t>
            </a:r>
            <a:pPr algn="l" indent="0" marL="0">
              <a:lnSpc>
                <a:spcPts val="1200"/>
              </a:lnSpc>
              <a:buNone/>
            </a:pPr>
            <a:r>
              <a:rPr lang="en-US" sz="1000" b="1" i="1" dirty="0">
                <a:solidFill>
                  <a:srgbClr val="3C3939"/>
                </a:solidFill>
                <a:latin typeface="Open Sans" pitchFamily="34" charset="0"/>
                <a:ea typeface="Open Sans" pitchFamily="34" charset="-122"/>
                <a:cs typeface="Open Sans" pitchFamily="34" charset="-120"/>
              </a:rPr>
              <a:t>misma</a:t>
            </a:r>
            <a:pPr algn="l" indent="0" marL="0">
              <a:lnSpc>
                <a:spcPts val="1200"/>
              </a:lnSpc>
              <a:buNone/>
            </a:pPr>
            <a:r>
              <a:rPr lang="en-US" sz="1000" dirty="0">
                <a:solidFill>
                  <a:srgbClr val="3C3939"/>
                </a:solidFill>
                <a:latin typeface="Open Sans" pitchFamily="34" charset="0"/>
                <a:ea typeface="Open Sans" pitchFamily="34" charset="-122"/>
                <a:cs typeface="Open Sans" pitchFamily="34" charset="-120"/>
              </a:rPr>
              <a:t> novedad</a:t>
            </a:r>
            <a:pPr algn="l" indent="0" marL="0">
              <a:lnSpc>
                <a:spcPts val="1200"/>
              </a:lnSpc>
              <a:buNone/>
            </a:pPr>
            <a:r>
              <a:rPr lang="en-US" sz="1000" dirty="0">
                <a:solidFill>
                  <a:srgbClr val="3C3939"/>
                </a:solidFill>
                <a:latin typeface="Open Sans" pitchFamily="34" charset="0"/>
                <a:ea typeface="Open Sans" pitchFamily="34" charset="-122"/>
                <a:cs typeface="Open Sans" pitchFamily="34" charset="-120"/>
              </a:rPr>
              <a:t>. Una vez que una novedad de este tipo es creada para una persona, </a:t>
            </a:r>
            <a:pPr algn="l" indent="0" marL="0">
              <a:lnSpc>
                <a:spcPts val="1200"/>
              </a:lnSpc>
              <a:buNone/>
            </a:pPr>
            <a:r>
              <a:rPr lang="en-US" sz="1000" b="1" dirty="0">
                <a:solidFill>
                  <a:srgbClr val="3C3939"/>
                </a:solidFill>
                <a:latin typeface="Open Sans" pitchFamily="34" charset="0"/>
                <a:ea typeface="Open Sans" pitchFamily="34" charset="-122"/>
                <a:cs typeface="Open Sans" pitchFamily="34" charset="-120"/>
              </a:rPr>
              <a:t>no se podrán generar más novedades similares para esa misma persona hasta que la primera novedad sea 'Finalizada' o 'Anulada'</a:t>
            </a:r>
            <a:pPr algn="l" indent="0" marL="0">
              <a:lnSpc>
                <a:spcPts val="1200"/>
              </a:lnSpc>
              <a:buNone/>
            </a:pPr>
            <a:r>
              <a:rPr lang="en-US" sz="1000" dirty="0">
                <a:solidFill>
                  <a:srgbClr val="3C3939"/>
                </a:solidFill>
                <a:latin typeface="Open Sans" pitchFamily="34" charset="0"/>
                <a:ea typeface="Open Sans" pitchFamily="34" charset="-122"/>
                <a:cs typeface="Open Sans" pitchFamily="34" charset="-120"/>
              </a:rPr>
              <a:t>. Esto refuerza la importancia del punto 3.</a:t>
            </a:r>
            <a:endParaRPr lang="en-US" sz="1000" dirty="0"/>
          </a:p>
          <a:p>
            <a:pPr algn="l" marL="342900" indent="-342900">
              <a:lnSpc>
                <a:spcPts val="1200"/>
              </a:lnSpc>
              <a:buSzPct val="100000"/>
              <a:buFont typeface="+mj-lt"/>
              <a:buAutoNum type="arabicPeriod" startAt="8"/>
            </a:pPr>
            <a:r>
              <a:rPr lang="en-US" sz="1000" dirty="0">
                <a:solidFill>
                  <a:srgbClr val="3C3939"/>
                </a:solidFill>
                <a:latin typeface="Open Sans" pitchFamily="34" charset="0"/>
                <a:ea typeface="Open Sans" pitchFamily="34" charset="-122"/>
                <a:cs typeface="Open Sans" pitchFamily="34" charset="-120"/>
              </a:rPr>
              <a:t>Si tienen </a:t>
            </a:r>
            <a:pPr algn="l" indent="0" marL="0">
              <a:lnSpc>
                <a:spcPts val="1200"/>
              </a:lnSpc>
              <a:buNone/>
            </a:pPr>
            <a:r>
              <a:rPr lang="en-US" sz="1000" b="1" dirty="0">
                <a:solidFill>
                  <a:srgbClr val="3C3939"/>
                </a:solidFill>
                <a:latin typeface="Open Sans" pitchFamily="34" charset="0"/>
                <a:ea typeface="Open Sans" pitchFamily="34" charset="-122"/>
                <a:cs typeface="Open Sans" pitchFamily="34" charset="-120"/>
              </a:rPr>
              <a:t>dudas acerca de qué soportes específicos deben subir</a:t>
            </a:r>
            <a:pPr algn="l" indent="0" marL="0">
              <a:lnSpc>
                <a:spcPts val="1200"/>
              </a:lnSpc>
              <a:buNone/>
            </a:pPr>
            <a:r>
              <a:rPr lang="en-US" sz="1000" dirty="0">
                <a:solidFill>
                  <a:srgbClr val="3C3939"/>
                </a:solidFill>
                <a:latin typeface="Open Sans" pitchFamily="34" charset="0"/>
                <a:ea typeface="Open Sans" pitchFamily="34" charset="-122"/>
                <a:cs typeface="Open Sans" pitchFamily="34" charset="-120"/>
              </a:rPr>
              <a:t> para ciertos tipos de cambios de conceptos, por favor, </a:t>
            </a:r>
            <a:pPr algn="l" indent="0" marL="0">
              <a:lnSpc>
                <a:spcPts val="1200"/>
              </a:lnSpc>
              <a:buNone/>
            </a:pPr>
            <a:r>
              <a:rPr lang="en-US" sz="1000" dirty="0">
                <a:solidFill>
                  <a:srgbClr val="3C3939"/>
                </a:solidFill>
                <a:latin typeface="Open Sans" pitchFamily="34" charset="0"/>
                <a:ea typeface="Open Sans" pitchFamily="34" charset="-122"/>
                <a:cs typeface="Open Sans" pitchFamily="34" charset="-120"/>
              </a:rPr>
              <a:t>consulten previamente con el área de Talento Humano </a:t>
            </a:r>
            <a:pPr algn="l" indent="0" marL="0">
              <a:lnSpc>
                <a:spcPts val="1200"/>
              </a:lnSpc>
              <a:buNone/>
            </a:pPr>
            <a:r>
              <a:rPr lang="en-US" sz="1000" b="1" i="1" dirty="0">
                <a:solidFill>
                  <a:srgbClr val="3C3939"/>
                </a:solidFill>
                <a:latin typeface="Open Sans" pitchFamily="34" charset="0"/>
                <a:ea typeface="Open Sans" pitchFamily="34" charset="-122"/>
                <a:cs typeface="Open Sans" pitchFamily="34" charset="-120"/>
              </a:rPr>
              <a:t>antes</a:t>
            </a:r>
            <a:pPr algn="l" indent="0" marL="0">
              <a:lnSpc>
                <a:spcPts val="1200"/>
              </a:lnSpc>
              <a:buNone/>
            </a:pPr>
            <a:r>
              <a:rPr lang="en-US" sz="1000" dirty="0">
                <a:solidFill>
                  <a:srgbClr val="3C3939"/>
                </a:solidFill>
                <a:latin typeface="Open Sans" pitchFamily="34" charset="0"/>
                <a:ea typeface="Open Sans" pitchFamily="34" charset="-122"/>
                <a:cs typeface="Open Sans" pitchFamily="34" charset="-120"/>
              </a:rPr>
              <a:t> de crear la novedad</a:t>
            </a:r>
            <a:pPr algn="l" indent="0" marL="0">
              <a:lnSpc>
                <a:spcPts val="1200"/>
              </a:lnSpc>
              <a:buNone/>
            </a:pPr>
            <a:r>
              <a:rPr lang="en-US" sz="1000" dirty="0">
                <a:solidFill>
                  <a:srgbClr val="3C3939"/>
                </a:solidFill>
                <a:latin typeface="Open Sans" pitchFamily="34" charset="0"/>
                <a:ea typeface="Open Sans" pitchFamily="34" charset="-122"/>
                <a:cs typeface="Open Sans" pitchFamily="34" charset="-120"/>
              </a:rPr>
              <a:t>. Esto les ayudará a asegurar que adjuntan los documentos correctos y evitará que la novedad sea devuelta o anulada por falta de soportes válidos.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2026-03-24T03:20:11Z</dcterms:created>
  <dcterms:modified xsi:type="dcterms:W3CDTF">2026-03-24T03:20:11Z</dcterms:modified>
</cp:coreProperties>
</file>